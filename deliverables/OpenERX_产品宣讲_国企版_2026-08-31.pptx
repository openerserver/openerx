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2db0fa5f1a4271" /><Relationship Type="http://schemas.openxmlformats.org/officeDocument/2006/relationships/extended-properties" Target="/docProps/app.xml" Id="Ra79a40f2992e4489" /><Relationship Type="http://schemas.openxmlformats.org/officeDocument/2006/relationships/officeDocument" Target="/ppt/presentation.xml" Id="R0d41fd37a5aa46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bed2b8b53d4237"/>
  </p:sldMasterIdLst>
  <p:notesMasterIdLst>
    <p:notesMasterId xmlns:r="http://schemas.openxmlformats.org/officeDocument/2006/relationships" r:id="Re5650374b9624247"/>
  </p:notesMasterIdLst>
  <p:sldIdLst>
    <p:sldId xmlns:r="http://schemas.openxmlformats.org/officeDocument/2006/relationships" id="256" r:id="R11a5b36447664b08"/>
    <p:sldId xmlns:r="http://schemas.openxmlformats.org/officeDocument/2006/relationships" id="257" r:id="Re5bf49db2b48402e"/>
    <p:sldId xmlns:r="http://schemas.openxmlformats.org/officeDocument/2006/relationships" id="258" r:id="R538d3e67754d4b86"/>
    <p:sldId xmlns:r="http://schemas.openxmlformats.org/officeDocument/2006/relationships" id="259" r:id="R51425145c1224efe"/>
    <p:sldId xmlns:r="http://schemas.openxmlformats.org/officeDocument/2006/relationships" id="260" r:id="Rc535e7098fc642d8"/>
    <p:sldId xmlns:r="http://schemas.openxmlformats.org/officeDocument/2006/relationships" id="261" r:id="R7ecaa9f3629e4b5c"/>
    <p:sldId xmlns:r="http://schemas.openxmlformats.org/officeDocument/2006/relationships" id="262" r:id="Rf9d1a847fc8546e0"/>
    <p:sldId xmlns:r="http://schemas.openxmlformats.org/officeDocument/2006/relationships" id="263" r:id="R882ba7e8ce914d2f"/>
    <p:sldId xmlns:r="http://schemas.openxmlformats.org/officeDocument/2006/relationships" id="264" r:id="R8cc162d00b30499e"/>
    <p:sldId xmlns:r="http://schemas.openxmlformats.org/officeDocument/2006/relationships" id="265" r:id="R390807cf69a14b85"/>
    <p:sldId xmlns:r="http://schemas.openxmlformats.org/officeDocument/2006/relationships" id="266" r:id="R7b1c5ae97c1a4c13"/>
    <p:sldId xmlns:r="http://schemas.openxmlformats.org/officeDocument/2006/relationships" id="267" r:id="Rd5733a67dece4c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148e516df467a" /><Relationship Type="http://schemas.openxmlformats.org/officeDocument/2006/relationships/slideMaster" Target="/ppt/slideMasters/slideMaster1.xml" Id="R9bbed2b8b53d4237" /><Relationship Type="http://schemas.openxmlformats.org/officeDocument/2006/relationships/notesMaster" Target="/ppt/notesMasters/notesMaster1.xml" Id="Re5650374b9624247" /><Relationship Type="http://schemas.openxmlformats.org/officeDocument/2006/relationships/presProps" Target="/ppt/presProps.xml" Id="R05237698e41247af" /><Relationship Type="http://schemas.openxmlformats.org/officeDocument/2006/relationships/tableStyles" Target="/ppt/tableStyles.xml" Id="Rbc5c2c156e4f4ecf" /><Relationship Type="http://schemas.openxmlformats.org/officeDocument/2006/relationships/slide" Target="/ppt/slides/slide1.xml" Id="R11a5b36447664b08" /><Relationship Type="http://schemas.openxmlformats.org/officeDocument/2006/relationships/slide" Target="/ppt/slides/slide2.xml" Id="Re5bf49db2b48402e" /><Relationship Type="http://schemas.openxmlformats.org/officeDocument/2006/relationships/slide" Target="/ppt/slides/slide3.xml" Id="R538d3e67754d4b86" /><Relationship Type="http://schemas.openxmlformats.org/officeDocument/2006/relationships/slide" Target="/ppt/slides/slide4.xml" Id="R51425145c1224efe" /><Relationship Type="http://schemas.openxmlformats.org/officeDocument/2006/relationships/slide" Target="/ppt/slides/slide5.xml" Id="Rc535e7098fc642d8" /><Relationship Type="http://schemas.openxmlformats.org/officeDocument/2006/relationships/slide" Target="/ppt/slides/slide6.xml" Id="R7ecaa9f3629e4b5c" /><Relationship Type="http://schemas.openxmlformats.org/officeDocument/2006/relationships/slide" Target="/ppt/slides/slide7.xml" Id="Rf9d1a847fc8546e0" /><Relationship Type="http://schemas.openxmlformats.org/officeDocument/2006/relationships/slide" Target="/ppt/slides/slide8.xml" Id="R882ba7e8ce914d2f" /><Relationship Type="http://schemas.openxmlformats.org/officeDocument/2006/relationships/slide" Target="/ppt/slides/slide9.xml" Id="R8cc162d00b30499e" /><Relationship Type="http://schemas.openxmlformats.org/officeDocument/2006/relationships/slide" Target="/ppt/slides/slide10.xml" Id="R390807cf69a14b85" /><Relationship Type="http://schemas.openxmlformats.org/officeDocument/2006/relationships/slide" Target="/ppt/slides/slide11.xml" Id="R7b1c5ae97c1a4c13" /><Relationship Type="http://schemas.openxmlformats.org/officeDocument/2006/relationships/slide" Target="/ppt/slides/slide12.xml" Id="Rd5733a67dece4c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cf2cb709e2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ad05c3574e4ca6" /><Relationship Type="http://schemas.openxmlformats.org/officeDocument/2006/relationships/notesMaster" Target="/ppt/notesMasters/notesMaster1.xml" Id="R0fbd04ea6e12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587689bb424c60" /><Relationship Type="http://schemas.openxmlformats.org/officeDocument/2006/relationships/notesMaster" Target="/ppt/notesMasters/notesMaster1.xml" Id="Reff4892f4ea844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35e656a0174c99" /><Relationship Type="http://schemas.openxmlformats.org/officeDocument/2006/relationships/notesMaster" Target="/ppt/notesMasters/notesMaster1.xml" Id="R41f922c757cf4a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ddd45c4a0d4564" /><Relationship Type="http://schemas.openxmlformats.org/officeDocument/2006/relationships/notesMaster" Target="/ppt/notesMasters/notesMaster1.xml" Id="R069b8820b56a49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65e2228b6a4f8d" /><Relationship Type="http://schemas.openxmlformats.org/officeDocument/2006/relationships/notesMaster" Target="/ppt/notesMasters/notesMaster1.xml" Id="R81efe9a6cb0f4a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a9ddb8819e43ec" /><Relationship Type="http://schemas.openxmlformats.org/officeDocument/2006/relationships/notesMaster" Target="/ppt/notesMasters/notesMaster1.xml" Id="R906653b89e2e4e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af9227f9ba4937" /><Relationship Type="http://schemas.openxmlformats.org/officeDocument/2006/relationships/notesMaster" Target="/ppt/notesMasters/notesMaster1.xml" Id="R419d807c9bd342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c0fcc5fde74f38" /><Relationship Type="http://schemas.openxmlformats.org/officeDocument/2006/relationships/notesMaster" Target="/ppt/notesMasters/notesMaster1.xml" Id="Recff77091d4e48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d9064b40964466" /><Relationship Type="http://schemas.openxmlformats.org/officeDocument/2006/relationships/notesMaster" Target="/ppt/notesMasters/notesMaster1.xml" Id="R51ecc83f69ef4d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1b03a6262f4f8f" /><Relationship Type="http://schemas.openxmlformats.org/officeDocument/2006/relationships/notesMaster" Target="/ppt/notesMasters/notesMaster1.xml" Id="R77be88ca51bd4b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5036b6782a4c8d" /><Relationship Type="http://schemas.openxmlformats.org/officeDocument/2006/relationships/notesMaster" Target="/ppt/notesMasters/notesMaster1.xml" Id="R07b66c0733674b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e86e212e61471e" /><Relationship Type="http://schemas.openxmlformats.org/officeDocument/2006/relationships/notesMaster" Target="/ppt/notesMasters/notesMaster1.xml" Id="R16f19337981448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开场只讲一个判断：企业需要的不只是更会回答的 AI，而是能够在清晰边界里完成工作的 AI。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C:\Users\alexe\Documents\ChatGPT\openerx\README.md（产品定位与当前状态）</a:t>
            </a:r>
          </a:p>
          <a:p xmlns:a="http://schemas.openxmlformats.org/drawingml/2006/main">
            <a:r>
              <a:t>- C:\Users\alexe\Documents\ChatGPT\openerx\docs\v2\01-product-contract.md（定位与能力边界）</a:t>
            </a:r>
          </a:p>
          <a:p xmlns:a="http://schemas.openxmlformats.org/drawingml/2006/main">
            <a:r>
              <a:t>- Asset: C:\Users\alexe\Documents\ChatGPT\openerx\docs\presentations\assets\OpenERX-soe-hero-2026-08-31.png（OpenAI ImageGen 原创主视觉）</a:t>
            </a:r>
          </a:p>
          <a:p xmlns:a="http://schemas.openxmlformats.org/drawingml/2006/main">
            <a:r>
              <a:t>- Asset: C:\Users\alexe\Documents\ChatGPT\openerx\apps\desktop\public\assets\china-unicom-logo.png（仓库现有产品标记）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把问题讲成企业员工每天都能感受到的三种摩擦，不引入宏观市场数字。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C:\Users\alexe\Documents\ChatGPT\openerx\docs\v2\02-users-and-scenarios.md（目标用户、Job Story 与首个纵向场景）</a:t>
            </a:r>
          </a:p>
          <a:p xmlns:a="http://schemas.openxmlformats.org/drawingml/2006/main">
            <a:r>
              <a:t>- C:\Users\alexe\Documents\ChatGPT\openerx\docs\v2\03-experience-and-information-architecture.md（新对话、文件、工具与成果体验）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这不是线性自动化流水线，而是用户始终可以补充、确认、停止和继续的对话式闭环。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C:\Users\alexe\Documents\ChatGPT\openerx\docs\v2\01-product-contract.md（对话连接文件、工具和模型）</a:t>
            </a:r>
          </a:p>
          <a:p xmlns:a="http://schemas.openxmlformats.org/drawingml/2006/main">
            <a:r>
              <a:t>- C:\Users\alexe\Documents\ChatGPT\openerx\docs\v2\02-users-and-scenarios.md（首个纵向闭环）</a:t>
            </a:r>
          </a:p>
          <a:p xmlns:a="http://schemas.openxmlformats.org/drawingml/2006/main">
            <a:r>
              <a:t>- C:\Users\alexe\Documents\ChatGPT\openerx\docs\v2\03-experience-and-information-architecture.md（长任务、成果、权限确认）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强调启动即进入新对话。截图是开发版实机界面，不把 localhost 或开发状态包装成正式发布。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C:\Users\alexe\Documents\ChatGPT\openerx\docs\v2\03-experience-and-information-architecture.md（主入口与新对话合同）</a:t>
            </a:r>
          </a:p>
          <a:p xmlns:a="http://schemas.openxmlformats.org/drawingml/2006/main">
            <a:r>
              <a:t>- Asset: C:\Users\alexe\Documents\ChatGPT\openerx\docs\presentations\assets\OpenERX-home-screen-2026-08-29.jpeg（旧版 PPT 内嵌开发版实机截图）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用一条冻结的纵向任务说明价值。Office 四格式已有真实二进制与本机检查点，但任意第三方 Office 忠实预览仍属于发布门禁。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C:\Users\alexe\Documents\ChatGPT\openerx\docs\v2\02-users-and-scenarios.md（首个纵向闭环）</a:t>
            </a:r>
          </a:p>
          <a:p xmlns:a="http://schemas.openxmlformats.org/drawingml/2006/main">
            <a:r>
              <a:t>- C:\Users\alexe\Documents\ChatGPT\openerx\docs\v2\evidence\p1-codex-alignment-cx108-2026-08-27.md（DOCX/XLSX/PPTX/PDF 真实成果证据）</a:t>
            </a:r>
          </a:p>
          <a:p xmlns:a="http://schemas.openxmlformats.org/drawingml/2006/main">
            <a:r>
              <a:t>- Asset crop: C:\Users\alexe\Documents\ChatGPT\openerx\docs\presentations\assets\OpenERX-artifact-preview-crop-2026-08-31.png（从实机截图精确裁取右侧成果预览区）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把能力压缩成三个支柱，避免在宣讲中逐项念功能清单。长期记忆需明确默认控制权与安全边界。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C:\Users\alexe\Documents\ChatGPT\openerx\docs\v2\01-product-contract.md（文件、工具、Skill 与 V1 边界）</a:t>
            </a:r>
          </a:p>
          <a:p xmlns:a="http://schemas.openxmlformats.org/drawingml/2006/main">
            <a:r>
              <a:t>- C:\Users\alexe\Documents\ChatGPT\openerx\docs\v2\10-codex-capability-baseline.md（能力矩阵）</a:t>
            </a:r>
          </a:p>
          <a:p xmlns:a="http://schemas.openxmlformats.org/drawingml/2006/main">
            <a:r>
              <a:t>- C:\Users\alexe\Documents\ChatGPT\openerx\docs\v2\23-codex-style-memory-plan.md（长期记忆范围）</a:t>
            </a:r>
          </a:p>
          <a:p xmlns:a="http://schemas.openxmlformats.org/drawingml/2006/main">
            <a:r>
              <a:t>- C:\Users\alexe\Documents\ChatGPT\openerx\docs\v2\24-memory-system-method.md（记忆来源、撤销与安全）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这页强调‘执行’和‘授权’必须同时成立。浏览器本机已有切片，不扩写为全平台全面发布。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C:\Users\alexe\Documents\ChatGPT\openerx\docs\v2\03-experience-and-information-architecture.md（工具确认体验）</a:t>
            </a:r>
          </a:p>
          <a:p xmlns:a="http://schemas.openxmlformats.org/drawingml/2006/main">
            <a:r>
              <a:t>- C:\Users\alexe\Documents\ChatGPT\openerx\docs\v2\10-codex-capability-baseline.md（浏览器、Shell、MCP 与 Skill 边界）</a:t>
            </a:r>
          </a:p>
          <a:p xmlns:a="http://schemas.openxmlformats.org/drawingml/2006/main">
            <a:r>
              <a:t>- C:\Users\alexe\Documents\ChatGPT\openerx\docs\v2\evidence\bcu-003-windows-system-browser-2026-08-29.md（Windows 系统浏览器实测）</a:t>
            </a:r>
          </a:p>
          <a:p xmlns:a="http://schemas.openxmlformats.org/drawingml/2006/main">
            <a:r>
              <a:t>- Asset: C:\Users\alexe\Documents\ChatGPT\openerx\.codex-temp\tool-center-implementation.png（OpenERX 工具中心实机截图）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用实机画面证明最小权限：没有文件、没有工作区授权，系统明确停下来向用户索要上下文。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C:\Users\alexe\Documents\ChatGPT\openerx\docs\v2\06-security-and-governance-contract.md（最小权限、审批与审计）</a:t>
            </a:r>
          </a:p>
          <a:p xmlns:a="http://schemas.openxmlformats.org/drawingml/2006/main">
            <a:r>
              <a:t>- C:\Users\alexe\Documents\ChatGPT\openerx\docs\v2\14-overall-architecture.md（Pi 隔离、能力 Broker 与设备权限）</a:t>
            </a:r>
          </a:p>
          <a:p xmlns:a="http://schemas.openxmlformats.org/drawingml/2006/main">
            <a:r>
              <a:t>- Asset: C:\Users\alexe\Documents\ChatGPT\openerx\.codex-temp\audit-openerx-codex-v2\03-openerx-p0p1p2.png（未授权时的实机行为证据）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手机不是远程桌面，也不是第二套执行环境。Remote 当前是本地 Alpha，真机、生产 WSS 与推送仍在发布门禁。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C:\Users\alexe\Documents\ChatGPT\openerx\docs\v2\01-product-contract.md（Remote Control 产品边界）</a:t>
            </a:r>
          </a:p>
          <a:p xmlns:a="http://schemas.openxmlformats.org/drawingml/2006/main">
            <a:r>
              <a:t>- C:\Users\alexe\Documents\ChatGPT\openerx\docs\v2\03-experience-and-information-architecture.md（移动端 Hosts / Tasks / Inbox）</a:t>
            </a:r>
          </a:p>
          <a:p xmlns:a="http://schemas.openxmlformats.org/drawingml/2006/main">
            <a:r>
              <a:t>- C:\Users\alexe\Documents\ChatGPT\openerx\docs\v2\evidence\m6-2026-08-26.md（Remote 本地 Alpha E2E 检查点）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不一开始追求大而全。选择高频、结果清晰、数据可控且可人工复核的任务，最容易在短周期内看见真实价值。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C:\Users\alexe\Documents\ChatGPT\openerx\docs\v2\02-users-and-scenarios.md（企业普通用户任务与首个纵向闭环）</a:t>
            </a:r>
          </a:p>
          <a:p xmlns:a="http://schemas.openxmlformats.org/drawingml/2006/main">
            <a:r>
              <a:t>- C:\Users\alexe\Documents\ChatGPT\openerx\docs\v2\09-golden-task-catalog.md（桌面任务验收目录）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主动区分三类状态。真实环境已验证代表已有切片，不代表全面发布；本地 Alpha 代表可运行骨架；其余明确列入发布门禁。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C:\Users\alexe\Documents\ChatGPT\openerx\README.md（当前状态）</a:t>
            </a:r>
          </a:p>
          <a:p xmlns:a="http://schemas.openxmlformats.org/drawingml/2006/main">
            <a:r>
              <a:t>- C:\Users\alexe\Documents\ChatGPT\openerx\docs\v2\14-overall-architecture.md（实现证据与剩余门禁）</a:t>
            </a:r>
          </a:p>
          <a:p xmlns:a="http://schemas.openxmlformats.org/drawingml/2006/main">
            <a:r>
              <a:t>- C:\Users\alexe\Documents\ChatGPT\openerx\docs\v2\16-codex-aligned-implementation-assessment.md（P0/P1/P2 与 CX 检查点）</a:t>
            </a:r>
          </a:p>
          <a:p xmlns:a="http://schemas.openxmlformats.org/drawingml/2006/main">
            <a:r>
              <a:t>- C:\Users\alexe\Documents\ChatGPT\openerx\docs\v2\evidence\m8-2026-08-26.md（真实模型与计费首切片）</a:t>
            </a:r>
          </a:p>
          <a:p xmlns:a="http://schemas.openxmlformats.org/drawingml/2006/main">
            <a:r>
              <a:t>- C:\Users\alexe\Documents\ChatGPT\openerx\docs\v2\evidence\memory-model-golden-evaluator-2026-08-30.md（Memory 固定评测）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收尾不说泛泛的‘谢谢’，而是提出一项可以立即决策的受控 Beta。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C:\Users\alexe\Documents\ChatGPT\openerx\docs\v2\02-users-and-scenarios.md（纵向闭环与目标用户验证）</a:t>
            </a:r>
          </a:p>
          <a:p xmlns:a="http://schemas.openxmlformats.org/drawingml/2006/main">
            <a:r>
              <a:t>- C:\Users\alexe\Documents\ChatGPT\openerx\README.md（当前处于外部 Beta 与发布门禁阶段）</a:t>
            </a:r>
          </a:p>
          <a:p xmlns:a="http://schemas.openxmlformats.org/drawingml/2006/main">
            <a:r>
              <a:t>- Asset: C:\Users\alexe\Documents\ChatGPT\openerx\docs\presentations\assets\OpenERX-soe-hero-2026-08-31.png（OpenAI ImageGen 原创主视觉）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203b72923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1400bd39b540f3" /><Relationship Type="http://schemas.openxmlformats.org/officeDocument/2006/relationships/slideLayout" Target="/ppt/slideLayouts/slideLayout1.xml" Id="Re92e9128ec614e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2e9128ec614e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edfef044f45f9" /><Relationship Type="http://schemas.openxmlformats.org/officeDocument/2006/relationships/image" Target="/ppt/media/image.png" Id="Re0d1287e049a44d8" /><Relationship Type="http://schemas.openxmlformats.org/officeDocument/2006/relationships/image" Target="/ppt/media/image2.png" Id="Rfd0107bf202548bc" /><Relationship Type="http://schemas.openxmlformats.org/officeDocument/2006/relationships/notesSlide" Target="/ppt/notesSlides/notesSlide1.xml" Id="Racf5d7dab7584f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ef5dbe1904737" /><Relationship Type="http://schemas.openxmlformats.org/officeDocument/2006/relationships/image" Target="/ppt/media/image3.png" Id="R0ac3a28d371549ee" /><Relationship Type="http://schemas.openxmlformats.org/officeDocument/2006/relationships/notesSlide" Target="/ppt/notesSlides/notesSlide2.xml" Id="R16b956e1eced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1db2594524a6a" /><Relationship Type="http://schemas.openxmlformats.org/officeDocument/2006/relationships/image" Target="/ppt/media/image4.png" Id="Re6766cda38964d5e" /><Relationship Type="http://schemas.openxmlformats.org/officeDocument/2006/relationships/notesSlide" Target="/ppt/notesSlides/notesSlide3.xml" Id="R05f1a13a8dc0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888785fc34b83" /><Relationship Type="http://schemas.openxmlformats.org/officeDocument/2006/relationships/image" Target="/ppt/media/image5.png" Id="R96dbdc5af2d84b41" /><Relationship Type="http://schemas.openxmlformats.org/officeDocument/2006/relationships/image" Target="/ppt/media/image.jpeg" Id="R3a26b9bedc874938" /><Relationship Type="http://schemas.openxmlformats.org/officeDocument/2006/relationships/notesSlide" Target="/ppt/notesSlides/notesSlide4.xml" Id="R0d00f35b087546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9115655e8499e" /><Relationship Type="http://schemas.openxmlformats.org/officeDocument/2006/relationships/image" Target="/ppt/media/image6.png" Id="R8fe244226bc94028" /><Relationship Type="http://schemas.openxmlformats.org/officeDocument/2006/relationships/image" Target="/ppt/media/image7.png" Id="R527c98a393694639" /><Relationship Type="http://schemas.openxmlformats.org/officeDocument/2006/relationships/notesSlide" Target="/ppt/notesSlides/notesSlide5.xml" Id="R6116f06ab5bb46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5d3f404a54271" /><Relationship Type="http://schemas.openxmlformats.org/officeDocument/2006/relationships/image" Target="/ppt/media/image8.png" Id="R1c525d650a3a4eb2" /><Relationship Type="http://schemas.openxmlformats.org/officeDocument/2006/relationships/notesSlide" Target="/ppt/notesSlides/notesSlide6.xml" Id="R98dd3ec38dd348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f5ceb6c5d43e6" /><Relationship Type="http://schemas.openxmlformats.org/officeDocument/2006/relationships/image" Target="/ppt/media/image9.png" Id="R6a79e394223b497f" /><Relationship Type="http://schemas.openxmlformats.org/officeDocument/2006/relationships/image" Target="/ppt/media/image2.jpeg" Id="R102e70c8643f4ffb" /><Relationship Type="http://schemas.openxmlformats.org/officeDocument/2006/relationships/notesSlide" Target="/ppt/notesSlides/notesSlide7.xml" Id="R45930724886f40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43a23b4ff41bb" /><Relationship Type="http://schemas.openxmlformats.org/officeDocument/2006/relationships/image" Target="/ppt/media/image10.png" Id="R0873f5a261b14086" /><Relationship Type="http://schemas.openxmlformats.org/officeDocument/2006/relationships/image" Target="/ppt/media/image11.png" Id="R9577f3fd26b146a4" /><Relationship Type="http://schemas.openxmlformats.org/officeDocument/2006/relationships/notesSlide" Target="/ppt/notesSlides/notesSlide8.xml" Id="R43e1d3ccb24542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4f9712c274334" /><Relationship Type="http://schemas.openxmlformats.org/officeDocument/2006/relationships/image" Target="/ppt/media/image12.png" Id="R37d7e1559a3b44aa" /><Relationship Type="http://schemas.openxmlformats.org/officeDocument/2006/relationships/notesSlide" Target="/ppt/notesSlides/notesSlide9.xml" Id="R3a4e1970203345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1d274abf6410e" /><Relationship Type="http://schemas.openxmlformats.org/officeDocument/2006/relationships/image" Target="/ppt/media/image13.png" Id="Ra2ab33f1156f4462" /><Relationship Type="http://schemas.openxmlformats.org/officeDocument/2006/relationships/notesSlide" Target="/ppt/notesSlides/notesSlide10.xml" Id="R4052454e3baa43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b67e5a00a44fd" /><Relationship Type="http://schemas.openxmlformats.org/officeDocument/2006/relationships/image" Target="/ppt/media/image14.png" Id="Rfcddb43bfd114ee1" /><Relationship Type="http://schemas.openxmlformats.org/officeDocument/2006/relationships/notesSlide" Target="/ppt/notesSlides/notesSlide11.xml" Id="R690b7d7b556e4d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f24e89a5d4bbb" /><Relationship Type="http://schemas.openxmlformats.org/officeDocument/2006/relationships/image" Target="/ppt/media/image15.png" Id="Rf90209c6e8934f50" /><Relationship Type="http://schemas.openxmlformats.org/officeDocument/2006/relationships/image" Target="/ppt/media/image16.png" Id="Ref861c3487c3490e" /><Relationship Type="http://schemas.openxmlformats.org/officeDocument/2006/relationships/notesSlide" Target="/ppt/notesSlides/notesSlide12.xml" Id="Rce179fa569cd4f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1287e049a44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4AD98-983D-4FD3-9152-FC103DC9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A4EBE-7DD4-44E7-8E14-99D37879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"/>
            <a:ext cx="666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107bf202548bc"/>
          <a:stretch xmlns:a="http://schemas.openxmlformats.org/drawingml/2006/main"/>
        </p:blipFill>
        <p:spPr>
          <a:xfrm xmlns:a="http://schemas.openxmlformats.org/drawingml/2006/main">
            <a:off x="781050" y="610076"/>
            <a:ext cx="323850" cy="2752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F0E9C-9A35-4AAC-91EE-FD49D75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CF807-854A-4AD3-9C57-9983C56D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095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让一句话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变成可交付成果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15B7E-8166-4815-8FAF-9D769A0A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面向企业员工的个人 AI 工作平台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2B7EA-7210-4313-B178-DF3EA1D9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371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rPr>
              <a:t>对话连接文件、工具、记忆与设备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8E0EA"/>
                </a:solidFill>
                <a:latin typeface="Microsoft YaHei"/>
                <a:ea typeface="Microsoft YaHei"/>
                <a:cs typeface="Microsoft YaHei"/>
              </a:rPr>
              <a:t>在明确授权下完成工作，并留下可审阅成果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7EDA1-9B12-4618-A53A-07286E02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340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56E64-7B92-4364-A3C7-E7E5B86E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产品宣讲｜2026.08</a:t>
            </a:r>
          </a:p>
        </p:txBody>
      </p:sp>
    </p:spTree>
    <p:extLst>
      <p:ext uri="{BB962C8B-B14F-4D97-AF65-F5344CB8AC3E}">
        <p14:creationId xmlns:p14="http://schemas.microsoft.com/office/powerpoint/2010/main" val="2073674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3a28d371549ee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BD4AF-CA7C-49ED-B68C-295F8FF4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A38FA-217E-46F9-B994-8674C7CC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2660B-0141-4FE6-95E8-4F63B141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81284-172D-44E4-8747-2C4C7CE4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A5BB1-F596-4FD3-93DF-ACAB3614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核心洞察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E4047-560A-40CF-A350-BFFDCFB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AI 已经会回答，企业工作仍卡在“最后一公里”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C672-5D4F-43D7-9BA9-947AC6A0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C76BA-F9BB-483D-B30C-F4231BD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DC544-F742-4E2F-B309-A68640F1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材料分散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49CBF-FA40-4C35-A636-7A2C44A6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文件、网页、表格、模板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散落在不同系统里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01510-5B36-488B-A463-65EFA23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654A3-55A0-40AD-85D7-8DECD78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72A55-E0FB-4092-A321-CC1E66BD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工具割裂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33319-7D55-4FFA-8690-36DB27CA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337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查资料、改文件、跑工具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仍靠人手来回切换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2F80C-9991-484E-8FD4-90354F9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5022B-DC7E-4CBE-9A67-E7D7579B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146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FDECB-9798-43A2-BC07-C357FE70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结果难复用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72973-0D72-4F82-BFD5-60614377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回答留在聊天里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成果、来源和版本难沉淀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E8F5A-8751-433A-9D67-47C51532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5375"/>
            <a:ext cx="12192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854A0-44FF-4BAA-B2EE-C614D320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A6536-318A-419B-AAD3-EF936868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 ≠ 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19E34-99D9-41EB-9769-1451E2B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197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真正的效率，不是多一个聊天窗口，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而是把一件事完整做完。</a:t>
            </a:r>
          </a:p>
        </p:txBody>
      </p:sp>
    </p:spTree>
    <p:extLst>
      <p:ext uri="{BB962C8B-B14F-4D97-AF65-F5344CB8AC3E}">
        <p14:creationId xmlns:p14="http://schemas.microsoft.com/office/powerpoint/2010/main" val="699081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66cda38964d5e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F1C-91A0-45F0-B1B4-502A17E5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A22CC-A1EC-493B-AD8C-01FF4CE0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84599-4849-44A4-AAC1-6FCC6E3D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BA7EF-1315-4CD9-885E-429060A1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654BA-21DD-43DC-A123-828BF07F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工作方式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06A58-635F-49E8-BA5F-2FE9A263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一个对话，承接从需求到成果的完整闭环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F57B0-2FE4-4936-9834-82F96B55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无需先搭工作流、选 Provider 或理解 Agent 内部结构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7D180-F440-4DA8-83E3-0BA8CEF3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899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C657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8CAEC-A11C-4561-B8F6-3688609C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700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5B466-356A-44D3-9269-4BBB15C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95650"/>
            <a:ext cx="224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8A4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6F4BC-62CC-483C-B741-F96B1E34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19050">
            <a:solidFill>
              <a:srgbClr val="D700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31AFC-29F2-4DBC-B025-6CEBDEF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31A27-40FB-4AB1-B7FD-EF34361C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说清需求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1D4CD-58C2-4F0B-8EC5-94B1B183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目标与边界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2C426-896C-43C7-A783-8F164260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48"/>
          </a:solidFill>
          <a:ln xmlns:a="http://schemas.openxmlformats.org/drawingml/2006/main" w="19050">
            <a:solidFill>
              <a:srgbClr val="6D829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DCF9C-ABEF-428D-A8CC-14BFF7E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B82D22-7CDD-4F87-BD7A-E92EF95D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添加材料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5B10C-F647-4A88-BFFD-8B81D487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文件与模板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3C889-DE59-427D-9B7F-B2EC492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48"/>
          </a:solidFill>
          <a:ln xmlns:a="http://schemas.openxmlformats.org/drawingml/2006/main" w="19050">
            <a:solidFill>
              <a:srgbClr val="6D829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B86B5-D38B-42D6-9DD8-7DED6598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2C16C-CFCC-4B6E-BB80-FC63423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ED63D-CFB3-4C74-B2F6-A5615B0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模型与能力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8D08D-2174-48BF-BFE5-B1105747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748"/>
          </a:solidFill>
          <a:ln xmlns:a="http://schemas.openxmlformats.org/drawingml/2006/main" w="19050">
            <a:solidFill>
              <a:srgbClr val="6D82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870C3F-5599-4D2F-9CA2-7BC4A865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B1D59-F8E1-470D-BD5E-BF0B6C27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审阅过程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B80D0C-CE87-4842-9D3D-66688DD8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来源与权限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9215E-91C8-428E-8F2C-FA6B5AB9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76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5D"/>
          </a:solidFill>
          <a:ln xmlns:a="http://schemas.openxmlformats.org/drawingml/2006/main" w="19050">
            <a:solidFill>
              <a:srgbClr val="C8A45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E6EA2-1371-46DE-A5FC-F646B92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384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C0BBF8-B740-4D2B-9067-9FA37956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19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获得成果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DB6CC-20B4-40A2-81CE-79228AC4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预览与版本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13FDA4-E17E-4B7B-B962-E35C87FE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A3533-5EC4-431B-BE82-C232A168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2B21CB-0CE1-4E34-8920-4EE6963C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修改有版本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BF0A7E-D2D1-4766-ADF2-8F9C04D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高风险先确认</a:t>
            </a:r>
          </a:p>
        </p:txBody>
      </p:sp>
    </p:spTree>
    <p:extLst>
      <p:ext uri="{BB962C8B-B14F-4D97-AF65-F5344CB8AC3E}">
        <p14:creationId xmlns:p14="http://schemas.microsoft.com/office/powerpoint/2010/main" val="1869955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bdc5af2d84b41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5A1ED-C321-420D-8985-9FAC708A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237F5-7B60-49DA-BFE6-0175416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6920D-F12E-493F-A36E-5431BCA3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738BF-C2F8-4968-AFB7-0E20137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C5A3B-7C9D-494B-9AE4-2AA38C47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真实体验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B4A36-3B1A-4FCC-AE5B-2E4D7E6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打开即工作：先说清目标，再让系统组织步骤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F0851-08CC-42DF-86B5-F6BF61D9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175F0-C4BB-41FC-B0FD-3F106DE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直接输入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29A2F-7347-416D-AA73-DE8D9457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955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不从项目、任务图或复杂配置开始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7F08C-A53C-4E2B-AF6D-FA8301E4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BA130-E34B-48FA-A36D-D13DE3E4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8A0FD-A9A8-4748-97AF-6C958E74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575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拖入文件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6CDFD-9788-442D-B511-5B7FF689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把材料、模板和上下文放进对话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C05EB-6ED5-42EE-975A-B63F60E3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CD742-D564-43E4-BA59-F408C4AC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CC06C-B98E-40C3-9860-2786950E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按需选择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1B482B-98F9-44CE-8F30-DAE5BB0E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模型、思考强度和 Skill 渐进呈现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4B3B1-836A-4BCA-8F2B-5B9D5680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7572375" cy="44005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6b9bedc874938"/>
          <a:stretch xmlns:a="http://schemas.openxmlformats.org/drawingml/2006/main"/>
        </p:blipFill>
        <p:spPr>
          <a:xfrm xmlns:a="http://schemas.openxmlformats.org/drawingml/2006/main">
            <a:off x="4783460" y="1895475"/>
            <a:ext cx="619695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5A5D9-FDE7-4673-8C44-494DA22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72150"/>
            <a:ext cx="2266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36586-3F99-42F0-8ECC-AC9F994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816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开发版实机界面 · 2026.08</a:t>
            </a:r>
          </a:p>
        </p:txBody>
      </p:sp>
    </p:spTree>
    <p:extLst>
      <p:ext uri="{BB962C8B-B14F-4D97-AF65-F5344CB8AC3E}">
        <p14:creationId xmlns:p14="http://schemas.microsoft.com/office/powerpoint/2010/main" val="722471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244226bc94028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139BF-BF49-429F-AE89-DDB42C60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93B4-48D5-40D5-B751-CFDF1401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2D6A9-C760-45DE-AAED-E974DDB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7B9ED-0D11-4507-B252-5F1E8F17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2B4D2-AA06-464B-AB0A-7DBD58A8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交付价值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03E30-F366-4474-AB7A-D5851607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把数据和模板交给它，直接拿到可交付成果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F284A-AE2D-4052-96BB-D92A1F6E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9245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FB9F1-547A-48E9-9ED3-5A71CAC5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E6A01-90F9-4C98-86EB-0736B381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示例任务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8EB2F-C9C1-4953-939F-5CD44B3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5048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“分析本周异常，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生成一页摘要、分析表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和六页 PPT。”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72E96-FF25-4923-A56F-C30208DE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从问题、证据到最终文件，过程仍留在原对话中。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D775F-E3F5-437A-862F-11163221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52600"/>
            <a:ext cx="48958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c98a393694639"/>
          <a:stretch xmlns:a="http://schemas.openxmlformats.org/drawingml/2006/main"/>
        </p:blipFill>
        <p:spPr>
          <a:xfrm xmlns:a="http://schemas.openxmlformats.org/drawingml/2006/main">
            <a:off x="7171060" y="1895475"/>
            <a:ext cx="4117330" cy="3257550"/>
          </a:xfrm>
          <a:prstGeom xmlns:a="http://schemas.openxmlformats.org/drawingml/2006/main" prst="roundRect">
            <a:avLst>
              <a:gd name="adj" fmla="val 292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0D995-706A-4D43-B9D4-88A992BD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EAB27-61E9-4D14-BD30-E014E8E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DOCX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67589-24D6-405A-82E5-5A6F1EDC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15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DF3AF-5965-4925-9662-77E82B5F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XLSX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4D7F7-6CBB-465C-85F1-C91B9D77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715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298E0-925F-4C32-951B-E0EF0A3B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B8F21A-7AF8-470A-84AE-3ACE313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C30FB-98A7-4637-B8AC-1E03F794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53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F16A6-6F01-4508-A7B7-89EB58DB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91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预览 · 下载 · 再次引用 · 版本化</a:t>
            </a:r>
          </a:p>
        </p:txBody>
      </p:sp>
    </p:spTree>
    <p:extLst>
      <p:ext uri="{BB962C8B-B14F-4D97-AF65-F5344CB8AC3E}">
        <p14:creationId xmlns:p14="http://schemas.microsoft.com/office/powerpoint/2010/main" val="1599352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25d650a3a4eb2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A24EB-2131-4DDB-8E6A-A27DB456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13CE7-70B1-4270-BB0D-A2B4C34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C6C52-E16B-4EFD-A8F3-912CB5B8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296F9-98EE-49B8-8828-ACB7AE39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21C88-792F-4A18-84DE-10A3672A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产品支柱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B74B8-EAE9-4709-B380-0CFC82CA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三类能力，组成个人工作的智能基础设施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63FCF-B1A1-4931-AEBE-E08704BF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36114-2895-43A2-83DD-041436B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1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4B4A2-126C-4B5C-B309-6633A377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57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文件与成果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CF422-5B45-4804-AC25-8961EDD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00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57537-E31E-44ED-AF02-F3154B71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3143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办公文件读取与生成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引用可定位，修改有版本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成果可预览、下载、再引用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FE9BB-7BDB-443F-9A33-56377FC5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097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2B207-094F-4720-915B-69820992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907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955A6-02D9-4AF5-A47B-61C60909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8600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1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A932E-24E3-4627-B8E6-D5D6BB6E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57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工具与连接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87C3A-895D-4065-B060-D1475D2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242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4D11D-F969-4132-AEE6-BBFA9F41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29050"/>
            <a:ext cx="3143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Web、浏览器、Shell、MCP、Skill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在授权范围内执行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越界、高影响动作先确认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BA828-040C-4AF4-83F2-23B5DB26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0" cy="3543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9148B-7897-4C5E-9BFE-A5A86FA4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4EC0F-2A07-4024-8527-B1815958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114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615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23B67"/>
                </a:solidFill>
                <a:latin typeface="Microsoft YaHei"/>
                <a:ea typeface="Microsoft YaHei"/>
                <a:cs typeface="Microsoft YaHei"/>
              </a:rPr>
              <a:t>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DF65D-2DC6-4E65-A45E-55251D6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长期记忆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D5DB4-6829-40BE-A074-C24C9320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23B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AD7C3-6F11-4E32-B56C-D087B8A0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143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新对话可复用长期偏好与事实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支持查看、编辑、忘记与来源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记忆不能授予工具权限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58F24-E842-466D-B58D-51B6AB16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1163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9B7FC2-9D1C-4EC0-95E7-002A4F66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产品边界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E949ED-54F2-4D57-A2F6-D5D43EAA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00725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当前以面向企业普通用户的个人版为主；组织级治理、SSO 与复杂私有化不作为 V1 已交付能力。</a:t>
            </a:r>
          </a:p>
        </p:txBody>
      </p:sp>
    </p:spTree>
    <p:extLst>
      <p:ext uri="{BB962C8B-B14F-4D97-AF65-F5344CB8AC3E}">
        <p14:creationId xmlns:p14="http://schemas.microsoft.com/office/powerpoint/2010/main" val="2017534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9e394223b497f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0565B-3726-41B3-BAB7-0E4D701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D048A-41EB-44B6-AA83-E1E30DBF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84F41-E152-43DD-B741-DF562AB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CFC0B-963F-4FA5-AE87-425BC25B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83FD0-97BA-49E5-9275-5CF73A41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受控执行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379F6-E040-40A6-ADE8-01680407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真正去做事，但每一步都留在授权边界内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A0D54-9D94-4D28-9FD9-95D41B8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000875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e70c8643f4ffb"/>
          <a:srcRect xmlns:a="http://schemas.openxmlformats.org/drawingml/2006/main" l="0" t="7235" r="0" b="7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05000"/>
            <a:ext cx="6734175" cy="3819525"/>
          </a:xfrm>
          <a:prstGeom xmlns:a="http://schemas.openxmlformats.org/drawingml/2006/main" prst="roundRect">
            <a:avLst>
              <a:gd name="adj" fmla="val 299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B2A17-218B-4132-84F9-D9ECE254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47850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4ECAC-B82F-43CA-901D-38DECB48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在范围内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764A7-5CD8-45CE-BE3A-55498D79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低风险、已授权动作自动执行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41A70-043E-46A1-815A-C39DC93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DA07E-E707-4AF5-A90A-D3614BAF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越界之前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122B3-D804-47FF-9145-7E8563CC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433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清楚说明读取、修改、网络与外部影响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CDCC4-034F-494E-A83E-6E00FB4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CA353-4AD2-4737-9003-8BBD0334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291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随时掌控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66F45-0297-4154-A7F0-E792BE7B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38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用户可接管、拒绝、停止和继续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F66DD-9306-4F53-942D-21FE8B9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9FB0C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FB0C3"/>
                </a:solidFill>
                <a:latin typeface="Microsoft YaHei"/>
                <a:ea typeface="Microsoft YaHei"/>
                <a:cs typeface="Microsoft YaHei"/>
              </a:rPr>
              <a:t>浏览器已有 Windows / macOS 本机实测；完整后端与签名矩阵仍在发布门禁。</a:t>
            </a:r>
          </a:p>
        </p:txBody>
      </p:sp>
    </p:spTree>
    <p:extLst>
      <p:ext uri="{BB962C8B-B14F-4D97-AF65-F5344CB8AC3E}">
        <p14:creationId xmlns:p14="http://schemas.microsoft.com/office/powerpoint/2010/main" val="582323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8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3f5a261b14086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E2D4E-69CB-482A-B05D-D255FE71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868EA-6295-4EE8-81F3-E45FA7B6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32C53-51E7-494A-9B09-4BEE1FA7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F9F4C-CD21-4FDB-A792-EE2AD482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DEE1E-EBE3-4407-96F2-D43B6A00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安全与治理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890-1999-4182-93F5-7AA96934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可信不是口号，而是可以被验证的边界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41BE3-390D-4E60-A071-3B9674A5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F19FA-AD62-4420-9BBB-6391893A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权限有范围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ED5D0-1407-44E7-803E-6890DAB0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文件夹、浏览器、Shell 按 Scope 控制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00C39-A364-468C-8BE3-E84F7811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241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74A98-9E53-4874-B256-97D41EC8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9C37A-D3A0-40D6-AAE8-5312B5BA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146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越界必确认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0C9F8-0A2B-4B02-B8BD-C3171E3E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登录、提交、删除、购买逐次确认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9A816-A916-49CC-9BB2-4E1749B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0FA39-C2F8-4A57-BC92-221210B4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642F-EF7A-4077-A387-F5C3E634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AA7F3-7AF7-48FF-AE4B-9132988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0D4"/>
                </a:solidFill>
                <a:latin typeface="Microsoft YaHei"/>
                <a:ea typeface="Microsoft YaHei"/>
                <a:cs typeface="Microsoft YaHei"/>
              </a:rPr>
              <a:t>来源、版本、运行记录可以审阅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21291-F55A-4687-A26D-021482CE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64579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0597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7f3fd26b146a4"/>
          <a:srcRect xmlns:a="http://schemas.openxmlformats.org/drawingml/2006/main" l="0" t="3559" r="0" b="3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62575" y="1952625"/>
            <a:ext cx="6172200" cy="34290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87229-FEE3-40FC-BFFA-2AB6B555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F0D84-0DB8-4264-AFA9-1B900A91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没有授权，系统就不越界。</a:t>
            </a:r>
          </a:p>
        </p:txBody>
      </p:sp>
    </p:spTree>
    <p:extLst>
      <p:ext uri="{BB962C8B-B14F-4D97-AF65-F5344CB8AC3E}">
        <p14:creationId xmlns:p14="http://schemas.microsoft.com/office/powerpoint/2010/main" val="378455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7e1559a3b44aa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08ED2-5B9D-453E-B586-90EFAE6E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CA8B5-52BB-43D6-A12E-A5E0E3B6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9B68A-1464-40AF-8EDB-DE1B89BF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8F700-1C25-4B96-B99E-4AB3AF77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7E2AC-5114-4F86-BD53-1BBADFE7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跨设备协同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33E32-66E4-4A6D-BF77-FBC81BE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桌面负责执行，手机只负责随时掌控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7817F-C25B-4DBC-8A02-E9AFE108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能力留在可信执行主机，控制延伸到移动端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3AC33-6FEF-4254-B67D-5300B84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14900" cy="2895600"/>
          </a:xfrm>
          <a:prstGeom xmlns:a="http://schemas.openxmlformats.org/drawingml/2006/main" prst="roundRect">
            <a:avLst>
              <a:gd name="adj" fmla="val 5921"/>
            </a:avLst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78B33-5FBD-4137-AD29-D349AF1F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076450" cy="3333750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28575">
            <a:solidFill>
              <a:srgbClr val="0B27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00700" y="3600450"/>
            <a:ext cx="3257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70018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A9E73-2DBA-4CF4-BF66-E2889E26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1257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00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4370C-30F9-4C68-BCCD-C4951475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9450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加密连接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主机在线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4DB38-F652-4705-B543-F714400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桌面执行主机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04B7E-F035-4ACE-8325-753038B1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Windows / macOS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F14BF-E8B6-47BE-947A-2FE3BDFA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36E89-C106-4601-8234-78DEBA1B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本地文件与工作区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C27F3-AE92-458E-AEC6-05EF6A21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C6378-592B-42B2-BD23-031FA91D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浏览器、Shell 与工具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9B945-8D11-4534-A8F3-FD5A046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942C2-7BAC-401C-B722-D02230BB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E2EC"/>
                </a:solidFill>
                <a:latin typeface="Microsoft YaHei"/>
                <a:ea typeface="Microsoft YaHei"/>
                <a:cs typeface="Microsoft YaHei"/>
              </a:rPr>
              <a:t>成果生成与保存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A0A66-D857-4596-ADC2-6C350C8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717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7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6CA18-9290-41B4-8F0A-17322A74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移动控制面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35847D-46FE-468F-8D0D-9965CD2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1581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Start  /  Steer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Queue  /  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D838C-B2C5-44A9-8E09-544800F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3385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E0E2F-CAA1-463A-88BA-1CB43AD2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81500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审批 · 审阅 · 通知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7D38E-1B2C-480F-8AF4-C7CE0F99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4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0BE4EA-9C03-4314-872C-F61A9313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边界：不在手机运行工具 · 不远程唤醒 · 主机离线时不代跑</a:t>
            </a:r>
          </a:p>
        </p:txBody>
      </p:sp>
    </p:spTree>
    <p:extLst>
      <p:ext uri="{BB962C8B-B14F-4D97-AF65-F5344CB8AC3E}">
        <p14:creationId xmlns:p14="http://schemas.microsoft.com/office/powerpoint/2010/main" val="1542626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b33f1156f4462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99DC2-9326-45D7-A2A9-43418FDD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92783-AD61-4D6F-966F-06A69011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312EB-E5ED-42D7-B988-FF1E8376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97F46-6076-402F-A846-1BC22FF1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CDC41-1483-4BAA-B9CA-979A1057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试点场景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9C775-0197-4461-AE2F-0191AB78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先聚焦三类高频任务，让价值在一周内被看见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5C007-A1BA-4CD2-ABD0-C9B64B51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821D7-2B08-4027-B0F2-F3F8788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材料与汇报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76BE8-027B-4D91-88F5-08A65193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00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56C3E-03A9-43FC-A26D-A92E7249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把制度、纪要、数据和模板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整理成摘要、报告与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B6554-4340-4BEF-AFCC-9A27BD0D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从散乱材料到清晰汇报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516F2-790D-4545-95E4-307A9B34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669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ACC9C-5118-4719-9C7A-0D7463C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70D03-08D0-49CD-9E2A-5F8BBB73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2EF12-226E-4268-99F9-BD37E7D8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48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ACB54-2AFC-439A-8362-A4A3D34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检查 Excel 异常、对比变化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生成分析表与可复核结论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11ECD-02A3-44E6-89FC-C36F7FC0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7200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从数据问题到决策依据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ACBC4-1DC4-47B1-BD4D-EB5AE775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6690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46459-4D2D-4B6B-90C4-820B4A17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669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11EF5-2328-4954-B6F2-9DAB185F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调研与执行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E15B0-8CB3-4864-BD5E-5AB7A383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3181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00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6AA8A-0A2D-4CCB-87FA-D6B8481C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3181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搜索资料、操作浏览器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执行重复步骤并留下来源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637EA-3FCA-4D05-A681-F9AECE33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181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6182D"/>
                </a:solidFill>
                <a:latin typeface="Microsoft YaHei"/>
                <a:ea typeface="Microsoft YaHei"/>
                <a:cs typeface="Microsoft YaHei"/>
              </a:rPr>
              <a:t>从查找信息到完成动作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2A57A-EF61-496E-82F7-AF69736F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97386-654D-45F8-A6E5-91183DC0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选用例的标准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D9E86-CB80-4F8F-AE4B-47D4AEF5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340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高频  /  结果清晰  /  数据可控  /  人工可复核</a:t>
            </a:r>
          </a:p>
        </p:txBody>
      </p:sp>
    </p:spTree>
    <p:extLst>
      <p:ext uri="{BB962C8B-B14F-4D97-AF65-F5344CB8AC3E}">
        <p14:creationId xmlns:p14="http://schemas.microsoft.com/office/powerpoint/2010/main" val="14303060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db43bfd114ee1"/>
          <a:stretch xmlns:a="http://schemas.openxmlformats.org/drawingml/2006/main"/>
        </p:blipFill>
        <p:spPr>
          <a:xfrm xmlns:a="http://schemas.openxmlformats.org/drawingml/2006/main">
            <a:off x="419100" y="240983"/>
            <a:ext cx="228600" cy="1943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E40E4-81DC-44F2-836D-67ADF530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7128E-57D8-4D34-8382-3B8A1B9B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产品宣讲 · 受控 Beta 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F17F0-F2FF-4B73-BCDA-33CE814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E03AD-8DAE-4F91-AB9E-A18CF025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865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A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3D793-C337-40C8-9FC3-D0633E61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514CA-DBEF-46C2-92FC-6C7EF9CA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能力成熟度清晰分层，受控 Beta 正是最佳切入点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966DC-6995-4095-8AF3-D76154F8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163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018F7-AE3D-4713-A20B-84D29F72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14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CE137-DE00-4064-BB1C-B6E50BD2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72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D8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8B66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06BA1-9830-4EBD-873B-3278400A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38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真实环境已验证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9FB8E-4E7C-4ED7-A7E3-D83CA40F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DeepSeek + 服务端计费首切片  ·  Office 四格式真实成果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Windows / macOS 浏览器本机实测  ·  Memory Golden + holdout 固定评测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85DA9-816E-415B-9990-8C0FC839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1163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7D63F-1E8F-4B9D-8B5C-3ECE07C0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143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4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356A7-3F22-4F63-8665-89D8143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72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C833A-458C-4679-B140-EBF645A6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本地 Alpha / 实现检查点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954A8-97A2-4DDA-9581-916AFC37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文件 Scope、引用与版本  ·  工具 / MCP / Skill 审批框架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Remote 加密控制面与 Start / Steer / Queue / Stop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4B3B7-7076-483D-AC7E-8FA43E7F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163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12729-DB1F-4EA1-8AB0-37B99425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43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0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5A5E1-939D-45E2-BD96-30D13750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723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C9001-7AF1-4A18-9A6F-63CEFBC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43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1826"/>
                </a:solidFill>
                <a:latin typeface="Microsoft YaHei"/>
                <a:ea typeface="Microsoft YaHei"/>
                <a:cs typeface="Microsoft YaHei"/>
              </a:rPr>
              <a:t>发布门禁 / 路线图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B8E45-273B-41C7-B3B0-CFE74DA0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6572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目标用户 Beta、真实支付与 Provider 对账  ·  Remote 真机与推送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274"/>
                </a:solidFill>
                <a:latin typeface="Microsoft YaHei"/>
                <a:ea typeface="Microsoft YaHei"/>
                <a:cs typeface="Microsoft YaHei"/>
              </a:rPr>
              <a:t>签名、公证、商店、升级回滚  ·  跨平台性能、安全与隐私矩阵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78526-B3DB-4501-94AD-3BA014CA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06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不把本地检查点包装成全面发布，确保每一项承诺都能回到证据。</a:t>
            </a:r>
          </a:p>
        </p:txBody>
      </p:sp>
    </p:spTree>
    <p:extLst>
      <p:ext uri="{BB962C8B-B14F-4D97-AF65-F5344CB8AC3E}">
        <p14:creationId xmlns:p14="http://schemas.microsoft.com/office/powerpoint/2010/main" val="10185255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209c6e8934f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C915C-0381-4A7A-BB41-2940684B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82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61c3487c3490e"/>
          <a:stretch xmlns:a="http://schemas.openxmlformats.org/drawingml/2006/main"/>
        </p:blipFill>
        <p:spPr>
          <a:xfrm xmlns:a="http://schemas.openxmlformats.org/drawingml/2006/main">
            <a:off x="590550" y="535781"/>
            <a:ext cx="285750" cy="24288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60CD0-1631-40E2-907A-48253440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OpenERX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41D92-FB90-47B4-833D-7A3CD8B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建议下一步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B70CC-2D94-49B2-87D7-AF5C45B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 3 类真实任务，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开展 2 周受控 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68A20-C312-47BA-8B00-20D41D52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6D5A9"/>
                </a:solidFill>
                <a:latin typeface="Microsoft YaHei"/>
                <a:ea typeface="Microsoft YaHei"/>
                <a:cs typeface="Microsoft YaHei"/>
              </a:rPr>
              <a:t>用真实交付检验下一代个人生产力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32D5D-8C41-4F1B-93BA-0685B2A1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F4852-F393-4A25-8731-04FFEFA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 → 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84696-9B98-4F3E-9701-07D5AD4F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05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业务材料生成摘要、分析表与汇报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3DA0A-15C7-4B85-82FF-FF3DE6A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A4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5F1FC-0D68-45EC-AD21-F5DFDDCF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搜索 → 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2DBDE-F384-4739-856E-C8B46E06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14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基于来源完成调研与可复核结论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A7038-7271-4B80-B7A4-6C7A74C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7001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14CC4-E8B0-4C41-81B6-547B5D85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0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长任务 → 监督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C92A6-2F82-468A-B194-900808D0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24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5D6"/>
                </a:solidFill>
                <a:latin typeface="Microsoft YaHei"/>
                <a:ea typeface="Microsoft YaHei"/>
                <a:cs typeface="Microsoft YaHei"/>
              </a:rPr>
              <a:t>桌面执行，移动端补充、审批与停止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12E8B-DC2D-4AA7-8285-D48DFD00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A4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5E7C2-11F9-4FB8-8F03-E8D9ECCD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200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7D1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1DD"/>
                </a:solidFill>
                <a:latin typeface="Microsoft YaHei"/>
                <a:ea typeface="Microsoft YaHei"/>
                <a:cs typeface="Microsoft YaHei"/>
              </a:rPr>
              <a:t>成功标准：交付质量 · 人工节省 · 权限合规 · 使用意愿</a:t>
            </a:r>
          </a:p>
        </p:txBody>
      </p:sp>
    </p:spTree>
    <p:extLst>
      <p:ext uri="{BB962C8B-B14F-4D97-AF65-F5344CB8AC3E}">
        <p14:creationId xmlns:p14="http://schemas.microsoft.com/office/powerpoint/2010/main" val="2013260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2026-08-31T06:31:06.9220000Z</dcterms:created>
  <dcterms:modified xsi:type="dcterms:W3CDTF">2026-08-31T06:31:06.9220000Z</dcterms:modified>
</coreProperties>
</file>