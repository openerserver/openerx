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934c4faf314a86" /><Relationship Type="http://schemas.openxmlformats.org/officeDocument/2006/relationships/extended-properties" Target="/docProps/app.xml" Id="Red0975b57f814e44" /><Relationship Type="http://schemas.openxmlformats.org/officeDocument/2006/relationships/officeDocument" Target="/ppt/presentation.xml" Id="Rd91289d3fd7b46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b91e13debb49f4"/>
  </p:sldMasterIdLst>
  <p:notesMasterIdLst>
    <p:notesMasterId xmlns:r="http://schemas.openxmlformats.org/officeDocument/2006/relationships" r:id="R45bbbd61ab094c53"/>
  </p:notesMasterIdLst>
  <p:sldIdLst>
    <p:sldId xmlns:r="http://schemas.openxmlformats.org/officeDocument/2006/relationships" id="256" r:id="R9943fd74c69543fa"/>
    <p:sldId xmlns:r="http://schemas.openxmlformats.org/officeDocument/2006/relationships" id="257" r:id="R42139f0b2e59427d"/>
    <p:sldId xmlns:r="http://schemas.openxmlformats.org/officeDocument/2006/relationships" id="258" r:id="Rba5488b397224a29"/>
    <p:sldId xmlns:r="http://schemas.openxmlformats.org/officeDocument/2006/relationships" id="259" r:id="R39e68ea16e4540c9"/>
    <p:sldId xmlns:r="http://schemas.openxmlformats.org/officeDocument/2006/relationships" id="260" r:id="R0d7ff7117340488e"/>
    <p:sldId xmlns:r="http://schemas.openxmlformats.org/officeDocument/2006/relationships" id="261" r:id="R156dd200de9c4f53"/>
    <p:sldId xmlns:r="http://schemas.openxmlformats.org/officeDocument/2006/relationships" id="262" r:id="Rc64e5d27ea824a0a"/>
    <p:sldId xmlns:r="http://schemas.openxmlformats.org/officeDocument/2006/relationships" id="263" r:id="R26d34e8b3fad4a22"/>
    <p:sldId xmlns:r="http://schemas.openxmlformats.org/officeDocument/2006/relationships" id="264" r:id="R59b7e2a21995400f"/>
    <p:sldId xmlns:r="http://schemas.openxmlformats.org/officeDocument/2006/relationships" id="265" r:id="R2c628d14512a4060"/>
    <p:sldId xmlns:r="http://schemas.openxmlformats.org/officeDocument/2006/relationships" id="266" r:id="R93366480dc0a4c68"/>
    <p:sldId xmlns:r="http://schemas.openxmlformats.org/officeDocument/2006/relationships" id="267" r:id="R23341f7384644a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6b737b2fb54b5c" /><Relationship Type="http://schemas.openxmlformats.org/officeDocument/2006/relationships/slideMaster" Target="/ppt/slideMasters/slideMaster1.xml" Id="R15b91e13debb49f4" /><Relationship Type="http://schemas.openxmlformats.org/officeDocument/2006/relationships/notesMaster" Target="/ppt/notesMasters/notesMaster1.xml" Id="R45bbbd61ab094c53" /><Relationship Type="http://schemas.openxmlformats.org/officeDocument/2006/relationships/presProps" Target="/ppt/presProps.xml" Id="R047d3ff084c44533" /><Relationship Type="http://schemas.openxmlformats.org/officeDocument/2006/relationships/tableStyles" Target="/ppt/tableStyles.xml" Id="Ra7d8cdcd72c54f48" /><Relationship Type="http://schemas.openxmlformats.org/officeDocument/2006/relationships/slide" Target="/ppt/slides/slide1.xml" Id="R9943fd74c69543fa" /><Relationship Type="http://schemas.openxmlformats.org/officeDocument/2006/relationships/slide" Target="/ppt/slides/slide2.xml" Id="R42139f0b2e59427d" /><Relationship Type="http://schemas.openxmlformats.org/officeDocument/2006/relationships/slide" Target="/ppt/slides/slide3.xml" Id="Rba5488b397224a29" /><Relationship Type="http://schemas.openxmlformats.org/officeDocument/2006/relationships/slide" Target="/ppt/slides/slide4.xml" Id="R39e68ea16e4540c9" /><Relationship Type="http://schemas.openxmlformats.org/officeDocument/2006/relationships/slide" Target="/ppt/slides/slide5.xml" Id="R0d7ff7117340488e" /><Relationship Type="http://schemas.openxmlformats.org/officeDocument/2006/relationships/slide" Target="/ppt/slides/slide6.xml" Id="R156dd200de9c4f53" /><Relationship Type="http://schemas.openxmlformats.org/officeDocument/2006/relationships/slide" Target="/ppt/slides/slide7.xml" Id="Rc64e5d27ea824a0a" /><Relationship Type="http://schemas.openxmlformats.org/officeDocument/2006/relationships/slide" Target="/ppt/slides/slide8.xml" Id="R26d34e8b3fad4a22" /><Relationship Type="http://schemas.openxmlformats.org/officeDocument/2006/relationships/slide" Target="/ppt/slides/slide9.xml" Id="R59b7e2a21995400f" /><Relationship Type="http://schemas.openxmlformats.org/officeDocument/2006/relationships/slide" Target="/ppt/slides/slide10.xml" Id="R2c628d14512a4060" /><Relationship Type="http://schemas.openxmlformats.org/officeDocument/2006/relationships/slide" Target="/ppt/slides/slide11.xml" Id="R93366480dc0a4c68" /><Relationship Type="http://schemas.openxmlformats.org/officeDocument/2006/relationships/slide" Target="/ppt/slides/slide12.xml" Id="R23341f7384644a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3cc1db8ae94d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6b0ed59e164664" /><Relationship Type="http://schemas.openxmlformats.org/officeDocument/2006/relationships/notesMaster" Target="/ppt/notesMasters/notesMaster1.xml" Id="R9128f47304f344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1b0dd3fef34e7e" /><Relationship Type="http://schemas.openxmlformats.org/officeDocument/2006/relationships/notesMaster" Target="/ppt/notesMasters/notesMaster1.xml" Id="R1bd9461d95184f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1a5341578e4c0c" /><Relationship Type="http://schemas.openxmlformats.org/officeDocument/2006/relationships/notesMaster" Target="/ppt/notesMasters/notesMaster1.xml" Id="R10d059ba409647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559994c02d413f" /><Relationship Type="http://schemas.openxmlformats.org/officeDocument/2006/relationships/notesMaster" Target="/ppt/notesMasters/notesMaster1.xml" Id="R322400e75dae45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cb08a83a884e4b" /><Relationship Type="http://schemas.openxmlformats.org/officeDocument/2006/relationships/notesMaster" Target="/ppt/notesMasters/notesMaster1.xml" Id="R8e8d3622a3f640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51d42ccb9947d4" /><Relationship Type="http://schemas.openxmlformats.org/officeDocument/2006/relationships/notesMaster" Target="/ppt/notesMasters/notesMaster1.xml" Id="Rbcc24c5f0f3e41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a7e1296a0048dc" /><Relationship Type="http://schemas.openxmlformats.org/officeDocument/2006/relationships/notesMaster" Target="/ppt/notesMasters/notesMaster1.xml" Id="Rdbad49a408714b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ad2eb26ab34987" /><Relationship Type="http://schemas.openxmlformats.org/officeDocument/2006/relationships/notesMaster" Target="/ppt/notesMasters/notesMaster1.xml" Id="R87b65c37c1204c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ff7c560bfc44ee" /><Relationship Type="http://schemas.openxmlformats.org/officeDocument/2006/relationships/notesMaster" Target="/ppt/notesMasters/notesMaster1.xml" Id="Rc05a8e890b9143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8b004637ae4572" /><Relationship Type="http://schemas.openxmlformats.org/officeDocument/2006/relationships/notesMaster" Target="/ppt/notesMasters/notesMaster1.xml" Id="Rbb47abb206464b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160bc7a57747a3" /><Relationship Type="http://schemas.openxmlformats.org/officeDocument/2006/relationships/notesMaster" Target="/ppt/notesMasters/notesMaster1.xml" Id="R0c671f3ef96849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dabe6976244bb3" /><Relationship Type="http://schemas.openxmlformats.org/officeDocument/2006/relationships/notesMaster" Target="/ppt/notesMasters/notesMaster1.xml" Id="R2e73cfad061146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开场只讲一个判断：企业需要的不只是更会回答的 AI，而是能够在清晰边界里完成工作的 AI。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C:\Users\alexe\Documents\ChatGPT\openerx\README.md（产品定位与当前状态）</a:t>
            </a:r>
          </a:p>
          <a:p xmlns:a="http://schemas.openxmlformats.org/drawingml/2006/main">
            <a:r>
              <a:t>- C:\Users\alexe\Documents\ChatGPT\openerx\docs\v2\01-product-contract.md（定位与能力边界）</a:t>
            </a:r>
          </a:p>
          <a:p xmlns:a="http://schemas.openxmlformats.org/drawingml/2006/main">
            <a:r>
              <a:t>- Asset: C:\Users\alexe\Documents\ChatGPT\openerx\docs\presentations\assets\OpenERX-soe-hero-2026-08-31.png（OpenAI ImageGen 原创主视觉）</a:t>
            </a:r>
          </a:p>
          <a:p xmlns:a="http://schemas.openxmlformats.org/drawingml/2006/main">
            <a:r>
              <a:t>- Asset: C:\Users\alexe\Documents\ChatGPT\openerx\apps\desktop\public\assets\china-unicom-logo.png（仓库现有产品标记）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把问题讲成企业员工每天都能感受到的三种摩擦，不引入宏观市场数字。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C:\Users\alexe\Documents\ChatGPT\openerx\docs\v2\02-users-and-scenarios.md（目标用户、Job Story 与首个纵向场景）</a:t>
            </a:r>
          </a:p>
          <a:p xmlns:a="http://schemas.openxmlformats.org/drawingml/2006/main">
            <a:r>
              <a:t>- C:\Users\alexe\Documents\ChatGPT\openerx\docs\v2\03-experience-and-information-architecture.md（新对话、文件、工具与成果体验）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这不是线性自动化流水线，而是用户始终可以补充、确认、停止和继续的对话式闭环。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C:\Users\alexe\Documents\ChatGPT\openerx\docs\v2\01-product-contract.md（对话连接文件、工具和模型）</a:t>
            </a:r>
          </a:p>
          <a:p xmlns:a="http://schemas.openxmlformats.org/drawingml/2006/main">
            <a:r>
              <a:t>- C:\Users\alexe\Documents\ChatGPT\openerx\docs\v2\02-users-and-scenarios.md（首个纵向闭环）</a:t>
            </a:r>
          </a:p>
          <a:p xmlns:a="http://schemas.openxmlformats.org/drawingml/2006/main">
            <a:r>
              <a:t>- C:\Users\alexe\Documents\ChatGPT\openerx\docs\v2\03-experience-and-information-architecture.md（长任务、成果、权限确认）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强调启动即进入新对话。截图来自改名前的开发版实机界面，页面仅以可编辑覆盖层展示 UWA 新名称，不把开发状态包装成正式发布。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C:\Users\alexe\Documents\ChatGPT\openerx\docs\v2\03-experience-and-information-architecture.md（主入口与新对话合同）</a:t>
            </a:r>
          </a:p>
          <a:p xmlns:a="http://schemas.openxmlformats.org/drawingml/2006/main">
            <a:r>
              <a:t>- Asset: C:\Users\alexe\Documents\ChatGPT\openerx\docs\presentations\assets\OpenERX-home-screen-2026-08-29.jpeg（旧版 PPT 内嵌开发版实机截图）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用一条冻结的纵向任务说明价值。Office 四格式已有真实二进制与本机检查点，但任意第三方 Office 忠实预览仍属于发布门禁。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C:\Users\alexe\Documents\ChatGPT\openerx\docs\v2\02-users-and-scenarios.md（首个纵向闭环）</a:t>
            </a:r>
          </a:p>
          <a:p xmlns:a="http://schemas.openxmlformats.org/drawingml/2006/main">
            <a:r>
              <a:t>- C:\Users\alexe\Documents\ChatGPT\openerx\docs\v2\evidence\p1-codex-alignment-cx108-2026-08-27.md（DOCX/XLSX/PPTX/PDF 真实成果证据）</a:t>
            </a:r>
          </a:p>
          <a:p xmlns:a="http://schemas.openxmlformats.org/drawingml/2006/main">
            <a:r>
              <a:t>- Asset crop: C:\Users\alexe\Documents\ChatGPT\openerx\docs\presentations\assets\OpenERX-artifact-preview-crop-2026-08-31.png（从实机截图精确裁取右侧成果预览区）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把能力压缩成三个支柱，避免在宣讲中逐项念功能清单。长期记忆需明确默认控制权与安全边界。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C:\Users\alexe\Documents\ChatGPT\openerx\docs\v2\01-product-contract.md（文件、工具、Skill 与 V1 边界）</a:t>
            </a:r>
          </a:p>
          <a:p xmlns:a="http://schemas.openxmlformats.org/drawingml/2006/main">
            <a:r>
              <a:t>- C:\Users\alexe\Documents\ChatGPT\openerx\docs\v2\10-codex-capability-baseline.md（能力矩阵）</a:t>
            </a:r>
          </a:p>
          <a:p xmlns:a="http://schemas.openxmlformats.org/drawingml/2006/main">
            <a:r>
              <a:t>- C:\Users\alexe\Documents\ChatGPT\openerx\docs\v2\23-codex-style-memory-plan.md（长期记忆范围）</a:t>
            </a:r>
          </a:p>
          <a:p xmlns:a="http://schemas.openxmlformats.org/drawingml/2006/main">
            <a:r>
              <a:t>- C:\Users\alexe\Documents\ChatGPT\openerx\docs\v2\24-memory-system-method.md（记忆来源、撤销与安全）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这页强调‘执行’和‘授权’必须同时成立。浏览器本机已有切片，不扩写为全平台全面发布。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C:\Users\alexe\Documents\ChatGPT\openerx\docs\v2\03-experience-and-information-architecture.md（工具确认体验）</a:t>
            </a:r>
          </a:p>
          <a:p xmlns:a="http://schemas.openxmlformats.org/drawingml/2006/main">
            <a:r>
              <a:t>- C:\Users\alexe\Documents\ChatGPT\openerx\docs\v2\10-codex-capability-baseline.md（浏览器、Shell、MCP 与 Skill 边界）</a:t>
            </a:r>
          </a:p>
          <a:p xmlns:a="http://schemas.openxmlformats.org/drawingml/2006/main">
            <a:r>
              <a:t>- C:\Users\alexe\Documents\ChatGPT\openerx\docs\v2\evidence\bcu-003-windows-system-browser-2026-08-29.md（Windows 系统浏览器实测）</a:t>
            </a:r>
          </a:p>
          <a:p xmlns:a="http://schemas.openxmlformats.org/drawingml/2006/main">
            <a:r>
              <a:t>- Asset: C:\Users\alexe\Documents\ChatGPT\openerx\.codex-temp\tool-center-implementation.png（OpenERX 工具中心实机截图）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用实机画面证明最小权限：没有文件、没有工作区授权，系统明确停下来向用户索要上下文。截图来自改名前的开发版，页面以可编辑覆盖层展示 UWA 新名称。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C:\Users\alexe\Documents\ChatGPT\openerx\docs\v2\06-security-and-governance-contract.md（最小权限、审批与审计）</a:t>
            </a:r>
          </a:p>
          <a:p xmlns:a="http://schemas.openxmlformats.org/drawingml/2006/main">
            <a:r>
              <a:t>- C:\Users\alexe\Documents\ChatGPT\openerx\docs\v2\14-overall-architecture.md（Pi 隔离、能力 Broker 与设备权限）</a:t>
            </a:r>
          </a:p>
          <a:p xmlns:a="http://schemas.openxmlformats.org/drawingml/2006/main">
            <a:r>
              <a:t>- Asset: C:\Users\alexe\Documents\ChatGPT\openerx\.codex-temp\audit-openerx-codex-v2\03-openerx-p0p1p2.png（未授权时的实机行为证据）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手机不是远程桌面，也不是第二套执行环境。Remote 当前是本地 Alpha，真机、生产 WSS 与推送仍在发布门禁。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C:\Users\alexe\Documents\ChatGPT\openerx\docs\v2\01-product-contract.md（Remote Control 产品边界）</a:t>
            </a:r>
          </a:p>
          <a:p xmlns:a="http://schemas.openxmlformats.org/drawingml/2006/main">
            <a:r>
              <a:t>- C:\Users\alexe\Documents\ChatGPT\openerx\docs\v2\03-experience-and-information-architecture.md（移动端 Hosts / Tasks / Inbox）</a:t>
            </a:r>
          </a:p>
          <a:p xmlns:a="http://schemas.openxmlformats.org/drawingml/2006/main">
            <a:r>
              <a:t>- C:\Users\alexe\Documents\ChatGPT\openerx\docs\v2\evidence\m6-2026-08-26.md（Remote 本地 Alpha E2E 检查点）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不一开始追求大而全。选择高频、结果清晰、数据可控且可人工复核的任务，最容易在短周期内看见真实价值。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C:\Users\alexe\Documents\ChatGPT\openerx\docs\v2\02-users-and-scenarios.md（企业普通用户任务与首个纵向闭环）</a:t>
            </a:r>
          </a:p>
          <a:p xmlns:a="http://schemas.openxmlformats.org/drawingml/2006/main">
            <a:r>
              <a:t>- C:\Users\alexe\Documents\ChatGPT\openerx\docs\v2\09-golden-task-catalog.md（桌面任务验收目录）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主动区分三类状态。真实环境已验证代表已有切片，不代表全面发布；本地 Alpha 代表可运行骨架；其余明确列入发布门禁。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C:\Users\alexe\Documents\ChatGPT\openerx\README.md（当前状态）</a:t>
            </a:r>
          </a:p>
          <a:p xmlns:a="http://schemas.openxmlformats.org/drawingml/2006/main">
            <a:r>
              <a:t>- C:\Users\alexe\Documents\ChatGPT\openerx\docs\v2\14-overall-architecture.md（实现证据与剩余门禁）</a:t>
            </a:r>
          </a:p>
          <a:p xmlns:a="http://schemas.openxmlformats.org/drawingml/2006/main">
            <a:r>
              <a:t>- C:\Users\alexe\Documents\ChatGPT\openerx\docs\v2\16-codex-aligned-implementation-assessment.md（P0/P1/P2 与 CX 检查点）</a:t>
            </a:r>
          </a:p>
          <a:p xmlns:a="http://schemas.openxmlformats.org/drawingml/2006/main">
            <a:r>
              <a:t>- C:\Users\alexe\Documents\ChatGPT\openerx\docs\v2\evidence\m8-2026-08-26.md（真实模型与计费首切片）</a:t>
            </a:r>
          </a:p>
          <a:p xmlns:a="http://schemas.openxmlformats.org/drawingml/2006/main">
            <a:r>
              <a:t>- C:\Users\alexe\Documents\ChatGPT\openerx\docs\v2\evidence\memory-model-golden-evaluator-2026-08-30.md（Memory 固定评测）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收尾不说泛泛的‘谢谢’，而是提出一项可以立即决策的受控 Beta。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C:\Users\alexe\Documents\ChatGPT\openerx\docs\v2\02-users-and-scenarios.md（纵向闭环与目标用户验证）</a:t>
            </a:r>
          </a:p>
          <a:p xmlns:a="http://schemas.openxmlformats.org/drawingml/2006/main">
            <a:r>
              <a:t>- C:\Users\alexe\Documents\ChatGPT\openerx\README.md（当前处于外部 Beta 与发布门禁阶段）</a:t>
            </a:r>
          </a:p>
          <a:p xmlns:a="http://schemas.openxmlformats.org/drawingml/2006/main">
            <a:r>
              <a:t>- Asset: C:\Users\alexe\Documents\ChatGPT\openerx\docs\presentations\assets\OpenERX-soe-hero-2026-08-31.png（OpenAI ImageGen 原创主视觉）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ad24a1ddf048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3d8cae854e4c71" /><Relationship Type="http://schemas.openxmlformats.org/officeDocument/2006/relationships/slideLayout" Target="/ppt/slideLayouts/slideLayout1.xml" Id="R119cded471d54c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9cded471d54c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719207d64457a" /><Relationship Type="http://schemas.openxmlformats.org/officeDocument/2006/relationships/image" Target="/ppt/media/image.png" Id="R1afbfaceb60442cd" /><Relationship Type="http://schemas.openxmlformats.org/officeDocument/2006/relationships/image" Target="/ppt/media/image2.png" Id="Rc2e986887c82469d" /><Relationship Type="http://schemas.openxmlformats.org/officeDocument/2006/relationships/notesSlide" Target="/ppt/notesSlides/notesSlide1.xml" Id="R314be02b549f46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e02be19cf43ff" /><Relationship Type="http://schemas.openxmlformats.org/officeDocument/2006/relationships/image" Target="/ppt/media/image3.png" Id="Re31b589113a54dbc" /><Relationship Type="http://schemas.openxmlformats.org/officeDocument/2006/relationships/notesSlide" Target="/ppt/notesSlides/notesSlide2.xml" Id="R2dd0a678254c43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6b6a46e854fa8" /><Relationship Type="http://schemas.openxmlformats.org/officeDocument/2006/relationships/image" Target="/ppt/media/image4.png" Id="R9e76a0b5015941fe" /><Relationship Type="http://schemas.openxmlformats.org/officeDocument/2006/relationships/notesSlide" Target="/ppt/notesSlides/notesSlide3.xml" Id="R27bafb4eee2a42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ad5a40a444a0f" /><Relationship Type="http://schemas.openxmlformats.org/officeDocument/2006/relationships/image" Target="/ppt/media/image5.png" Id="R8cdba9490c3d46a1" /><Relationship Type="http://schemas.openxmlformats.org/officeDocument/2006/relationships/image" Target="/ppt/media/image.jpeg" Id="Ra72221eee3184e4f" /><Relationship Type="http://schemas.openxmlformats.org/officeDocument/2006/relationships/notesSlide" Target="/ppt/notesSlides/notesSlide4.xml" Id="Raae21fac1b2046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21fc35712431b" /><Relationship Type="http://schemas.openxmlformats.org/officeDocument/2006/relationships/image" Target="/ppt/media/image6.png" Id="R136caabc804a4b54" /><Relationship Type="http://schemas.openxmlformats.org/officeDocument/2006/relationships/image" Target="/ppt/media/image7.png" Id="Rc2e0597517f6499d" /><Relationship Type="http://schemas.openxmlformats.org/officeDocument/2006/relationships/notesSlide" Target="/ppt/notesSlides/notesSlide5.xml" Id="Re7b582cf7e9641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4e69f19b341ff" /><Relationship Type="http://schemas.openxmlformats.org/officeDocument/2006/relationships/image" Target="/ppt/media/image8.png" Id="R47f906eae5a84a3f" /><Relationship Type="http://schemas.openxmlformats.org/officeDocument/2006/relationships/notesSlide" Target="/ppt/notesSlides/notesSlide6.xml" Id="R1d70638a24404b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0e2615f544ddc" /><Relationship Type="http://schemas.openxmlformats.org/officeDocument/2006/relationships/image" Target="/ppt/media/image9.png" Id="R636f0d26f6084b37" /><Relationship Type="http://schemas.openxmlformats.org/officeDocument/2006/relationships/image" Target="/ppt/media/image2.jpeg" Id="R3c685859099a4fb7" /><Relationship Type="http://schemas.openxmlformats.org/officeDocument/2006/relationships/notesSlide" Target="/ppt/notesSlides/notesSlide7.xml" Id="Rd3f8dcb042d04c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974181a4740bf" /><Relationship Type="http://schemas.openxmlformats.org/officeDocument/2006/relationships/image" Target="/ppt/media/image10.png" Id="R199b553694b2430b" /><Relationship Type="http://schemas.openxmlformats.org/officeDocument/2006/relationships/image" Target="/ppt/media/image11.png" Id="R199dfe0a114a4812" /><Relationship Type="http://schemas.openxmlformats.org/officeDocument/2006/relationships/notesSlide" Target="/ppt/notesSlides/notesSlide8.xml" Id="R3ff8cbaa2a5547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1f292aaaa43f2" /><Relationship Type="http://schemas.openxmlformats.org/officeDocument/2006/relationships/image" Target="/ppt/media/image12.png" Id="Ra68a15de5176494c" /><Relationship Type="http://schemas.openxmlformats.org/officeDocument/2006/relationships/notesSlide" Target="/ppt/notesSlides/notesSlide9.xml" Id="R387bce53233845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19cac043f4e27" /><Relationship Type="http://schemas.openxmlformats.org/officeDocument/2006/relationships/image" Target="/ppt/media/image13.png" Id="R41f82edc78b3465f" /><Relationship Type="http://schemas.openxmlformats.org/officeDocument/2006/relationships/notesSlide" Target="/ppt/notesSlides/notesSlide10.xml" Id="Rd3505dc93e3f4b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f52e1841f46b6" /><Relationship Type="http://schemas.openxmlformats.org/officeDocument/2006/relationships/image" Target="/ppt/media/image14.png" Id="Rdb09c0220fb746a4" /><Relationship Type="http://schemas.openxmlformats.org/officeDocument/2006/relationships/notesSlide" Target="/ppt/notesSlides/notesSlide11.xml" Id="R36402d1e02ea45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7afda59724ac9" /><Relationship Type="http://schemas.openxmlformats.org/officeDocument/2006/relationships/image" Target="/ppt/media/image15.png" Id="R50a853d6a97a49c2" /><Relationship Type="http://schemas.openxmlformats.org/officeDocument/2006/relationships/image" Target="/ppt/media/image16.png" Id="Rde169a95f642412e" /><Relationship Type="http://schemas.openxmlformats.org/officeDocument/2006/relationships/notesSlide" Target="/ppt/notesSlides/notesSlide12.xml" Id="R19d5900e88ed4fa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bfaceb60442c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36BFC-1F49-4993-B8D5-55C2141B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B5766-92BA-4942-BCA0-53B291F5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666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01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986887c82469d"/>
          <a:stretch xmlns:a="http://schemas.openxmlformats.org/drawingml/2006/main"/>
        </p:blipFill>
        <p:spPr>
          <a:xfrm xmlns:a="http://schemas.openxmlformats.org/drawingml/2006/main">
            <a:off x="781050" y="610076"/>
            <a:ext cx="323850" cy="27527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B7A9F-2AB8-465B-BA06-F12D286E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05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UWA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AC350-2159-4C54-97AD-4E5CAE8A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4095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让一句话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变成可交付成果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15E43-DFBF-4630-8891-F30C72E1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rPr>
              <a:t>面向企业员工的个人 AI 工作平台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F5E5F-9D83-490B-AA68-3692CA3D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371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D8E0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8E0EA"/>
                </a:solidFill>
                <a:latin typeface="Microsoft YaHei"/>
                <a:ea typeface="Microsoft YaHei"/>
                <a:cs typeface="Microsoft YaHei"/>
              </a:rPr>
              <a:t>对话连接文件、工具、记忆与设备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D8E0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8E0EA"/>
                </a:solidFill>
                <a:latin typeface="Microsoft YaHei"/>
                <a:ea typeface="Microsoft YaHei"/>
                <a:cs typeface="Microsoft YaHei"/>
              </a:rPr>
              <a:t>在明确授权下完成工作，并留下可审阅成果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D0216-08A0-4272-9F96-A1C45860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340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A4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A49A6-F458-43DA-A306-5A2E87F9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rPr>
              <a:t>产品宣讲｜2026.08</a:t>
            </a:r>
          </a:p>
        </p:txBody>
      </p:sp>
    </p:spTree>
    <p:extLst>
      <p:ext uri="{BB962C8B-B14F-4D97-AF65-F5344CB8AC3E}">
        <p14:creationId xmlns:p14="http://schemas.microsoft.com/office/powerpoint/2010/main" val="630647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b589113a54dbc"/>
          <a:stretch xmlns:a="http://schemas.openxmlformats.org/drawingml/2006/main"/>
        </p:blipFill>
        <p:spPr>
          <a:xfrm xmlns:a="http://schemas.openxmlformats.org/drawingml/2006/main">
            <a:off x="419100" y="240983"/>
            <a:ext cx="228600" cy="1943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44CF9-5E0F-4AAD-A1D3-FDB098C7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UWA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AC84E-1F65-4091-A411-58EAB7AA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产品宣讲 · 受控 Beta 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37270-ED94-4494-82D6-265AF5E9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80632-B0CC-434E-98B3-ED49AB4D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D1724-0DB1-4369-B00F-C1F6C675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核心洞察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82A34-FEA7-4F96-87E3-307A4468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AI 已经会回答，企业工作仍卡在“最后一公里”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252A7-C3A0-4A93-97F5-1669C780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62150"/>
            <a:ext cx="904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D7B3F-EC28-47CC-BFE5-CA782877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1F668-9F35-41A1-B3E8-0DB66565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材料分散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BDC11-03EC-41D6-9B3A-6A77E978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文件、网页、表格、模板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散落在不同系统里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9E0BD-C913-4FE5-B734-B7D3CFB8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62150"/>
            <a:ext cx="904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48B1A-8225-43EE-903E-9D240D5F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14600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A4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74F59-AC01-48AC-B6CE-F97833F4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003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工具割裂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FC5F0-4142-4CB3-BC1B-94E8B4CB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337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查资料、改文件、跑工具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仍靠人手来回切换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5D221-2171-494F-ABEE-440A71E1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62150"/>
            <a:ext cx="904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FEDC2-1FC9-4A59-A7C7-447FB77A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14600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91461-466A-46D7-BA0C-B1E0D191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003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结果难复用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74F988-88E9-471A-9DE1-41D7FB26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337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回答留在聊天里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成果、来源和版本难沉淀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B59483-43F9-4332-9737-279C67B6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05375"/>
            <a:ext cx="12192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A1642C-622B-45B3-BF36-E66230AD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2134A6-0AC6-49EF-BBBA-A960D82B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回答 ≠ 完成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5E47B2-BAB9-400F-A7A5-F68CAD18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219700"/>
            <a:ext cx="647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rPr>
              <a:t>真正的效率，不是多一个聊天窗口，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rPr>
              <a:t>而是把一件事完整做完。</a:t>
            </a:r>
          </a:p>
        </p:txBody>
      </p:sp>
    </p:spTree>
    <p:extLst>
      <p:ext uri="{BB962C8B-B14F-4D97-AF65-F5344CB8AC3E}">
        <p14:creationId xmlns:p14="http://schemas.microsoft.com/office/powerpoint/2010/main" val="16533077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6a0b5015941fe"/>
          <a:stretch xmlns:a="http://schemas.openxmlformats.org/drawingml/2006/main"/>
        </p:blipFill>
        <p:spPr>
          <a:xfrm xmlns:a="http://schemas.openxmlformats.org/drawingml/2006/main">
            <a:off x="419100" y="240983"/>
            <a:ext cx="228600" cy="1943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3D7B0-3F2C-45D6-838C-12E24927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UWA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13261-60D1-4177-8B14-3A073700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rPr>
              <a:t>产品宣讲 · 受控 Beta 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4D36C-4570-42D1-9D86-DA8EC4FD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B3A0F-BB04-4BFF-928F-FB9B1DDA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C4406-0743-4E04-9087-9E28A539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工作方式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31B3E-BDCD-4111-BAB6-734C079B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一个对话，承接从需求到成果的完整闭环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3C347-B9C1-4E35-9CCB-73D7DE66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8C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8C5D6"/>
                </a:solidFill>
                <a:latin typeface="Microsoft YaHei"/>
                <a:ea typeface="Microsoft YaHei"/>
                <a:cs typeface="Microsoft YaHei"/>
              </a:rPr>
              <a:t>无需先搭工作流、选 Provider 或理解 Agent 内部结构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A2040-763F-4DF5-905D-F68781C4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95650"/>
            <a:ext cx="899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65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4564B-6FA6-4733-AB22-4319D4D5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95650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700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41A8D-7AE6-417A-968A-3DEFA889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95650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8A4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01D95-693D-4ED8-8249-3C3BF1D1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0018"/>
          </a:solidFill>
          <a:ln xmlns:a="http://schemas.openxmlformats.org/drawingml/2006/main" w="19050">
            <a:solidFill>
              <a:srgbClr val="D700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255D8-AB51-4DAB-BECF-BDDE328F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8B70E-71FE-4CF2-8106-75ECF64F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19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说清需求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9C4097-34F5-4DC8-9E1D-E6312C1F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38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rPr>
              <a:t>目标与边界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AB11B-311F-4FC2-844D-0720F21C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76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48"/>
          </a:solidFill>
          <a:ln xmlns:a="http://schemas.openxmlformats.org/drawingml/2006/main" w="19050">
            <a:solidFill>
              <a:srgbClr val="6D829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46AE9-B5E3-4A34-8990-E9FCE89C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3847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2B0538-92FE-4A2B-8C3A-BA618C63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19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添加材料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DDDD43-C6CE-4E6D-914D-539AF0D9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38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rPr>
              <a:t>文件与模板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6ED5BA-4538-4271-84BB-07C41F0B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76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48"/>
          </a:solidFill>
          <a:ln xmlns:a="http://schemas.openxmlformats.org/drawingml/2006/main" w="19050">
            <a:solidFill>
              <a:srgbClr val="6D829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2D9C82-C3CB-4623-B44F-F7D8AEF2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3847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A62524-F6E9-4F5E-8463-CD6A25B7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19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调用工具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5E70F-17FB-4D55-930F-AC82B0A3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38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rPr>
              <a:t>模型与能力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32E1E4-A971-46A6-B71A-1A1B6E39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76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48"/>
          </a:solidFill>
          <a:ln xmlns:a="http://schemas.openxmlformats.org/drawingml/2006/main" w="19050">
            <a:solidFill>
              <a:srgbClr val="6D829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A06112-03E1-4590-BDCB-9CA8489E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3847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DEBDA1-F4A0-4FF4-BCC1-B044E805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19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审阅过程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D90752-1B79-40FC-8A1A-23006B46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38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rPr>
              <a:t>来源与权限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B4FD5B-8260-414D-80C9-E3892AF4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76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5D"/>
          </a:solidFill>
          <a:ln xmlns:a="http://schemas.openxmlformats.org/drawingml/2006/main" w="19050">
            <a:solidFill>
              <a:srgbClr val="C8A45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6B2D36-2705-440E-8554-CFD9B10D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3847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F71B95-A50F-4B30-8082-AB843B2A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19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获得成果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906CBA-0526-4902-96DC-5DAE4BFD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38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rPr>
              <a:t>预览与版本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9F6A77-40A9-43E7-97E3-F23347E6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DEC113-9BF4-429C-816D-A8CEF2CF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95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来源可追溯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282ECF-4479-47C2-AC5C-AEBC026B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695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rPr>
              <a:t>修改有版本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E62BDB-89E3-420B-B8A8-F7F8DA5E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95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高风险先确认</a:t>
            </a:r>
          </a:p>
        </p:txBody>
      </p:sp>
    </p:spTree>
    <p:extLst>
      <p:ext uri="{BB962C8B-B14F-4D97-AF65-F5344CB8AC3E}">
        <p14:creationId xmlns:p14="http://schemas.microsoft.com/office/powerpoint/2010/main" val="631206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ba9490c3d46a1"/>
          <a:stretch xmlns:a="http://schemas.openxmlformats.org/drawingml/2006/main"/>
        </p:blipFill>
        <p:spPr>
          <a:xfrm xmlns:a="http://schemas.openxmlformats.org/drawingml/2006/main">
            <a:off x="419100" y="240983"/>
            <a:ext cx="228600" cy="1943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4AEB2-AFFA-4AE6-BCF2-A1E3C17E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UWA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669C0-4433-4421-9812-21E6FC3A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产品宣讲 · 受控 Beta 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60806-6F39-4643-9E5A-DA813233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575CF-2C38-4A68-8D31-649F10CA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4945A-8147-4EC3-A05C-8F92C3EC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真实体验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CAFED-24A0-415E-BAC9-2CC8C84F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打开即工作：先说清目标，再让系统组织步骤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E2A08-38EA-4293-BF05-E1C943FD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84C75-2843-4D0A-A9DE-7E0EC1A1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95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直接输入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F9C4F-001E-4D90-9A10-E7BB2227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955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不从项目、任务图或复杂配置开始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49F98-E7B2-463A-B676-3000A885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24DAF-DFCB-491D-911D-10EC05A7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CA6E9-9227-48E3-ABE9-8A6B9388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575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拖入文件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4FD43-4398-440E-B280-BD8603B9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576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把材料、模板和上下文放进对话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544E56-9658-4E1E-8955-C59AAD20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1CC24-8C41-4B3C-8F3D-02081E1F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16E85F-9407-4050-8249-59D3234B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38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按需选择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2B983-95C2-445D-80E5-79D3979F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387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模型、思考强度和 Skill 渐进呈现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9AC5E0-E00B-4AE1-9D19-4CBD724D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7572375" cy="44005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221eee3184e4f"/>
          <a:stretch xmlns:a="http://schemas.openxmlformats.org/drawingml/2006/main"/>
        </p:blipFill>
        <p:spPr>
          <a:xfrm xmlns:a="http://schemas.openxmlformats.org/drawingml/2006/main">
            <a:off x="4783460" y="1895475"/>
            <a:ext cx="6196955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3C0853-BEB0-44ED-AADE-E569D2F1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05000"/>
            <a:ext cx="6286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4DA40-9B34-4D7F-B001-CADEF073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145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UWA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E8A17E-5AB1-4166-9B5C-7A54C662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13360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7A3670-5ABB-40C8-AF63-AB6F0C83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52650"/>
            <a:ext cx="495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UWA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34B058-747B-405E-9E62-94A8DC4F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772150"/>
            <a:ext cx="2266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1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902E21-43B0-4E01-A92A-097B8208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7816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开发版实机界面 · 2026.08</a:t>
            </a:r>
          </a:p>
        </p:txBody>
      </p:sp>
    </p:spTree>
    <p:extLst>
      <p:ext uri="{BB962C8B-B14F-4D97-AF65-F5344CB8AC3E}">
        <p14:creationId xmlns:p14="http://schemas.microsoft.com/office/powerpoint/2010/main" val="15753472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caabc804a4b54"/>
          <a:stretch xmlns:a="http://schemas.openxmlformats.org/drawingml/2006/main"/>
        </p:blipFill>
        <p:spPr>
          <a:xfrm xmlns:a="http://schemas.openxmlformats.org/drawingml/2006/main">
            <a:off x="419100" y="240983"/>
            <a:ext cx="228600" cy="1943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2CF1C-FEDE-4B85-8792-C16A8AFF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UWA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B14B6-B8FD-43D1-8D8E-407CD7A8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产品宣讲 · 受控 Beta 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4FF48-79E9-46B3-A3C1-4FD7CA0B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50A7B-E87A-4BA1-8867-8DFC2BEA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F0F2F-A6AF-43FF-93FF-BF058FF4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交付价值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46126-FFA5-48D4-A9D6-3094EC50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把数据和模板交给它，直接拿到可交付成果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2E65D-E3DB-4F86-97FE-57837975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59245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6A86D-DE8A-4D31-B56F-12BF50E7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97DD7-D959-4FD2-A591-E3D3E6D7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示例任务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62CCC-FECF-43B8-B979-2A1462D7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5048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“分析本周异常，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生成一页摘要、分析表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和六页 PPT。”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29FB49-38C8-43F2-B4C5-E2A414CF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8C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8C5D6"/>
                </a:solidFill>
                <a:latin typeface="Microsoft YaHei"/>
                <a:ea typeface="Microsoft YaHei"/>
                <a:cs typeface="Microsoft YaHei"/>
              </a:rPr>
              <a:t>从问题、证据到最终文件，过程仍留在原对话中。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4AC201-1CC4-4F60-A61A-FFA2CBEB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52600"/>
            <a:ext cx="4895850" cy="35433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0597517f6499d"/>
          <a:stretch xmlns:a="http://schemas.openxmlformats.org/drawingml/2006/main"/>
        </p:blipFill>
        <p:spPr>
          <a:xfrm xmlns:a="http://schemas.openxmlformats.org/drawingml/2006/main">
            <a:off x="7171060" y="1895475"/>
            <a:ext cx="4117330" cy="3257550"/>
          </a:xfrm>
          <a:prstGeom xmlns:a="http://schemas.openxmlformats.org/drawingml/2006/main" prst="roundRect">
            <a:avLst>
              <a:gd name="adj" fmla="val 2924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F13B0-8B74-4F41-80D6-A5E0A6EB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054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9E7E5D-FAAB-4CA9-97E3-11CD6306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rPr>
              <a:t>DOCX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ED65B-2B98-446F-BFDC-1872C9C6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7150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4C5C45-0F45-439E-8B83-551F2ABF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7531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XLSX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32653A-9542-4450-8BD6-0E55EEA1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7150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8A68E0-7405-4510-A0E9-FACC9112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531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rPr>
              <a:t>PPTX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8C5583-4B44-4553-A5FD-20E5400F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FF19F4-1D18-4BB3-8AE8-C5036C06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7531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rPr>
              <a:t>PDF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AAD4C4-8397-4BBA-B48D-8840C87F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912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预览 · 下载 · 再次引用 · 版本化</a:t>
            </a:r>
          </a:p>
        </p:txBody>
      </p:sp>
    </p:spTree>
    <p:extLst>
      <p:ext uri="{BB962C8B-B14F-4D97-AF65-F5344CB8AC3E}">
        <p14:creationId xmlns:p14="http://schemas.microsoft.com/office/powerpoint/2010/main" val="20426132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906eae5a84a3f"/>
          <a:stretch xmlns:a="http://schemas.openxmlformats.org/drawingml/2006/main"/>
        </p:blipFill>
        <p:spPr>
          <a:xfrm xmlns:a="http://schemas.openxmlformats.org/drawingml/2006/main">
            <a:off x="419100" y="240983"/>
            <a:ext cx="228600" cy="1943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1C7D0-DF84-4951-9282-A0B15D15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UWA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46178-4E12-4067-AD6A-13E64452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产品宣讲 · 受控 Beta 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E36EF-F79E-480B-8E83-77B7034C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C0522-E935-4D80-BF19-E022D166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2E240-0EF5-497A-8B7E-67B357B0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产品支柱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84DBC-73CB-4C6E-BDF3-0C14D6E9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三类能力，组成个人工作的智能基础设施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B6978-EDD4-4456-9D04-DB5B9BA2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80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B7096-D495-4F44-B917-2755E6F0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114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61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3C059-2FD2-40A9-9F46-6661F65B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574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文件与成果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09C8C-A842-4F26-9717-7438C24F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001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F58A9-EA4B-479B-8C9E-DF371786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3143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办公文件读取与生成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引用可定位，修改有版本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成果可预览、下载、再引用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57F403-3FDA-43E9-96D5-C932D2FB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809750"/>
            <a:ext cx="0" cy="3543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B4CD6-49DB-4BDF-A33B-72AF39E5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90700"/>
            <a:ext cx="80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91B60-4940-4CB7-9BC2-2A00EF45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86000"/>
            <a:ext cx="114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61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4BF28-A863-4078-8A4A-6B4D2109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4574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工具与连接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B2986A-DFDC-4870-8EF9-C495AB1C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524250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A4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38F5C-F7C9-4694-8A59-9A1D022D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829050"/>
            <a:ext cx="3143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Web、浏览器、Shell、MCP、Skill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在授权范围内执行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越界、高影响动作先确认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7C32A5-36CB-49A4-9D8C-177476E3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0" cy="3543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28A0BA-811E-4DEB-88D1-A884F276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90700"/>
            <a:ext cx="80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23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B6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A4AA0F-BF15-4B90-AD43-6F608A18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114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6150" b="1">
                <a:solidFill>
                  <a:srgbClr val="123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123B67"/>
                </a:solidFill>
                <a:latin typeface="Microsoft YaHei"/>
                <a:ea typeface="Microsoft YaHei"/>
                <a:cs typeface="Microsoft YaHei"/>
              </a:rPr>
              <a:t>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0954A-7821-40E2-962C-E5554385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574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长期记忆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B78F6C-05B8-4944-869F-D2A9C45C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24250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3B6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67487E-A517-488B-9352-0621E94A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29050"/>
            <a:ext cx="3143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新对话可复用长期偏好与事实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支持查看、编辑、忘记与来源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记忆不能授予工具权限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0DDB89-83A8-45A1-8B48-B1FF503C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11163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032B85-90B9-4619-B901-CEC69C63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产品边界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95AF93-0462-412A-9CCC-A5D14E82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800725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当前以面向企业普通用户的个人版为主；组织级治理、SSO 与复杂私有化不作为 V1 已交付能力。</a:t>
            </a:r>
          </a:p>
        </p:txBody>
      </p:sp>
    </p:spTree>
    <p:extLst>
      <p:ext uri="{BB962C8B-B14F-4D97-AF65-F5344CB8AC3E}">
        <p14:creationId xmlns:p14="http://schemas.microsoft.com/office/powerpoint/2010/main" val="19189372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f0d26f6084b37"/>
          <a:stretch xmlns:a="http://schemas.openxmlformats.org/drawingml/2006/main"/>
        </p:blipFill>
        <p:spPr>
          <a:xfrm xmlns:a="http://schemas.openxmlformats.org/drawingml/2006/main">
            <a:off x="419100" y="240983"/>
            <a:ext cx="228600" cy="1943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7210D-81E3-47EB-B2EC-A663BB80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UWA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A861E-16B7-498C-8583-68210838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rPr>
              <a:t>产品宣讲 · 受控 Beta 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C05C2-36C4-4CD2-B9B2-2F48A7C8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D345E-C539-417C-9AAC-58B597AF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82F55-CB6D-41D0-82BA-3402905B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受控执行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59EEA-2FDE-4CB1-92CA-03036B92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真正去做事，但每一步都留在授权边界内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A9694-4574-447F-B263-B940A63F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7000875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7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85859099a4fb7"/>
          <a:srcRect xmlns:a="http://schemas.openxmlformats.org/drawingml/2006/main" l="0" t="7235" r="0" b="72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905000"/>
            <a:ext cx="6734175" cy="3819525"/>
          </a:xfrm>
          <a:prstGeom xmlns:a="http://schemas.openxmlformats.org/drawingml/2006/main" prst="roundRect">
            <a:avLst>
              <a:gd name="adj" fmla="val 299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4F8A3-C401-46CC-9D59-2D439F0E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0002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5BB04-0CF9-415C-B456-7A1473BD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193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UWA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54CAC-D667-43F9-B922-F4C3E0BD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71725"/>
            <a:ext cx="2286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62693-BD90-4EC5-9FA3-3CC661CE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09825"/>
            <a:ext cx="2143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675" b="0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添加、设置并管理 UWA 可以使用的工具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4D4AD-CCAD-43BE-8469-761CA2A8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47850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458CF5-AF5D-4737-A62E-38AB3CC5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526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在范围内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BEFD0-B1C0-42A3-B732-4454F14A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低风险、已授权动作自动执行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04D0C-FD63-4C51-A8C7-5EEA51AB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051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66AFE-F9E5-49BA-A998-E09ED20F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337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越界之前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EAF15E-19F7-4481-829C-E471A9B7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433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清楚说明读取、修改、网络与外部影响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D15455-C500-4777-B550-F36A6580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910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563712-EFC4-404D-9A38-C7B62E97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2917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随时掌控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8F1DD5-9A0C-4E59-8CCD-4C906DCA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387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用户可接管、拒绝、停止和继续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8A576B-A3BB-4EB1-BF1A-0F2DAC6B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436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9FB0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FB0C3"/>
                </a:solidFill>
                <a:latin typeface="Microsoft YaHei"/>
                <a:ea typeface="Microsoft YaHei"/>
                <a:cs typeface="Microsoft YaHei"/>
              </a:rPr>
              <a:t>浏览器已有 Windows / macOS 本机实测；完整后端与签名矩阵仍在发布门禁。</a:t>
            </a:r>
          </a:p>
        </p:txBody>
      </p:sp>
    </p:spTree>
    <p:extLst>
      <p:ext uri="{BB962C8B-B14F-4D97-AF65-F5344CB8AC3E}">
        <p14:creationId xmlns:p14="http://schemas.microsoft.com/office/powerpoint/2010/main" val="2291927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b553694b2430b"/>
          <a:stretch xmlns:a="http://schemas.openxmlformats.org/drawingml/2006/main"/>
        </p:blipFill>
        <p:spPr>
          <a:xfrm xmlns:a="http://schemas.openxmlformats.org/drawingml/2006/main">
            <a:off x="419100" y="240983"/>
            <a:ext cx="228600" cy="1943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5725D-544D-4FFF-9D8C-39F8E4BA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UWA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0C47F-34A7-4D82-B99C-3563D8A2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rPr>
              <a:t>产品宣讲 · 受控 Beta 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48AF8-41EB-432D-B2EC-ECDFBA52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C0542-2861-410F-A069-B87C4212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21B63-FC81-425E-A71C-B468C00B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安全与治理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E5927-43F9-4D74-8BD3-0A81EE9B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可信不是口号，而是可以被验证的边界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E62AB-E90E-4D3C-B53E-E03CB28C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E4450-051D-492C-94F2-FF511DC4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52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权限有范围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BC6572-0551-4ACF-BA23-DE47C308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81250"/>
            <a:ext cx="357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rPr>
              <a:t>文件夹、浏览器、Shell 按 Scope 控制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CCE3E-42F0-44B7-ADAB-460E2BED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241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7890C-6BE6-4493-83DE-D4E0A5EA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337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18FB1-7827-42D5-A7F1-0A0333E2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146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越界必确认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E310E-7BC8-4EC2-9798-6B384CB8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43300"/>
            <a:ext cx="357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rPr>
              <a:t>登录、提交、删除、购买逐次确认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8CC4F5-B239-4FA6-94CF-4906BF70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8622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B9FDA-2EEA-4A43-A4C5-3C84B4DC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EC43A0-DF25-44D3-8F53-4B5DF38D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767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结果可追溯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08328A-C081-452F-B615-894516BA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357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rPr>
              <a:t>来源、版本、运行记录可以审阅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27D3E7-2ACE-4350-9A9D-00F92C21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09750"/>
            <a:ext cx="645795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7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dfe0a114a4812"/>
          <a:srcRect xmlns:a="http://schemas.openxmlformats.org/drawingml/2006/main" l="0" t="3559" r="0" b="35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62575" y="1952625"/>
            <a:ext cx="6172200" cy="34290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7727A4-4223-4798-9381-593C9699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971675"/>
            <a:ext cx="5810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945E75-811B-4629-9256-FE67883F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81200"/>
            <a:ext cx="4191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6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UWA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3D763F-FB65-4593-8373-8F9C128F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667125"/>
            <a:ext cx="3667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1F6D65-A9B8-4C8E-A670-7B1E6295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86175"/>
            <a:ext cx="3524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488" b="0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8" b="0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2. 授权工作区：通过 UWA 的「授权工作区」授予访问权限。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FA780B-6162-417E-803A-5CC6369C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57875"/>
            <a:ext cx="11163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5BCC74-A7CB-45E6-8626-6EF4CEE4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没有授权，系统就不越界。</a:t>
            </a:r>
          </a:p>
        </p:txBody>
      </p:sp>
    </p:spTree>
    <p:extLst>
      <p:ext uri="{BB962C8B-B14F-4D97-AF65-F5344CB8AC3E}">
        <p14:creationId xmlns:p14="http://schemas.microsoft.com/office/powerpoint/2010/main" val="745031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a15de5176494c"/>
          <a:stretch xmlns:a="http://schemas.openxmlformats.org/drawingml/2006/main"/>
        </p:blipFill>
        <p:spPr>
          <a:xfrm xmlns:a="http://schemas.openxmlformats.org/drawingml/2006/main">
            <a:off x="419100" y="240983"/>
            <a:ext cx="228600" cy="1943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55477-1262-4AF0-B492-B0E48728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UWA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17F63-7A10-4C70-B8F5-A6FAE8EF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产品宣讲 · 受控 Beta 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533ED-89D0-4A23-80E0-AFF7B185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5522F-55FC-4BCC-83BB-147C85E0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37D59-CB8C-47AA-908B-E6D6CA81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跨设备协同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ED5F3-E587-4939-956B-EF836905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桌面负责执行，手机只负责随时掌控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4745E-C2AD-45DE-A8A8-FC8E81E3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能力留在可信执行主机，控制延伸到移动端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D109F-6189-4C23-8591-09C01042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914900" cy="2895600"/>
          </a:xfrm>
          <a:prstGeom xmlns:a="http://schemas.openxmlformats.org/drawingml/2006/main" prst="roundRect">
            <a:avLst>
              <a:gd name="adj" fmla="val 5921"/>
            </a:avLst>
          </a:prstGeom>
          <a:solidFill xmlns:a="http://schemas.openxmlformats.org/drawingml/2006/main">
            <a:srgbClr val="06182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CF441-B628-4CD8-9DD5-F8384C20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81200"/>
            <a:ext cx="2076450" cy="3333750"/>
          </a:xfrm>
          <a:prstGeom xmlns:a="http://schemas.openxmlformats.org/drawingml/2006/main" prst="roundRect">
            <a:avLst>
              <a:gd name="adj" fmla="val 1284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28575">
            <a:solidFill>
              <a:srgbClr val="0B27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600700" y="3600450"/>
            <a:ext cx="3257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70018"/>
            </a:solidFill>
            <a:prstDash val="solid"/>
            <a:headEnd type="arrow" w="med" len="med"/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12B4E-329A-4090-8333-E7C23935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6230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00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695C21-3719-48A4-80EE-5285886B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19450"/>
            <a:ext cx="1257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加密连接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主机在线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9405C-13E3-4B1F-A623-20CF6DF6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桌面执行主机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259519-FF57-4189-8F9A-FD8FC86E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rPr>
              <a:t>Windows / macOS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04F3C-1ABB-4A3B-88A0-DBC008FD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0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4502B6-77F1-4EEE-B3DD-6FB3A57F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D9E2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E2EC"/>
                </a:solidFill>
                <a:latin typeface="Microsoft YaHei"/>
                <a:ea typeface="Microsoft YaHei"/>
                <a:cs typeface="Microsoft YaHei"/>
              </a:rPr>
              <a:t>本地文件与工作区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EC6874-82FC-471D-B39F-71BAF1DA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F10990-AD89-40E6-8F49-01DED4B0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43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D9E2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E2EC"/>
                </a:solidFill>
                <a:latin typeface="Microsoft YaHei"/>
                <a:ea typeface="Microsoft YaHei"/>
                <a:cs typeface="Microsoft YaHei"/>
              </a:rPr>
              <a:t>浏览器、Shell 与工具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AD6838-FE49-4E84-A921-4E9732CD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0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ED537E-2AC9-4111-9EA3-BF22A7C0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577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D9E2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E2EC"/>
                </a:solidFill>
                <a:latin typeface="Microsoft YaHei"/>
                <a:ea typeface="Microsoft YaHei"/>
                <a:cs typeface="Microsoft YaHei"/>
              </a:rPr>
              <a:t>成果生成与保存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5C8C50-A7C4-49AA-9BDA-14DAC78C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171700"/>
            <a:ext cx="609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7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E4FEDC-325B-4979-A72B-CE339A2F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71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rPr>
              <a:t>移动控制面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6229E8-E580-4060-AC30-99E00D57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43250"/>
            <a:ext cx="158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Start  /  Steer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Queue  /  Stop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DB8F86-4E59-42E4-8EBB-9EC2D982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33850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EF1EC2-CB15-4C89-B927-23E9123C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81500"/>
            <a:ext cx="1581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审批 · 审阅 · 通知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2D952F-A64E-4CB6-B217-638357B1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248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0EBDB0-9B61-4BD5-9C20-8B27E7FF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边界：不在手机运行工具 · 不远程唤醒 · 主机离线时不代跑</a:t>
            </a:r>
          </a:p>
        </p:txBody>
      </p:sp>
    </p:spTree>
    <p:extLst>
      <p:ext uri="{BB962C8B-B14F-4D97-AF65-F5344CB8AC3E}">
        <p14:creationId xmlns:p14="http://schemas.microsoft.com/office/powerpoint/2010/main" val="647565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82edc78b3465f"/>
          <a:stretch xmlns:a="http://schemas.openxmlformats.org/drawingml/2006/main"/>
        </p:blipFill>
        <p:spPr>
          <a:xfrm xmlns:a="http://schemas.openxmlformats.org/drawingml/2006/main">
            <a:off x="419100" y="240983"/>
            <a:ext cx="228600" cy="1943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BA0A1-6BF2-47CB-BE56-77345CB5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UWA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A5DE9-9878-41EB-94F4-D26FF086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产品宣讲 · 受控 Beta 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63913-5197-4E89-970A-E5B09515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C50AE-0F63-400D-99A2-23DE57C1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96D0B-6757-4BA8-9615-CAE638E7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试点场景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65207-FC49-4931-890B-F9BA8BE0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先聚焦三类高频任务，让价值在一周内被看见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2F7D9-5BA5-400A-B246-FEDEDF7C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50289-8A83-4E44-9999-E7030441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材料与汇报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BA75B-C624-45EC-B0AA-BFC84175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3181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00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BB36A-AD75-46F4-A328-CF0F1DD3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3181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把制度、纪要、数据和模板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整理成摘要、报告与 PPT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AE81D-65CB-4316-898A-E703D7D8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3181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rPr>
              <a:t>从散乱材料到清晰汇报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A7A69-6107-4E87-ADC3-90297AB0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6690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460E2-C764-43D1-AD9E-E167B819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6690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E6E13-263C-4163-AF9D-92C9FE4F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574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数据与分析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0E9979-8914-4D33-85E2-5BCD47AC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48000"/>
            <a:ext cx="3181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A4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13B311-7E30-415E-9586-90FC2506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52800"/>
            <a:ext cx="3181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检查 Excel 异常、对比变化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生成分析表与可复核结论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D1A6AC-CD37-468A-A55A-AF88EA44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72000"/>
            <a:ext cx="3181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rPr>
              <a:t>从数据问题到决策依据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7C892C-CF08-4117-AE85-5F630921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6690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7BFDB-1399-4464-BFE0-18B47EA0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6690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C0E198-D5E5-415C-A4EF-A5BB451D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574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调研与执行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45C2C7-A3EE-47A4-AFE7-0A6716C6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48000"/>
            <a:ext cx="3181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001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E0C862-30EA-4769-8FF9-B41EE2CB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52800"/>
            <a:ext cx="3181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搜索资料、操作浏览器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执行重复步骤并留下来源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994E4B-0D59-483E-B678-7ABF2E79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181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rPr>
              <a:t>从查找信息到完成动作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E68784-DEB4-4292-9956-99799E3B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0070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DE38DF-BEFB-4583-8F4D-4648DE35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选用例的标准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771182-8BEB-4E3C-843D-3F65D2AB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34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高频  /  结果清晰  /  数据可控  /  人工可复核</a:t>
            </a:r>
          </a:p>
        </p:txBody>
      </p:sp>
    </p:spTree>
    <p:extLst>
      <p:ext uri="{BB962C8B-B14F-4D97-AF65-F5344CB8AC3E}">
        <p14:creationId xmlns:p14="http://schemas.microsoft.com/office/powerpoint/2010/main" val="12161058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9c0220fb746a4"/>
          <a:stretch xmlns:a="http://schemas.openxmlformats.org/drawingml/2006/main"/>
        </p:blipFill>
        <p:spPr>
          <a:xfrm xmlns:a="http://schemas.openxmlformats.org/drawingml/2006/main">
            <a:off x="419100" y="240983"/>
            <a:ext cx="228600" cy="1943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454DB-443D-49D5-A3B5-B9CF80C3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UWA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9C18F-EAB9-422D-91E8-7FD0A217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产品宣讲 · 受控 Beta 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74538-E155-4A60-9FBF-7D8B3A16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22998-F4E3-4A39-B543-4C98CBEC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28F17-AB5F-4EE4-93E6-AA209120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当前进展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B55EC-6A18-41AE-8D35-53A61207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能力成熟度清晰分层，受控 Beta 正是最佳切入点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20FA7-198B-4B70-B14A-9952FC7A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11633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FA0D5A-1854-4906-8C34-EC7D9326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143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D676F-F3F7-4643-87A2-054DCF6D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723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1D8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D8B66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8850D-5F6B-4718-B281-B61952CB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038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9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真实环境已验证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CF712-629D-4732-9075-6F14C048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0250"/>
            <a:ext cx="657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DeepSeek + 服务端计费首切片  ·  Office 四格式真实成果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Windows / macOS 浏览器本机实测  ·  Memory Golden + holdout 固定评测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B8D1A4-9987-4216-BE29-9FE45BC5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111633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3528A-C9F2-4FE1-AAA9-3A3807B6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1143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8B146-A160-4C72-B4FB-93CBB32C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723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2F6D6-8ED8-4302-885E-2A49774D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909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9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本地 Alpha / 实现检查点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41C9BB-EFD3-4A4D-8512-97E84CBB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52800"/>
            <a:ext cx="657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文件 Scope、引用与版本  ·  工具 / MCP / Skill 审批框架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Remote 加密控制面与 Start / Steer / Queue / Stop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4D439-6977-44A0-9FF0-69145ABD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111633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E77DAD-E88A-4486-855F-59806512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1143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E2FE3E-D3F7-4947-B4B3-9EFFC478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723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6502EC-1635-4D5D-A17E-A1BC3E00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43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9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发布门禁 / 路线图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8A3A30-58DF-4296-B16F-1344FC64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05350"/>
            <a:ext cx="6572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目标用户 Beta、真实支付与 Provider 对账  ·  Remote 真机与推送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签名、公证、商店、升级回滚  ·  跨平台性能、安全与隐私矩阵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FCD751-3A13-4F60-AF65-C72B98AF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6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不把本地检查点包装成全面发布，确保每一项承诺都能回到证据。</a:t>
            </a:r>
          </a:p>
        </p:txBody>
      </p:sp>
    </p:spTree>
    <p:extLst>
      <p:ext uri="{BB962C8B-B14F-4D97-AF65-F5344CB8AC3E}">
        <p14:creationId xmlns:p14="http://schemas.microsoft.com/office/powerpoint/2010/main" val="139331742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853d6a97a49c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4805F-C1F1-4DF3-8805-30236F98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69a95f642412e"/>
          <a:stretch xmlns:a="http://schemas.openxmlformats.org/drawingml/2006/main"/>
        </p:blipFill>
        <p:spPr>
          <a:xfrm xmlns:a="http://schemas.openxmlformats.org/drawingml/2006/main">
            <a:off x="590550" y="535781"/>
            <a:ext cx="285750" cy="24288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45B49-98BE-4050-B695-1E066EEF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UWA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F0684-1233-48E7-BCA0-56F7E9FF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14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建议下一步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27C26-1727-4132-A09C-B1FDA56C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 3 类真实任务，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开展 2 周受控 Beta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5F937-B53A-4FA5-80FD-10D57BF1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rPr>
              <a:t>用真实交付检验下一代个人生产力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FA540-D7A3-4ED4-B265-82A5EB91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8A658-942C-453B-BBCC-0FC39F59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 → 成果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B7D43-E4B5-4C78-9782-50AC6591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05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B8C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5D6"/>
                </a:solidFill>
                <a:latin typeface="Microsoft YaHei"/>
                <a:ea typeface="Microsoft YaHei"/>
                <a:cs typeface="Microsoft YaHei"/>
              </a:rPr>
              <a:t>业务材料生成摘要、分析表与汇报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83816-2DDB-4FD0-BEC4-E8257553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4F616B-1252-4C72-BC68-A31F8651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95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搜索 → 报告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AD7FE-0218-41B8-89A2-E612B306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914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B8C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5D6"/>
                </a:solidFill>
                <a:latin typeface="Microsoft YaHei"/>
                <a:ea typeface="Microsoft YaHei"/>
                <a:cs typeface="Microsoft YaHei"/>
              </a:rPr>
              <a:t>基于来源完成调研与可复核结论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642F7A-CCF1-416E-AB65-FD6900AF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F4EEEF-74EF-4738-A0D2-9632B204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05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长任务 → 监督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81B34-7855-4D29-8F7E-303E21EE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524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B8C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5D6"/>
                </a:solidFill>
                <a:latin typeface="Microsoft YaHei"/>
                <a:ea typeface="Microsoft YaHei"/>
                <a:cs typeface="Microsoft YaHei"/>
              </a:rPr>
              <a:t>桌面执行，移动端补充、审批与停止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B4625-26DC-47BF-9136-5A601DA7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A4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AC25C-36B6-4F6D-9ED5-E7F0D01C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2007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C7D1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1DD"/>
                </a:solidFill>
                <a:latin typeface="Microsoft YaHei"/>
                <a:ea typeface="Microsoft YaHei"/>
                <a:cs typeface="Microsoft YaHei"/>
              </a:rPr>
              <a:t>成功标准：交付质量 · 人工节省 · 权限合规 · 使用意愿</a:t>
            </a:r>
          </a:p>
        </p:txBody>
      </p:sp>
    </p:spTree>
    <p:extLst>
      <p:ext uri="{BB962C8B-B14F-4D97-AF65-F5344CB8AC3E}">
        <p14:creationId xmlns:p14="http://schemas.microsoft.com/office/powerpoint/2010/main" val="14444215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2026-09-01T06:12:16.2850000Z</dcterms:created>
  <dcterms:modified xsi:type="dcterms:W3CDTF">2026-09-01T06:12:16.2850000Z</dcterms:modified>
</coreProperties>
</file>