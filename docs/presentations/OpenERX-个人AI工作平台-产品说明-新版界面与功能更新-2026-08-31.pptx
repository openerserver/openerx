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65419cbb7e455a" /><Relationship Type="http://schemas.openxmlformats.org/officeDocument/2006/relationships/extended-properties" Target="/docProps/app.xml" Id="Ra7fa2bc8cb954bc7" /><Relationship Type="http://schemas.openxmlformats.org/officeDocument/2006/relationships/officeDocument" Target="/ppt/presentation.xml" Id="R63c223e9317242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f67bcc927841eb"/>
  </p:sldMasterIdLst>
  <p:notesMasterIdLst>
    <p:notesMasterId xmlns:r="http://schemas.openxmlformats.org/officeDocument/2006/relationships" r:id="Rcee8203546604807"/>
  </p:notesMasterIdLst>
  <p:sldIdLst>
    <p:sldId xmlns:r="http://schemas.openxmlformats.org/officeDocument/2006/relationships" id="256" r:id="R82996b94d6a7411d"/>
    <p:sldId xmlns:r="http://schemas.openxmlformats.org/officeDocument/2006/relationships" id="257" r:id="Rc0e0ba23699b4e61"/>
    <p:sldId xmlns:r="http://schemas.openxmlformats.org/officeDocument/2006/relationships" id="258" r:id="R7f2eb6fa152f499c"/>
    <p:sldId xmlns:r="http://schemas.openxmlformats.org/officeDocument/2006/relationships" id="259" r:id="Rdb7c50230c434bd8"/>
    <p:sldId xmlns:r="http://schemas.openxmlformats.org/officeDocument/2006/relationships" id="260" r:id="R0eb484eed21540d0"/>
    <p:sldId xmlns:r="http://schemas.openxmlformats.org/officeDocument/2006/relationships" id="261" r:id="Rebb92c5dc9034b6c"/>
    <p:sldId xmlns:r="http://schemas.openxmlformats.org/officeDocument/2006/relationships" id="262" r:id="R47257752889443f5"/>
    <p:sldId xmlns:r="http://schemas.openxmlformats.org/officeDocument/2006/relationships" id="263" r:id="Rf54a9b429daf4063"/>
    <p:sldId xmlns:r="http://schemas.openxmlformats.org/officeDocument/2006/relationships" id="264" r:id="R5cbfb2453a9b48bc"/>
    <p:sldId xmlns:r="http://schemas.openxmlformats.org/officeDocument/2006/relationships" id="265" r:id="R8fb7e308808a4da7"/>
    <p:sldId xmlns:r="http://schemas.openxmlformats.org/officeDocument/2006/relationships" id="266" r:id="Rd6177a4866cb4792"/>
    <p:sldId xmlns:r="http://schemas.openxmlformats.org/officeDocument/2006/relationships" id="267" r:id="Rc3b39072a5974e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b565410ca74387" /><Relationship Type="http://schemas.openxmlformats.org/officeDocument/2006/relationships/slideMaster" Target="/ppt/slideMasters/slideMaster1.xml" Id="Rc5f67bcc927841eb" /><Relationship Type="http://schemas.openxmlformats.org/officeDocument/2006/relationships/notesMaster" Target="/ppt/notesMasters/notesMaster1.xml" Id="Rcee8203546604807" /><Relationship Type="http://schemas.openxmlformats.org/officeDocument/2006/relationships/presProps" Target="/ppt/presProps.xml" Id="R4bbc0a834b2b42e8" /><Relationship Type="http://schemas.openxmlformats.org/officeDocument/2006/relationships/tableStyles" Target="/ppt/tableStyles.xml" Id="R4f12021419b2406d" /><Relationship Type="http://schemas.openxmlformats.org/officeDocument/2006/relationships/slide" Target="/ppt/slides/slide1.xml" Id="R82996b94d6a7411d" /><Relationship Type="http://schemas.openxmlformats.org/officeDocument/2006/relationships/slide" Target="/ppt/slides/slide2.xml" Id="Rc0e0ba23699b4e61" /><Relationship Type="http://schemas.openxmlformats.org/officeDocument/2006/relationships/slide" Target="/ppt/slides/slide3.xml" Id="R7f2eb6fa152f499c" /><Relationship Type="http://schemas.openxmlformats.org/officeDocument/2006/relationships/slide" Target="/ppt/slides/slide4.xml" Id="Rdb7c50230c434bd8" /><Relationship Type="http://schemas.openxmlformats.org/officeDocument/2006/relationships/slide" Target="/ppt/slides/slide5.xml" Id="R0eb484eed21540d0" /><Relationship Type="http://schemas.openxmlformats.org/officeDocument/2006/relationships/slide" Target="/ppt/slides/slide6.xml" Id="Rebb92c5dc9034b6c" /><Relationship Type="http://schemas.openxmlformats.org/officeDocument/2006/relationships/slide" Target="/ppt/slides/slide7.xml" Id="R47257752889443f5" /><Relationship Type="http://schemas.openxmlformats.org/officeDocument/2006/relationships/slide" Target="/ppt/slides/slide8.xml" Id="Rf54a9b429daf4063" /><Relationship Type="http://schemas.openxmlformats.org/officeDocument/2006/relationships/slide" Target="/ppt/slides/slide9.xml" Id="R5cbfb2453a9b48bc" /><Relationship Type="http://schemas.openxmlformats.org/officeDocument/2006/relationships/slide" Target="/ppt/slides/slide10.xml" Id="R8fb7e308808a4da7" /><Relationship Type="http://schemas.openxmlformats.org/officeDocument/2006/relationships/slide" Target="/ppt/slides/slide11.xml" Id="Rd6177a4866cb4792" /><Relationship Type="http://schemas.openxmlformats.org/officeDocument/2006/relationships/slide" Target="/ppt/slides/slide12.xml" Id="Rc3b39072a5974e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d2b01120bf4c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f9a8d5ce064627" /><Relationship Type="http://schemas.openxmlformats.org/officeDocument/2006/relationships/notesMaster" Target="/ppt/notesMasters/notesMaster1.xml" Id="R2d3bb77c42f146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d4bb5feb964935" /><Relationship Type="http://schemas.openxmlformats.org/officeDocument/2006/relationships/notesMaster" Target="/ppt/notesMasters/notesMaster1.xml" Id="R8ed46515e93945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8e0a4c9a4c4fb8" /><Relationship Type="http://schemas.openxmlformats.org/officeDocument/2006/relationships/notesMaster" Target="/ppt/notesMasters/notesMaster1.xml" Id="Rd4dac81ec29f4f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c1c59a34124b43" /><Relationship Type="http://schemas.openxmlformats.org/officeDocument/2006/relationships/notesMaster" Target="/ppt/notesMasters/notesMaster1.xml" Id="R4f3fc0d965874c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4937de68e247f3" /><Relationship Type="http://schemas.openxmlformats.org/officeDocument/2006/relationships/notesMaster" Target="/ppt/notesMasters/notesMaster1.xml" Id="Rad8926056fb542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1134e3c2f44f61" /><Relationship Type="http://schemas.openxmlformats.org/officeDocument/2006/relationships/notesMaster" Target="/ppt/notesMasters/notesMaster1.xml" Id="Rdebe8c92f38e46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adef4b74c94f63" /><Relationship Type="http://schemas.openxmlformats.org/officeDocument/2006/relationships/notesMaster" Target="/ppt/notesMasters/notesMaster1.xml" Id="Rc4c6b0dbc4eb47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f2f4d71ad44f20" /><Relationship Type="http://schemas.openxmlformats.org/officeDocument/2006/relationships/notesMaster" Target="/ppt/notesMasters/notesMaster1.xml" Id="Rabdde555466544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c7881e427c4273" /><Relationship Type="http://schemas.openxmlformats.org/officeDocument/2006/relationships/notesMaster" Target="/ppt/notesMasters/notesMaster1.xml" Id="R7cead4d337cc48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288bf8f2ce4ceb" /><Relationship Type="http://schemas.openxmlformats.org/officeDocument/2006/relationships/notesMaster" Target="/ppt/notesMasters/notesMaster1.xml" Id="Rcb40629331924b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07949f50624430" /><Relationship Type="http://schemas.openxmlformats.org/officeDocument/2006/relationships/notesMaster" Target="/ppt/notesMasters/notesMaster1.xml" Id="Ra5f89f2590724e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f94237f67f4afc" /><Relationship Type="http://schemas.openxmlformats.org/officeDocument/2006/relationships/notesMaster" Target="/ppt/notesMasters/notesMaster1.xml" Id="Rd7e664dd5a13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- /Users/wanglei/Downloads/phones-cloud/openerx/apps/desktop/src/renderer/AutomationsPage.tsx</a:t>
            </a:r>
          </a:p>
          <a:p xmlns:a="http://schemas.openxmlformats.org/drawingml/2006/main">
            <a:r>
              <a:t>- /Users/wanglei/Downloads/phones-cloud/openerx/docs/v2/23-codex-style-memory-plan.md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/Users/wanglei/Downloads/phones-cloud/openerx/docs/v2/23-codex-style-memory-plan.md</a:t>
            </a:r>
          </a:p>
          <a:p xmlns:a="http://schemas.openxmlformats.org/drawingml/2006/main">
            <a:r>
              <a:t>- /Users/wanglei/Downloads/phones-cloud/openerx/docs/v2/22-codex-style-automation-execution-plan.md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- /Users/wanglei/Downloads/phones-cloud/openerx/packages/app-service/src/automation-scheduler.ts</a:t>
            </a:r>
          </a:p>
          <a:p xmlns:a="http://schemas.openxmlformats.org/drawingml/2006/main">
            <a:r>
              <a:t>- /Users/wanglei/Downloads/phones-cloud/openerx/packages/storage/src/memory-repository.ts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- /Users/wanglei/Downloads/phones-cloud/openerx/apps/desktop/src/renderer/AutomationsPage.tsx</a:t>
            </a:r>
          </a:p>
          <a:p xmlns:a="http://schemas.openxmlformats.org/drawingml/2006/main">
            <a:r>
              <a:t>- /Users/wanglei/Downloads/phones-cloud/openerx/docs/v2/14-overall-architecture.md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local screenshot captured on 2026-08-31 from the current Electron renderer in an isolated test profile.</a:t>
            </a:r>
          </a:p>
          <a:p xmlns:a="http://schemas.openxmlformats.org/drawingml/2006/main">
            <a:r>
              <a:t>- /Users/wanglei/Downloads/phones-cloud/openerx/.codex-tmp/openerx-personal-deck-new-ui-20260831/ui-captures/01-home.png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- /Users/wanglei/Downloads/phones-cloud/openerx/packages/file-service/src/file-service.ts</a:t>
            </a:r>
          </a:p>
          <a:p xmlns:a="http://schemas.openxmlformats.org/drawingml/2006/main">
            <a:r>
              <a:t>- /Users/wanglei/Downloads/phones-cloud/openerx/packages/storage/src/file-repository.ts</a:t>
            </a:r>
          </a:p>
          <a:p xmlns:a="http://schemas.openxmlformats.org/drawingml/2006/main">
            <a:r>
              <a:t>- /Users/wanglei/Downloads/phones-cloud/openerx/apps/desktop/tests/chat-ui.test.tsx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- /Users/wanglei/Downloads/phones-cloud/openerx/apps/desktop/scripts/e2e-tools.mjs</a:t>
            </a:r>
          </a:p>
          <a:p xmlns:a="http://schemas.openxmlformats.org/drawingml/2006/main">
            <a:r>
              <a:t>- /Users/wanglei/Downloads/phones-cloud/openerx/docs/v2/17-browser-computer-use-plan.md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/Users/wanglei/Downloads/phones-cloud/openerx/docs/v2/22-codex-style-automation-execution-plan.md</a:t>
            </a:r>
          </a:p>
          <a:p xmlns:a="http://schemas.openxmlformats.org/drawingml/2006/main">
            <a:r>
              <a:t>- /Users/wanglei/Downloads/phones-cloud/openerx/docs/v2/23-codex-style-memory-plan.md</a:t>
            </a:r>
          </a:p>
          <a:p xmlns:a="http://schemas.openxmlformats.org/drawingml/2006/main">
            <a:r>
              <a:t>- /Users/wanglei/Downloads/phones-cloud/openerx/packages/app-service/src/automation-scheduler.ts</a:t>
            </a:r>
          </a:p>
          <a:p xmlns:a="http://schemas.openxmlformats.org/drawingml/2006/main">
            <a:r>
              <a:t>- /Users/wanglei/Downloads/phones-cloud/openerx/packages/app-service/src/memory-consolidation-scheduler.ts</a:t>
            </a:r>
          </a:p>
          <a:p xmlns:a="http://schemas.openxmlformats.org/drawingml/2006/main">
            <a:r>
              <a:t>- /Users/wanglei/Downloads/phones-cloud/openerx/apps/desktop/src/renderer/AutomationsPage.tsx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/Users/wanglei/Downloads/phones-cloud/openerx/docs/v2/15-remote-control-contract.md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- /Users/wanglei/Downloads/phones-cloud/openerx/apps/desktop/src/renderer/AutomationsPage.tsx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- /Users/wanglei/Downloads/phones-cloud/openerx/apps/desktop/src/renderer/AutomationsPage.tsx</a:t>
            </a:r>
          </a:p>
          <a:p xmlns:a="http://schemas.openxmlformats.org/drawingml/2006/main">
            <a:r>
              <a:t>- /Users/wanglei/Downloads/phones-cloud/openerx/docs/v2/16-codex-aligned-implementation-assessment.md</a:t>
            </a:r>
          </a:p>
          <a:p xmlns:a="http://schemas.openxmlformats.org/drawingml/2006/main">
            <a:r>
              <a:t>- /Users/wanglei/Downloads/phones-cloud/openerx/.codex-tmp/openerx-personal-deck-new-ui-20260831/source-notes.txt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1755d67404c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0a1265256e42eb" /><Relationship Type="http://schemas.openxmlformats.org/officeDocument/2006/relationships/slideLayout" Target="/ppt/slideLayouts/slideLayout1.xml" Id="R353409c5d36347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3409c5d36347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4a8dfa3f04876" /><Relationship Type="http://schemas.openxmlformats.org/officeDocument/2006/relationships/image" Target="/ppt/media/image.png" Id="Rbe155b38888d4bbf" /><Relationship Type="http://schemas.openxmlformats.org/officeDocument/2006/relationships/notesSlide" Target="/ppt/notesSlides/notesSlide1.xml" Id="Rfc076236635e45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fbfe551cd48cc" /><Relationship Type="http://schemas.openxmlformats.org/officeDocument/2006/relationships/notesSlide" Target="/ppt/notesSlides/notesSlide2.xml" Id="R2dc352d3e18b40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edbd6c3e24999" /><Relationship Type="http://schemas.openxmlformats.org/officeDocument/2006/relationships/notesSlide" Target="/ppt/notesSlides/notesSlide3.xml" Id="Rc53d565aceec47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9461a18b2425a" /><Relationship Type="http://schemas.openxmlformats.org/officeDocument/2006/relationships/notesSlide" Target="/ppt/notesSlides/notesSlide4.xml" Id="R7f936529633147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5404945534a19" /><Relationship Type="http://schemas.openxmlformats.org/officeDocument/2006/relationships/image" Target="/ppt/media/image2.png" Id="R7a74aa7c3cd44656" /><Relationship Type="http://schemas.openxmlformats.org/officeDocument/2006/relationships/notesSlide" Target="/ppt/notesSlides/notesSlide5.xml" Id="R799b9da6b8e94e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96ceac0524a5f" /><Relationship Type="http://schemas.openxmlformats.org/officeDocument/2006/relationships/notesSlide" Target="/ppt/notesSlides/notesSlide6.xml" Id="R87f43517754544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3c5cf030d4977" /><Relationship Type="http://schemas.openxmlformats.org/officeDocument/2006/relationships/notesSlide" Target="/ppt/notesSlides/notesSlide7.xml" Id="R8e0f136431054e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d32ab99a8474f" /><Relationship Type="http://schemas.openxmlformats.org/officeDocument/2006/relationships/notesSlide" Target="/ppt/notesSlides/notesSlide8.xml" Id="Red3e31c7e86a45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9d3aa432242c7" /><Relationship Type="http://schemas.openxmlformats.org/officeDocument/2006/relationships/notesSlide" Target="/ppt/notesSlides/notesSlide9.xml" Id="Ra444cfb2c3c44e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efe1db0bc4abc" /><Relationship Type="http://schemas.openxmlformats.org/officeDocument/2006/relationships/notesSlide" Target="/ppt/notesSlides/notesSlide10.xml" Id="R7dae99e629dd47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513b3620e474b" /><Relationship Type="http://schemas.openxmlformats.org/officeDocument/2006/relationships/notesSlide" Target="/ppt/notesSlides/notesSlide11.xml" Id="R4930c27565ab47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1a183437a410e" /><Relationship Type="http://schemas.openxmlformats.org/officeDocument/2006/relationships/image" Target="/ppt/media/image3.png" Id="R9afb4fdba8d74db9" /><Relationship Type="http://schemas.openxmlformats.org/officeDocument/2006/relationships/notesSlide" Target="/ppt/notesSlides/notesSlide12.xml" Id="R29691961bb734a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55b38888d4bbf"/>
          <a:stretch xmlns:a="http://schemas.openxmlformats.org/drawingml/2006/main"/>
        </p:blipFill>
        <p:spPr>
          <a:xfrm xmlns:a="http://schemas.openxmlformats.org/drawingml/2006/main">
            <a:off x="533400" y="431483"/>
            <a:ext cx="419100" cy="356235"/>
          </a:xfrm>
          <a:prstGeom xmlns:a="http://schemas.openxmlformats.org/drawingml/2006/main" prst="rect">
            <a:avLst/>
          </a:prstGeom>
        </p:spPr>
      </p:pic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0A0847EB-F3BA-4302-9DEB-D9FB7EC4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3531E4D3-F342-4300-B2D4-B9985FD1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产品说明 · 2026.08.31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E14B95A3-EAB3-4A9D-94D6-8AAB738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ule-accent">
            <a:extLst xmlns:a="http://schemas.openxmlformats.org/drawingml/2006/main">
              <a:ext uri="{FF2B5EF4-FFF2-40B4-BE49-F238E27FC236}">
                <a16:creationId xmlns:a16="http://schemas.microsoft.com/office/drawing/2014/main" id="{8BFC5FEB-2A5F-4420-8FB0-B5A1E25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open-erx">
            <a:extLst xmlns:a="http://schemas.openxmlformats.org/drawingml/2006/main">
              <a:ext uri="{FF2B5EF4-FFF2-40B4-BE49-F238E27FC236}">
                <a16:creationId xmlns:a16="http://schemas.microsoft.com/office/drawing/2014/main" id="{EF9FF1B6-9B6A-43F8-B180-9C676678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BB19BB-0FDB-451C-8125-7FAE8CA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个人 AI 工作平台</a:t>
            </a:r>
          </a:p>
        </p:txBody>
      </p:sp>
      <p:sp>
        <p:nvSpPr>
          <p:cNvPr id="8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38180EE3-9CDE-4A19-93B1-2133FE69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让 AI 在你的授权下处理文件、调用工具、记住背景并按计划继续工作。</a:t>
            </a:r>
          </a:p>
        </p:txBody>
      </p:sp>
      <p:sp>
        <p:nvSpPr>
          <p:cNvPr id="9" name="cover-capabilities">
            <a:extLst xmlns:a="http://schemas.openxmlformats.org/drawingml/2006/main">
              <a:ext uri="{FF2B5EF4-FFF2-40B4-BE49-F238E27FC236}">
                <a16:creationId xmlns:a16="http://schemas.microsoft.com/office/drawing/2014/main" id="{38858BD5-45F8-43A4-A047-82D74A08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对话   ·   文件   ·   工具   ·   记忆   ·   自动化   ·   成果</a:t>
            </a:r>
          </a:p>
        </p:txBody>
      </p:sp>
      <p:sp>
        <p:nvSpPr>
          <p:cNvPr id="10" name="cover-page">
            <a:extLst xmlns:a="http://schemas.openxmlformats.org/drawingml/2006/main">
              <a:ext uri="{FF2B5EF4-FFF2-40B4-BE49-F238E27FC236}">
                <a16:creationId xmlns:a16="http://schemas.microsoft.com/office/drawing/2014/main" id="{E6900D64-9F46-4440-A3AC-F1FE576A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4902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7C1B07D0-E94A-40ED-A96C-E2BEF01E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普通 AI 会回答，但持续工作还要自己接力</a:t>
            </a:r>
          </a:p>
        </p:txBody>
      </p:sp>
      <p:sp>
        <p:nvSpPr>
          <p:cNvPr id="2" name="accent-rule-2">
            <a:extLst xmlns:a="http://schemas.openxmlformats.org/drawingml/2006/main">
              <a:ext uri="{FF2B5EF4-FFF2-40B4-BE49-F238E27FC236}">
                <a16:creationId xmlns:a16="http://schemas.microsoft.com/office/drawing/2014/main" id="{DDC1F6F3-04C4-4141-829A-08AA6A67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2">
            <a:extLst xmlns:a="http://schemas.openxmlformats.org/drawingml/2006/main">
              <a:ext uri="{FF2B5EF4-FFF2-40B4-BE49-F238E27FC236}">
                <a16:creationId xmlns:a16="http://schemas.microsoft.com/office/drawing/2014/main" id="{B0B39ADA-8675-4210-87DE-F9E683B5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材料分散、背景反复说明、重复任务靠人提醒，成果也难持续复用。</a:t>
            </a:r>
          </a:p>
        </p:txBody>
      </p:sp>
      <p:sp>
        <p:nvSpPr>
          <p:cNvPr id="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EA42AE49-01F5-4635-8A29-B7A86F79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6BE150B5-CC27-4DF3-9994-CD459C15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problem-sep-1">
            <a:extLst xmlns:a="http://schemas.openxmlformats.org/drawingml/2006/main">
              <a:ext uri="{FF2B5EF4-FFF2-40B4-BE49-F238E27FC236}">
                <a16:creationId xmlns:a16="http://schemas.microsoft.com/office/drawing/2014/main" id="{2D65C514-EC58-4871-8730-BD993212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85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sep-2">
            <a:extLst xmlns:a="http://schemas.openxmlformats.org/drawingml/2006/main">
              <a:ext uri="{FF2B5EF4-FFF2-40B4-BE49-F238E27FC236}">
                <a16:creationId xmlns:a16="http://schemas.microsoft.com/office/drawing/2014/main" id="{E008A45C-BBD3-4D35-94EF-627BFFC1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1-number">
            <a:extLst xmlns:a="http://schemas.openxmlformats.org/drawingml/2006/main">
              <a:ext uri="{FF2B5EF4-FFF2-40B4-BE49-F238E27FC236}">
                <a16:creationId xmlns:a16="http://schemas.microsoft.com/office/drawing/2014/main" id="{9D7F0D1E-6A8C-4C55-9022-5C5F533C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problem-1-heading">
            <a:extLst xmlns:a="http://schemas.openxmlformats.org/drawingml/2006/main">
              <a:ext uri="{FF2B5EF4-FFF2-40B4-BE49-F238E27FC236}">
                <a16:creationId xmlns:a16="http://schemas.microsoft.com/office/drawing/2014/main" id="{32092C96-8D8C-49C6-A48C-B7910AB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背景反复</a:t>
            </a:r>
          </a:p>
        </p:txBody>
      </p:sp>
      <p:sp>
        <p:nvSpPr>
          <p:cNvPr id="10" name="problem-1-body">
            <a:extLst xmlns:a="http://schemas.openxmlformats.org/drawingml/2006/main">
              <a:ext uri="{FF2B5EF4-FFF2-40B4-BE49-F238E27FC236}">
                <a16:creationId xmlns:a16="http://schemas.microsoft.com/office/drawing/2014/main" id="{148FAC08-0CE9-4D13-ABC5-CD8791E1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文件、对话和历史分开，下一次还得重新解释上下文。</a:t>
            </a:r>
          </a:p>
        </p:txBody>
      </p:sp>
      <p:sp>
        <p:nvSpPr>
          <p:cNvPr id="11" name="problem-2-number">
            <a:extLst xmlns:a="http://schemas.openxmlformats.org/drawingml/2006/main">
              <a:ext uri="{FF2B5EF4-FFF2-40B4-BE49-F238E27FC236}">
                <a16:creationId xmlns:a16="http://schemas.microsoft.com/office/drawing/2014/main" id="{4C612EDE-3B69-49E5-BF83-FAFD25C0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problem-2-heading">
            <a:extLst xmlns:a="http://schemas.openxmlformats.org/drawingml/2006/main">
              <a:ext uri="{FF2B5EF4-FFF2-40B4-BE49-F238E27FC236}">
                <a16:creationId xmlns:a16="http://schemas.microsoft.com/office/drawing/2014/main" id="{C348970F-A3D7-46BA-B8E0-9F3623C7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重复接力</a:t>
            </a:r>
          </a:p>
        </p:txBody>
      </p:sp>
      <p:sp>
        <p:nvSpPr>
          <p:cNvPr id="13" name="problem-2-body">
            <a:extLst xmlns:a="http://schemas.openxmlformats.org/drawingml/2006/main">
              <a:ext uri="{FF2B5EF4-FFF2-40B4-BE49-F238E27FC236}">
                <a16:creationId xmlns:a16="http://schemas.microsoft.com/office/drawing/2014/main" id="{3CFA868F-ED75-4E2E-81E7-E561DE99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定时检查、日报和资料整理，仍要自己记住时间并切换工具。</a:t>
            </a:r>
          </a:p>
        </p:txBody>
      </p:sp>
      <p:sp>
        <p:nvSpPr>
          <p:cNvPr id="14" name="problem-3-number">
            <a:extLst xmlns:a="http://schemas.openxmlformats.org/drawingml/2006/main">
              <a:ext uri="{FF2B5EF4-FFF2-40B4-BE49-F238E27FC236}">
                <a16:creationId xmlns:a16="http://schemas.microsoft.com/office/drawing/2014/main" id="{45FFD0BE-7B56-4EA5-8313-2955544A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problem-3-heading">
            <a:extLst xmlns:a="http://schemas.openxmlformats.org/drawingml/2006/main">
              <a:ext uri="{FF2B5EF4-FFF2-40B4-BE49-F238E27FC236}">
                <a16:creationId xmlns:a16="http://schemas.microsoft.com/office/drawing/2014/main" id="{CD767033-6B86-4C75-9CB0-8A1FFAF0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成果难续</a:t>
            </a:r>
          </a:p>
        </p:txBody>
      </p:sp>
      <p:sp>
        <p:nvSpPr>
          <p:cNvPr id="16" name="problem-3-body">
            <a:extLst xmlns:a="http://schemas.openxmlformats.org/drawingml/2006/main">
              <a:ext uri="{FF2B5EF4-FFF2-40B4-BE49-F238E27FC236}">
                <a16:creationId xmlns:a16="http://schemas.microsoft.com/office/drawing/2014/main" id="{FE768F52-BA6B-4BD8-BF8A-9946C527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答案留在聊天里，缺少可预览、可版本化、可继续修改的成果。</a:t>
            </a:r>
          </a:p>
        </p:txBody>
      </p:sp>
      <p:sp>
        <p:nvSpPr>
          <p:cNvPr id="17" name="problem-bottom-band">
            <a:extLst xmlns:a="http://schemas.openxmlformats.org/drawingml/2006/main">
              <a:ext uri="{FF2B5EF4-FFF2-40B4-BE49-F238E27FC236}">
                <a16:creationId xmlns:a16="http://schemas.microsoft.com/office/drawing/2014/main" id="{3841BFAD-5877-40C8-935B-0F7DB1BF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bottom-copy">
            <a:extLst xmlns:a="http://schemas.openxmlformats.org/drawingml/2006/main">
              <a:ext uri="{FF2B5EF4-FFF2-40B4-BE49-F238E27FC236}">
                <a16:creationId xmlns:a16="http://schemas.microsoft.com/office/drawing/2014/main" id="{6BB696BD-FD7B-47B9-A924-A762A222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OpenERX 把背景、工具、计划和成果放回同一个个人工作区。</a:t>
            </a:r>
          </a:p>
        </p:txBody>
      </p:sp>
    </p:spTree>
    <p:extLst>
      <p:ext uri="{BB962C8B-B14F-4D97-AF65-F5344CB8AC3E}">
        <p14:creationId xmlns:p14="http://schemas.microsoft.com/office/powerpoint/2010/main" val="173593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7DCCE31B-BF04-49EE-AE20-CAA1A3BA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说清目标，执行、留存和跟进都在同一处</a:t>
            </a:r>
          </a:p>
        </p:txBody>
      </p:sp>
      <p:sp>
        <p:nvSpPr>
          <p:cNvPr id="2" name="accent-rule-3">
            <a:extLst xmlns:a="http://schemas.openxmlformats.org/drawingml/2006/main">
              <a:ext uri="{FF2B5EF4-FFF2-40B4-BE49-F238E27FC236}">
                <a16:creationId xmlns:a16="http://schemas.microsoft.com/office/drawing/2014/main" id="{26CF1C83-3352-4072-8027-D12665E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3">
            <a:extLst xmlns:a="http://schemas.openxmlformats.org/drawingml/2006/main">
              <a:ext uri="{FF2B5EF4-FFF2-40B4-BE49-F238E27FC236}">
                <a16:creationId xmlns:a16="http://schemas.microsoft.com/office/drawing/2014/main" id="{DF57EB9E-2D71-4057-8208-D05C7A50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从一句话或一个计划开始，OpenERX 在你允许的范围内继续处理。</a:t>
            </a:r>
          </a:p>
        </p:txBody>
      </p:sp>
      <p:sp>
        <p:nvSpPr>
          <p:cNvPr id="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68E46532-32E0-4740-8B44-2080EAAC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D4A7076B-576A-4D38-B679-05C7A23C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0020A568-65D1-425F-BCAB-153D97E2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4DEA3807-FE0E-44E3-AA7E-1C4997F3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9E93B1FF-94A0-4FD1-B5A2-CD7A9B71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AC98CE6C-0CC3-489F-8252-169204E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kflow-label-56">
            <a:extLst xmlns:a="http://schemas.openxmlformats.org/drawingml/2006/main">
              <a:ext uri="{FF2B5EF4-FFF2-40B4-BE49-F238E27FC236}">
                <a16:creationId xmlns:a16="http://schemas.microsoft.com/office/drawing/2014/main" id="{D92481A5-56E9-49CF-9268-A7408AEE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01 · 说明目标</a:t>
            </a:r>
          </a:p>
        </p:txBody>
      </p:sp>
      <p:sp>
        <p:nvSpPr>
          <p:cNvPr id="11" name="workflow-title-56">
            <a:extLst xmlns:a="http://schemas.openxmlformats.org/drawingml/2006/main">
              <a:ext uri="{FF2B5EF4-FFF2-40B4-BE49-F238E27FC236}">
                <a16:creationId xmlns:a16="http://schemas.microsoft.com/office/drawing/2014/main" id="{626A2741-CEE0-4C5A-8329-618B13DA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像聊天一样开始</a:t>
            </a:r>
          </a:p>
        </p:txBody>
      </p:sp>
      <p:sp>
        <p:nvSpPr>
          <p:cNvPr id="12" name="workflow-body-56">
            <a:extLst xmlns:a="http://schemas.openxmlformats.org/drawingml/2006/main">
              <a:ext uri="{FF2B5EF4-FFF2-40B4-BE49-F238E27FC236}">
                <a16:creationId xmlns:a16="http://schemas.microsoft.com/office/drawing/2014/main" id="{A7514D4A-6FA7-48D4-BBC4-F4BF31D8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描述任务，添加文件或授权工作区。</a:t>
            </a:r>
          </a:p>
        </p:txBody>
      </p:sp>
      <p:sp>
        <p:nvSpPr>
          <p:cNvPr id="13" name="workflow-label-464">
            <a:extLst xmlns:a="http://schemas.openxmlformats.org/drawingml/2006/main">
              <a:ext uri="{FF2B5EF4-FFF2-40B4-BE49-F238E27FC236}">
                <a16:creationId xmlns:a16="http://schemas.microsoft.com/office/drawing/2014/main" id="{61E7A5EF-6924-4D94-95CD-0D01D11F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02 · 执行与确认</a:t>
            </a:r>
          </a:p>
        </p:txBody>
      </p:sp>
      <p:sp>
        <p:nvSpPr>
          <p:cNvPr id="14" name="workflow-title-464">
            <a:extLst xmlns:a="http://schemas.openxmlformats.org/drawingml/2006/main">
              <a:ext uri="{FF2B5EF4-FFF2-40B4-BE49-F238E27FC236}">
                <a16:creationId xmlns:a16="http://schemas.microsoft.com/office/drawing/2014/main" id="{0A6EA3EE-2210-41CA-85AB-CE2348B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需要时调用工具</a:t>
            </a:r>
          </a:p>
        </p:txBody>
      </p:sp>
      <p:sp>
        <p:nvSpPr>
          <p:cNvPr id="15" name="workflow-body-464">
            <a:extLst xmlns:a="http://schemas.openxmlformats.org/drawingml/2006/main">
              <a:ext uri="{FF2B5EF4-FFF2-40B4-BE49-F238E27FC236}">
                <a16:creationId xmlns:a16="http://schemas.microsoft.com/office/drawing/2014/main" id="{78C6EF90-3FB2-4DF7-BAFE-702B3548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读取文件、操作浏览器、运行命令；高风险步骤先请你确认。</a:t>
            </a:r>
          </a:p>
        </p:txBody>
      </p:sp>
      <p:sp>
        <p:nvSpPr>
          <p:cNvPr id="16" name="workflow-label-872">
            <a:extLst xmlns:a="http://schemas.openxmlformats.org/drawingml/2006/main">
              <a:ext uri="{FF2B5EF4-FFF2-40B4-BE49-F238E27FC236}">
                <a16:creationId xmlns:a16="http://schemas.microsoft.com/office/drawing/2014/main" id="{4A565C65-CDA8-4C5B-B826-D9F0572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03 · 留存与继续</a:t>
            </a:r>
          </a:p>
        </p:txBody>
      </p:sp>
      <p:sp>
        <p:nvSpPr>
          <p:cNvPr id="17" name="workflow-title-872">
            <a:extLst xmlns:a="http://schemas.openxmlformats.org/drawingml/2006/main">
              <a:ext uri="{FF2B5EF4-FFF2-40B4-BE49-F238E27FC236}">
                <a16:creationId xmlns:a16="http://schemas.microsoft.com/office/drawing/2014/main" id="{D87CBDC7-71E8-4740-A55A-D5EC6965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成果和记忆回到任务</a:t>
            </a:r>
          </a:p>
        </p:txBody>
      </p:sp>
      <p:sp>
        <p:nvSpPr>
          <p:cNvPr id="18" name="workflow-body-872">
            <a:extLst xmlns:a="http://schemas.openxmlformats.org/drawingml/2006/main">
              <a:ext uri="{FF2B5EF4-FFF2-40B4-BE49-F238E27FC236}">
                <a16:creationId xmlns:a16="http://schemas.microsoft.com/office/drawing/2014/main" id="{4B1CBD29-D110-4260-85C0-DADC3CFD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文件、预览、版本、运行记录和可用记忆都能继续查看。</a:t>
            </a:r>
          </a:p>
        </p:txBody>
      </p:sp>
      <p:sp>
        <p:nvSpPr>
          <p:cNvPr id="19" name="workflow-close">
            <a:extLst xmlns:a="http://schemas.openxmlformats.org/drawingml/2006/main">
              <a:ext uri="{FF2B5EF4-FFF2-40B4-BE49-F238E27FC236}">
                <a16:creationId xmlns:a16="http://schemas.microsoft.com/office/drawing/2014/main" id="{284BF645-B36A-48C5-AAFA-9BDD949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一次任务的背景、过程、成果和后续计划，不再散落在多个窗口。</a:t>
            </a:r>
          </a:p>
        </p:txBody>
      </p:sp>
    </p:spTree>
    <p:extLst>
      <p:ext uri="{BB962C8B-B14F-4D97-AF65-F5344CB8AC3E}">
        <p14:creationId xmlns:p14="http://schemas.microsoft.com/office/powerpoint/2010/main" val="1350997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FDCEC48B-ACCA-49BF-8AE1-99158E4E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新版桌面把任务、资料、工具和跟进收在一起</a:t>
            </a:r>
          </a:p>
        </p:txBody>
      </p:sp>
      <p:sp>
        <p:nvSpPr>
          <p:cNvPr id="2" name="accent-rule-4">
            <a:extLst xmlns:a="http://schemas.openxmlformats.org/drawingml/2006/main">
              <a:ext uri="{FF2B5EF4-FFF2-40B4-BE49-F238E27FC236}">
                <a16:creationId xmlns:a16="http://schemas.microsoft.com/office/drawing/2014/main" id="{4C1C4116-ECAC-4E68-AC19-3D3D7882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4">
            <a:extLst xmlns:a="http://schemas.openxmlformats.org/drawingml/2006/main">
              <a:ext uri="{FF2B5EF4-FFF2-40B4-BE49-F238E27FC236}">
                <a16:creationId xmlns:a16="http://schemas.microsoft.com/office/drawing/2014/main" id="{56A18A6D-BA1A-4FCE-A845-034A2A3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左侧高频入口负责切换，具体配置集中在设置中。</a:t>
            </a:r>
          </a:p>
        </p:txBody>
      </p:sp>
      <p:sp>
        <p:nvSpPr>
          <p:cNvPr id="4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13E38EBA-10EA-4E40-AEE6-3E673763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F9C5220D-8CB1-4232-BFBE-30981A5E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9B0EAE43-5A0B-4395-B719-2DB58755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5742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480351C8-0FE2-4539-A8C5-DBD05BAC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5277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E9F32DC3-136C-4E77-8B1C-AF863924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4812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itecture-band-0">
            <a:extLst xmlns:a="http://schemas.openxmlformats.org/drawingml/2006/main">
              <a:ext uri="{FF2B5EF4-FFF2-40B4-BE49-F238E27FC236}">
                <a16:creationId xmlns:a16="http://schemas.microsoft.com/office/drawing/2014/main" id="{EF3603EF-7CE8-4739-8B4D-E8785B3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0" name="architecture-label-0">
            <a:extLst xmlns:a="http://schemas.openxmlformats.org/drawingml/2006/main">
              <a:ext uri="{FF2B5EF4-FFF2-40B4-BE49-F238E27FC236}">
                <a16:creationId xmlns:a16="http://schemas.microsoft.com/office/drawing/2014/main" id="{58EFAF7B-38BD-453B-AB8F-FA09C303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桌面工作区</a:t>
            </a:r>
          </a:p>
        </p:txBody>
      </p:sp>
      <p:sp>
        <p:nvSpPr>
          <p:cNvPr id="11" name="architecture-content-0">
            <a:extLst xmlns:a="http://schemas.openxmlformats.org/drawingml/2006/main">
              <a:ext uri="{FF2B5EF4-FFF2-40B4-BE49-F238E27FC236}">
                <a16:creationId xmlns:a16="http://schemas.microsoft.com/office/drawing/2014/main" id="{4DE3186D-7662-4FEA-AE26-F259FBE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049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新任务   ·   搜索   ·   个人文件   ·   自动化   ·   助手与 Skill   ·   设置</a:t>
            </a:r>
          </a:p>
        </p:txBody>
      </p:sp>
      <p:sp>
        <p:nvSpPr>
          <p:cNvPr id="12" name="architecture-band-1">
            <a:extLst xmlns:a="http://schemas.openxmlformats.org/drawingml/2006/main">
              <a:ext uri="{FF2B5EF4-FFF2-40B4-BE49-F238E27FC236}">
                <a16:creationId xmlns:a16="http://schemas.microsoft.com/office/drawing/2014/main" id="{A68EDAD7-31AA-40F8-B8BD-12EDBAB4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3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82D4DAD8-04C5-42E0-AFFA-E41B8FFE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任务与资料</a:t>
            </a:r>
          </a:p>
        </p:txBody>
      </p:sp>
      <p:sp>
        <p:nvSpPr>
          <p:cNvPr id="14" name="architecture-content-1">
            <a:extLst xmlns:a="http://schemas.openxmlformats.org/drawingml/2006/main">
              <a:ext uri="{FF2B5EF4-FFF2-40B4-BE49-F238E27FC236}">
                <a16:creationId xmlns:a16="http://schemas.microsoft.com/office/drawing/2014/main" id="{50B2B439-A211-448A-9347-9B0717C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03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对话与分支   ·   历史搜索   ·   文件按对话分组   ·   成果预览与版本</a:t>
            </a:r>
          </a:p>
        </p:txBody>
      </p:sp>
      <p:sp>
        <p:nvSpPr>
          <p:cNvPr id="15" name="architecture-band-2">
            <a:extLst xmlns:a="http://schemas.openxmlformats.org/drawingml/2006/main">
              <a:ext uri="{FF2B5EF4-FFF2-40B4-BE49-F238E27FC236}">
                <a16:creationId xmlns:a16="http://schemas.microsoft.com/office/drawing/2014/main" id="{34086989-B083-4FF4-85BC-CB007935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6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21D12A9E-F9DB-42A9-BC26-98EB5D4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工具能力</a:t>
            </a:r>
          </a:p>
        </p:txBody>
      </p:sp>
      <p:sp>
        <p:nvSpPr>
          <p:cNvPr id="17" name="architecture-content-2">
            <a:extLst xmlns:a="http://schemas.openxmlformats.org/drawingml/2006/main">
              <a:ext uri="{FF2B5EF4-FFF2-40B4-BE49-F238E27FC236}">
                <a16:creationId xmlns:a16="http://schemas.microsoft.com/office/drawing/2014/main" id="{E849B26F-1C92-4608-A332-D6E59D01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956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本地搜索   ·   浏览器   ·   文件   ·   终端   ·   桌面控制   ·   MCP</a:t>
            </a:r>
          </a:p>
        </p:txBody>
      </p:sp>
      <p:sp>
        <p:nvSpPr>
          <p:cNvPr id="18" name="architecture-band-3">
            <a:extLst xmlns:a="http://schemas.openxmlformats.org/drawingml/2006/main">
              <a:ext uri="{FF2B5EF4-FFF2-40B4-BE49-F238E27FC236}">
                <a16:creationId xmlns:a16="http://schemas.microsoft.com/office/drawing/2014/main" id="{8BAAF8FE-0475-4BE8-9BA0-8C8D350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12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5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9" name="architecture-label-3">
            <a:extLst xmlns:a="http://schemas.openxmlformats.org/drawingml/2006/main">
              <a:ext uri="{FF2B5EF4-FFF2-40B4-BE49-F238E27FC236}">
                <a16:creationId xmlns:a16="http://schemas.microsoft.com/office/drawing/2014/main" id="{0F885EA0-74A1-4B14-B2DD-05E3F760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持续服务</a:t>
            </a:r>
          </a:p>
        </p:txBody>
      </p:sp>
      <p:sp>
        <p:nvSpPr>
          <p:cNvPr id="20" name="architecture-content-3">
            <a:extLst xmlns:a="http://schemas.openxmlformats.org/drawingml/2006/main">
              <a:ext uri="{FF2B5EF4-FFF2-40B4-BE49-F238E27FC236}">
                <a16:creationId xmlns:a16="http://schemas.microsoft.com/office/drawing/2014/main" id="{BF82ACF2-3B56-4D79-9120-C557711B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9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记忆   ·   周期任务   ·   模型与用量   ·   登录同步   ·   远程连接</a:t>
            </a:r>
          </a:p>
        </p:txBody>
      </p:sp>
      <p:sp>
        <p:nvSpPr>
          <p:cNvPr id="21" name="architecture-meaning">
            <a:extLst xmlns:a="http://schemas.openxmlformats.org/drawingml/2006/main">
              <a:ext uri="{FF2B5EF4-FFF2-40B4-BE49-F238E27FC236}">
                <a16:creationId xmlns:a16="http://schemas.microsoft.com/office/drawing/2014/main" id="{6EC52B61-77AF-4592-9CA6-A44D7B3B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电脑仍是唯一执行主机；访问范围、高风险操作和后台计划都受权限与状态约束。</a:t>
            </a:r>
          </a:p>
        </p:txBody>
      </p:sp>
    </p:spTree>
    <p:extLst>
      <p:ext uri="{BB962C8B-B14F-4D97-AF65-F5344CB8AC3E}">
        <p14:creationId xmlns:p14="http://schemas.microsoft.com/office/powerpoint/2010/main" val="1953682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4ECC3E91-C949-42A4-8B3B-84B6707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新版界面把高频入口收进一条工作流</a:t>
            </a:r>
          </a:p>
        </p:txBody>
      </p:sp>
      <p:sp>
        <p:nvSpPr>
          <p:cNvPr id="2" name="accent-rule-5">
            <a:extLst xmlns:a="http://schemas.openxmlformats.org/drawingml/2006/main">
              <a:ext uri="{FF2B5EF4-FFF2-40B4-BE49-F238E27FC236}">
                <a16:creationId xmlns:a16="http://schemas.microsoft.com/office/drawing/2014/main" id="{7DE49DD3-D0BA-440B-92AC-B6D1C057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5">
            <a:extLst xmlns:a="http://schemas.openxmlformats.org/drawingml/2006/main">
              <a:ext uri="{FF2B5EF4-FFF2-40B4-BE49-F238E27FC236}">
                <a16:creationId xmlns:a16="http://schemas.microsoft.com/office/drawing/2014/main" id="{D8074E2B-F875-498C-AAB9-946B30D8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新任务、文件、自动化、Skill 和设置在左侧直达，任务内容仍是主画布。</a:t>
            </a:r>
          </a:p>
        </p:txBody>
      </p:sp>
      <p:sp>
        <p:nvSpPr>
          <p:cNvPr id="4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028307A9-1C5D-4804-8E13-E8E8B9B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98CF9E60-A4D6-40E2-A5C7-83EF9124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" name="experience-heading">
            <a:extLst xmlns:a="http://schemas.openxmlformats.org/drawingml/2006/main">
              <a:ext uri="{FF2B5EF4-FFF2-40B4-BE49-F238E27FC236}">
                <a16:creationId xmlns:a16="http://schemas.microsoft.com/office/drawing/2014/main" id="{25F9A5F9-1460-4BEA-BDF4-5C9934C8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先从目标开始</a:t>
            </a:r>
          </a:p>
        </p:txBody>
      </p:sp>
      <p:sp>
        <p:nvSpPr>
          <p:cNvPr id="7" name="experience-bullets">
            <a:extLst xmlns:a="http://schemas.openxmlformats.org/drawingml/2006/main">
              <a:ext uri="{FF2B5EF4-FFF2-40B4-BE49-F238E27FC236}">
                <a16:creationId xmlns:a16="http://schemas.microsoft.com/office/drawing/2014/main" id="{4BA62A0F-0A9E-42FD-983A-FFA99336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714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描述目标，或添加文件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选择模型、思考强度与自动 Skill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历史任务持续可查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文件、工具过程和成果回到同一任务</a:t>
            </a:r>
          </a:p>
        </p:txBody>
      </p:sp>
      <p:sp>
        <p:nvSpPr>
          <p:cNvPr id="8" name="experience-callout">
            <a:extLst xmlns:a="http://schemas.openxmlformats.org/drawingml/2006/main">
              <a:ext uri="{FF2B5EF4-FFF2-40B4-BE49-F238E27FC236}">
                <a16:creationId xmlns:a16="http://schemas.microsoft.com/office/drawing/2014/main" id="{E13756C2-8ECE-480E-855C-8D37CFE0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perience-callout-text">
            <a:extLst xmlns:a="http://schemas.openxmlformats.org/drawingml/2006/main">
              <a:ext uri="{FF2B5EF4-FFF2-40B4-BE49-F238E27FC236}">
                <a16:creationId xmlns:a16="http://schemas.microsoft.com/office/drawing/2014/main" id="{38C754BA-8B31-48E6-8D5F-10E5161A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292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本地运行界面，直接来自当前桌面代码。</a:t>
            </a:r>
          </a:p>
        </p:txBody>
      </p:sp>
      <p:sp>
        <p:nvSpPr>
          <p:cNvPr id="10" name="experience-image-frame">
            <a:extLst xmlns:a="http://schemas.openxmlformats.org/drawingml/2006/main">
              <a:ext uri="{FF2B5EF4-FFF2-40B4-BE49-F238E27FC236}">
                <a16:creationId xmlns:a16="http://schemas.microsoft.com/office/drawing/2014/main" id="{10A88EF1-BC1B-4ECB-AD63-51BED47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466850"/>
            <a:ext cx="7038975" cy="4676775"/>
          </a:xfrm>
          <a:prstGeom xmlns:a="http://schemas.openxmlformats.org/drawingml/2006/main" prst="roundRect">
            <a:avLst>
              <a:gd name="adj" fmla="val 2851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4aa7c3cd446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91075" y="1562100"/>
            <a:ext cx="6848475" cy="4533900"/>
          </a:xfrm>
          <a:prstGeom xmlns:a="http://schemas.openxmlformats.org/drawingml/2006/main" prst="roundRect">
            <a:avLst/>
          </a:prstGeom>
        </p:spPr>
      </p:pic>
      <p:sp>
        <p:nvSpPr>
          <p:cNvPr id="12" name="experience-caption">
            <a:extLst xmlns:a="http://schemas.openxmlformats.org/drawingml/2006/main">
              <a:ext uri="{FF2B5EF4-FFF2-40B4-BE49-F238E27FC236}">
                <a16:creationId xmlns:a16="http://schemas.microsoft.com/office/drawing/2014/main" id="{C8CAED29-5444-47B9-A7CD-A609944D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62675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本地运行界面 · 新任务页（2026-08-31）</a:t>
            </a:r>
          </a:p>
        </p:txBody>
      </p:sp>
    </p:spTree>
    <p:extLst>
      <p:ext uri="{BB962C8B-B14F-4D97-AF65-F5344CB8AC3E}">
        <p14:creationId xmlns:p14="http://schemas.microsoft.com/office/powerpoint/2010/main" val="207463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0840D395-D992-4786-90ED-5FB8065B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文件与成果现在更像一个可继续工作的资料库</a:t>
            </a:r>
          </a:p>
        </p:txBody>
      </p:sp>
      <p:sp>
        <p:nvSpPr>
          <p:cNvPr id="2" name="accent-rule-6">
            <a:extLst xmlns:a="http://schemas.openxmlformats.org/drawingml/2006/main">
              <a:ext uri="{FF2B5EF4-FFF2-40B4-BE49-F238E27FC236}">
                <a16:creationId xmlns:a16="http://schemas.microsoft.com/office/drawing/2014/main" id="{A1D32CCF-3D57-438B-A1F8-C046D9D6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6">
            <a:extLst xmlns:a="http://schemas.openxmlformats.org/drawingml/2006/main">
              <a:ext uri="{FF2B5EF4-FFF2-40B4-BE49-F238E27FC236}">
                <a16:creationId xmlns:a16="http://schemas.microsoft.com/office/drawing/2014/main" id="{D3C5C184-EE04-4EE7-B205-06C658C3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按对话集中查看附件和生成成果，也能搜索、分页、预览并保留版本。</a:t>
            </a:r>
          </a:p>
        </p:txBody>
      </p:sp>
      <p:sp>
        <p:nvSpPr>
          <p:cNvPr id="4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F3473CEA-5D6C-40AB-B6A4-BD1B30B0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DFEEC4F3-F97F-438E-8348-03B21F0A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cap-left-panel">
            <a:extLst xmlns:a="http://schemas.openxmlformats.org/drawingml/2006/main">
              <a:ext uri="{FF2B5EF4-FFF2-40B4-BE49-F238E27FC236}">
                <a16:creationId xmlns:a16="http://schemas.microsoft.com/office/drawing/2014/main" id="{3F3701AA-2004-4C25-92D2-73EDFBDD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52578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7" name="cap-right-panel">
            <a:extLst xmlns:a="http://schemas.openxmlformats.org/drawingml/2006/main">
              <a:ext uri="{FF2B5EF4-FFF2-40B4-BE49-F238E27FC236}">
                <a16:creationId xmlns:a16="http://schemas.microsoft.com/office/drawing/2014/main" id="{71AE5DA9-820D-4AAD-80F9-DEA569D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52578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D5FF"/>
            </a:solidFill>
            <a:prstDash val="solid"/>
          </a:ln>
        </p:spPr>
      </p:sp>
      <p:sp>
        <p:nvSpPr>
          <p:cNvPr id="8" name="cap-left-title">
            <a:extLst xmlns:a="http://schemas.openxmlformats.org/drawingml/2006/main">
              <a:ext uri="{FF2B5EF4-FFF2-40B4-BE49-F238E27FC236}">
                <a16:creationId xmlns:a16="http://schemas.microsoft.com/office/drawing/2014/main" id="{C43B3FED-1732-47AC-A09E-6F3F6E6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文件进入工作区</a:t>
            </a:r>
          </a:p>
        </p:txBody>
      </p:sp>
      <p:sp>
        <p:nvSpPr>
          <p:cNvPr id="9" name="cap-left-body">
            <a:extLst xmlns:a="http://schemas.openxmlformats.org/drawingml/2006/main">
              <a:ext uri="{FF2B5EF4-FFF2-40B4-BE49-F238E27FC236}">
                <a16:creationId xmlns:a16="http://schemas.microsoft.com/office/drawing/2014/main" id="{66FB1B51-E00F-4D33-85BE-B1ACE6E3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4476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文档、表格、PPT、PDF、图片与代码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直接添加文件或文件夹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未关联内容单独归档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文件可在多个对话中复用</a:t>
            </a:r>
          </a:p>
        </p:txBody>
      </p:sp>
      <p:sp>
        <p:nvSpPr>
          <p:cNvPr id="10" name="cap-right-title">
            <a:extLst xmlns:a="http://schemas.openxmlformats.org/drawingml/2006/main">
              <a:ext uri="{FF2B5EF4-FFF2-40B4-BE49-F238E27FC236}">
                <a16:creationId xmlns:a16="http://schemas.microsoft.com/office/drawing/2014/main" id="{42D8813E-D342-455F-9435-BA7575D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成果留在对话中</a:t>
            </a:r>
          </a:p>
        </p:txBody>
      </p:sp>
      <p:sp>
        <p:nvSpPr>
          <p:cNvPr id="11" name="cap-right-body">
            <a:extLst xmlns:a="http://schemas.openxmlformats.org/drawingml/2006/main">
              <a:ext uri="{FF2B5EF4-FFF2-40B4-BE49-F238E27FC236}">
                <a16:creationId xmlns:a16="http://schemas.microsoft.com/office/drawing/2014/main" id="{E15D72EA-4437-467B-84B4-C42731F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DOCX / XLSX / PPTX / PDF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对话内直接预览交付物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成果页继续查看与下载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新版本保留旧版本</a:t>
            </a:r>
          </a:p>
        </p:txBody>
      </p:sp>
      <p:sp>
        <p:nvSpPr>
          <p:cNvPr id="12" name="cap-bottom-panel">
            <a:extLst xmlns:a="http://schemas.openxmlformats.org/drawingml/2006/main">
              <a:ext uri="{FF2B5EF4-FFF2-40B4-BE49-F238E27FC236}">
                <a16:creationId xmlns:a16="http://schemas.microsoft.com/office/drawing/2014/main" id="{CAE711A0-126A-4FD8-B0F2-E9EA1DEB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-bottom-title">
            <a:extLst xmlns:a="http://schemas.openxmlformats.org/drawingml/2006/main">
              <a:ext uri="{FF2B5EF4-FFF2-40B4-BE49-F238E27FC236}">
                <a16:creationId xmlns:a16="http://schemas.microsoft.com/office/drawing/2014/main" id="{9A09B73A-7F94-42E7-85D8-CE5C663C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查找更快</a:t>
            </a:r>
          </a:p>
        </p:txBody>
      </p:sp>
      <p:sp>
        <p:nvSpPr>
          <p:cNvPr id="14" name="cap-bottom-body">
            <a:extLst xmlns:a="http://schemas.openxmlformats.org/drawingml/2006/main">
              <a:ext uri="{FF2B5EF4-FFF2-40B4-BE49-F238E27FC236}">
                <a16:creationId xmlns:a16="http://schemas.microsoft.com/office/drawing/2014/main" id="{2F24D5BA-0E89-4061-85CE-17DAFCA9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244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按对话、文件名或成果名搜索；大量对话记录可以分页浏览。</a:t>
            </a:r>
          </a:p>
        </p:txBody>
      </p:sp>
    </p:spTree>
    <p:extLst>
      <p:ext uri="{BB962C8B-B14F-4D97-AF65-F5344CB8AC3E}">
        <p14:creationId xmlns:p14="http://schemas.microsoft.com/office/powerpoint/2010/main" val="1021907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03E44CCF-4156-4182-99C8-7630361B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工具中心统一管理能力，浏览器操作也受权限约束</a:t>
            </a:r>
          </a:p>
        </p:txBody>
      </p:sp>
      <p:sp>
        <p:nvSpPr>
          <p:cNvPr id="2" name="accent-rule-7">
            <a:extLst xmlns:a="http://schemas.openxmlformats.org/drawingml/2006/main">
              <a:ext uri="{FF2B5EF4-FFF2-40B4-BE49-F238E27FC236}">
                <a16:creationId xmlns:a16="http://schemas.microsoft.com/office/drawing/2014/main" id="{47605466-E7CA-4BCE-9524-01B7EDB1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7">
            <a:extLst xmlns:a="http://schemas.openxmlformats.org/drawingml/2006/main">
              <a:ext uri="{FF2B5EF4-FFF2-40B4-BE49-F238E27FC236}">
                <a16:creationId xmlns:a16="http://schemas.microsoft.com/office/drawing/2014/main" id="{D40949A9-A68F-4585-94C9-3FF2EB8F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在设置中查看工具状态、启用范围和配置入口；需要授权时仍回到当前任务确认。</a:t>
            </a:r>
          </a:p>
        </p:txBody>
      </p:sp>
      <p:sp>
        <p:nvSpPr>
          <p:cNvPr id="4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AE73E90F-FC54-4D9E-8C30-06414525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81DC73DE-85A3-48A1-BC14-4FDCAA9F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security-sep-1">
            <a:extLst xmlns:a="http://schemas.openxmlformats.org/drawingml/2006/main">
              <a:ext uri="{FF2B5EF4-FFF2-40B4-BE49-F238E27FC236}">
                <a16:creationId xmlns:a16="http://schemas.microsoft.com/office/drawing/2014/main" id="{A647EFC0-6F05-4A89-B68E-AB03D943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716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curity-sep-2">
            <a:extLst xmlns:a="http://schemas.openxmlformats.org/drawingml/2006/main">
              <a:ext uri="{FF2B5EF4-FFF2-40B4-BE49-F238E27FC236}">
                <a16:creationId xmlns:a16="http://schemas.microsoft.com/office/drawing/2014/main" id="{57DEF44C-A5E0-4C95-B2BF-BD5D861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716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urity-1-number">
            <a:extLst xmlns:a="http://schemas.openxmlformats.org/drawingml/2006/main">
              <a:ext uri="{FF2B5EF4-FFF2-40B4-BE49-F238E27FC236}">
                <a16:creationId xmlns:a16="http://schemas.microsoft.com/office/drawing/2014/main" id="{8707F1F0-2841-463A-B799-FC3495E2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security-1-heading">
            <a:extLst xmlns:a="http://schemas.openxmlformats.org/drawingml/2006/main">
              <a:ext uri="{FF2B5EF4-FFF2-40B4-BE49-F238E27FC236}">
                <a16:creationId xmlns:a16="http://schemas.microsoft.com/office/drawing/2014/main" id="{A6C64BA2-BD20-46E5-8742-11FC35EE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内置与本地</a:t>
            </a:r>
          </a:p>
        </p:txBody>
      </p:sp>
      <p:sp>
        <p:nvSpPr>
          <p:cNvPr id="10" name="security-1-body">
            <a:extLst xmlns:a="http://schemas.openxmlformats.org/drawingml/2006/main">
              <a:ext uri="{FF2B5EF4-FFF2-40B4-BE49-F238E27FC236}">
                <a16:creationId xmlns:a16="http://schemas.microsoft.com/office/drawing/2014/main" id="{C6FC74F6-F9B5-46A9-9A4B-222E884E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结构化处理、文件访问、本地搜索、终端与桌面控制统一列出状态。</a:t>
            </a:r>
          </a:p>
        </p:txBody>
      </p:sp>
      <p:sp>
        <p:nvSpPr>
          <p:cNvPr id="11" name="security-2-number">
            <a:extLst xmlns:a="http://schemas.openxmlformats.org/drawingml/2006/main">
              <a:ext uri="{FF2B5EF4-FFF2-40B4-BE49-F238E27FC236}">
                <a16:creationId xmlns:a16="http://schemas.microsoft.com/office/drawing/2014/main" id="{5AA1C409-E028-48A5-93F6-B8B78E3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security-2-heading">
            <a:extLst xmlns:a="http://schemas.openxmlformats.org/drawingml/2006/main">
              <a:ext uri="{FF2B5EF4-FFF2-40B4-BE49-F238E27FC236}">
                <a16:creationId xmlns:a16="http://schemas.microsoft.com/office/drawing/2014/main" id="{1244F2CC-73CD-4B2C-9931-D336B93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浏览器操作</a:t>
            </a:r>
          </a:p>
        </p:txBody>
      </p:sp>
      <p:sp>
        <p:nvSpPr>
          <p:cNvPr id="13" name="security-2-body">
            <a:extLst xmlns:a="http://schemas.openxmlformats.org/drawingml/2006/main">
              <a:ext uri="{FF2B5EF4-FFF2-40B4-BE49-F238E27FC236}">
                <a16:creationId xmlns:a16="http://schemas.microsoft.com/office/drawing/2014/main" id="{0421433C-C8D0-47E2-B3FE-44BAA13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打开、读取、点击与输入；导航、截图或接管时自动暂停。</a:t>
            </a:r>
          </a:p>
        </p:txBody>
      </p:sp>
      <p:sp>
        <p:nvSpPr>
          <p:cNvPr id="14" name="security-3-number">
            <a:extLst xmlns:a="http://schemas.openxmlformats.org/drawingml/2006/main">
              <a:ext uri="{FF2B5EF4-FFF2-40B4-BE49-F238E27FC236}">
                <a16:creationId xmlns:a16="http://schemas.microsoft.com/office/drawing/2014/main" id="{124D374E-35F2-4435-AAFC-148AEB66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security-3-heading">
            <a:extLst xmlns:a="http://schemas.openxmlformats.org/drawingml/2006/main">
              <a:ext uri="{FF2B5EF4-FFF2-40B4-BE49-F238E27FC236}">
                <a16:creationId xmlns:a16="http://schemas.microsoft.com/office/drawing/2014/main" id="{240D2CBF-FFAC-4B9C-B7B8-8BF06284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扩展与配置</a:t>
            </a:r>
          </a:p>
        </p:txBody>
      </p:sp>
      <p:sp>
        <p:nvSpPr>
          <p:cNvPr id="16" name="security-3-body">
            <a:extLst xmlns:a="http://schemas.openxmlformats.org/drawingml/2006/main">
              <a:ext uri="{FF2B5EF4-FFF2-40B4-BE49-F238E27FC236}">
                <a16:creationId xmlns:a16="http://schemas.microsoft.com/office/drawing/2014/main" id="{B33CAB30-D649-4996-90B6-6EAB2055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MCP：来源与可用性集中在设置中管理</a:t>
            </a:r>
          </a:p>
        </p:txBody>
      </p:sp>
      <p:sp>
        <p:nvSpPr>
          <p:cNvPr id="17" name="security-bottom">
            <a:extLst xmlns:a="http://schemas.openxmlformats.org/drawingml/2006/main">
              <a:ext uri="{FF2B5EF4-FFF2-40B4-BE49-F238E27FC236}">
                <a16:creationId xmlns:a16="http://schemas.microsoft.com/office/drawing/2014/main" id="{13CA7E42-841B-4639-8998-CA68BA88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11125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curity-bottom-text">
            <a:extLst xmlns:a="http://schemas.openxmlformats.org/drawingml/2006/main">
              <a:ext uri="{FF2B5EF4-FFF2-40B4-BE49-F238E27FC236}">
                <a16:creationId xmlns:a16="http://schemas.microsoft.com/office/drawing/2014/main" id="{2F54B065-4BDA-405E-8C19-AB0459B9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登录、上传、下载和系统认证由你接管；提交、发送、删除或购买前再次确认。</a:t>
            </a:r>
          </a:p>
        </p:txBody>
      </p:sp>
    </p:spTree>
    <p:extLst>
      <p:ext uri="{BB962C8B-B14F-4D97-AF65-F5344CB8AC3E}">
        <p14:creationId xmlns:p14="http://schemas.microsoft.com/office/powerpoint/2010/main" val="1466918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6F4717E5-5B46-413C-A755-78178D2F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记忆与自动化让持续工作不必每次从零开始</a:t>
            </a:r>
          </a:p>
        </p:txBody>
      </p:sp>
      <p:sp>
        <p:nvSpPr>
          <p:cNvPr id="2" name="accent-rule-8">
            <a:extLst xmlns:a="http://schemas.openxmlformats.org/drawingml/2006/main">
              <a:ext uri="{FF2B5EF4-FFF2-40B4-BE49-F238E27FC236}">
                <a16:creationId xmlns:a16="http://schemas.microsoft.com/office/drawing/2014/main" id="{67B5C1E3-F0CA-4C63-8279-46449FD6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8">
            <a:extLst xmlns:a="http://schemas.openxmlformats.org/drawingml/2006/main">
              <a:ext uri="{FF2B5EF4-FFF2-40B4-BE49-F238E27FC236}">
                <a16:creationId xmlns:a16="http://schemas.microsoft.com/office/drawing/2014/main" id="{A5D46853-9A74-43F2-9A73-DE4215A1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记住有用背景，按计划启动任务；模型与用量设置仍可独立查看。</a:t>
            </a:r>
          </a:p>
        </p:txBody>
      </p:sp>
      <p:sp>
        <p:nvSpPr>
          <p:cNvPr id="4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3CF72EFA-4400-4C10-AF48-49D106FD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ABD20EF0-CCD4-4E7D-B590-8DA4B1D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cost-arrow-1">
            <a:extLst xmlns:a="http://schemas.openxmlformats.org/drawingml/2006/main">
              <a:ext uri="{FF2B5EF4-FFF2-40B4-BE49-F238E27FC236}">
                <a16:creationId xmlns:a16="http://schemas.microsoft.com/office/drawing/2014/main" id="{C9F94FF5-6D5E-4D0E-A99C-251CEEC5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st-arrow-2">
            <a:extLst xmlns:a="http://schemas.openxmlformats.org/drawingml/2006/main">
              <a:ext uri="{FF2B5EF4-FFF2-40B4-BE49-F238E27FC236}">
                <a16:creationId xmlns:a16="http://schemas.microsoft.com/office/drawing/2014/main" id="{F303FCCB-C7DE-490B-9031-8336EF7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st-card-0">
            <a:extLst xmlns:a="http://schemas.openxmlformats.org/drawingml/2006/main">
              <a:ext uri="{FF2B5EF4-FFF2-40B4-BE49-F238E27FC236}">
                <a16:creationId xmlns:a16="http://schemas.microsoft.com/office/drawing/2014/main" id="{9EA72DBA-E2F7-46A6-9C34-33B2A38E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9" name="cost-title-0">
            <a:extLst xmlns:a="http://schemas.openxmlformats.org/drawingml/2006/main">
              <a:ext uri="{FF2B5EF4-FFF2-40B4-BE49-F238E27FC236}">
                <a16:creationId xmlns:a16="http://schemas.microsoft.com/office/drawing/2014/main" id="{11032FF6-710B-4247-83A9-94F815EF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01 · 记忆</a:t>
            </a:r>
          </a:p>
        </p:txBody>
      </p:sp>
      <p:sp>
        <p:nvSpPr>
          <p:cNvPr id="10" name="cost-body-0">
            <a:extLst xmlns:a="http://schemas.openxmlformats.org/drawingml/2006/main">
              <a:ext uri="{FF2B5EF4-FFF2-40B4-BE49-F238E27FC236}">
                <a16:creationId xmlns:a16="http://schemas.microsoft.com/office/drawing/2014/main" id="{3E588E15-6805-4B0E-98BE-DC4910B5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自动提取可用背景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查看来源与状态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可合并、删除或关闭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对话可单独设置</a:t>
            </a:r>
          </a:p>
        </p:txBody>
      </p:sp>
      <p:sp>
        <p:nvSpPr>
          <p:cNvPr id="11" name="cost-card-1">
            <a:extLst xmlns:a="http://schemas.openxmlformats.org/drawingml/2006/main">
              <a:ext uri="{FF2B5EF4-FFF2-40B4-BE49-F238E27FC236}">
                <a16:creationId xmlns:a16="http://schemas.microsoft.com/office/drawing/2014/main" id="{22463D64-5908-4A2B-91D8-53079AB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2" name="cost-title-1">
            <a:extLst xmlns:a="http://schemas.openxmlformats.org/drawingml/2006/main">
              <a:ext uri="{FF2B5EF4-FFF2-40B4-BE49-F238E27FC236}">
                <a16:creationId xmlns:a16="http://schemas.microsoft.com/office/drawing/2014/main" id="{0040C8F4-EAEF-45DD-903C-BD523DE0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 · 自动化</a:t>
            </a:r>
          </a:p>
        </p:txBody>
      </p:sp>
      <p:sp>
        <p:nvSpPr>
          <p:cNvPr id="13" name="cost-body-1">
            <a:extLst xmlns:a="http://schemas.openxmlformats.org/drawingml/2006/main">
              <a:ext uri="{FF2B5EF4-FFF2-40B4-BE49-F238E27FC236}">
                <a16:creationId xmlns:a16="http://schemas.microsoft.com/office/drawing/2014/main" id="{3CFAE115-D90F-446C-B711-EEDBB67F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一次、每天或每周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独立任务或持续跟进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搜索、暂停、立即运行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保留运行历史</a:t>
            </a:r>
          </a:p>
        </p:txBody>
      </p:sp>
      <p:sp>
        <p:nvSpPr>
          <p:cNvPr id="14" name="cost-card-2">
            <a:extLst xmlns:a="http://schemas.openxmlformats.org/drawingml/2006/main">
              <a:ext uri="{FF2B5EF4-FFF2-40B4-BE49-F238E27FC236}">
                <a16:creationId xmlns:a16="http://schemas.microsoft.com/office/drawing/2014/main" id="{1AA328DF-D248-4CD8-AD6A-F2CB5B7C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5" name="cost-title-2">
            <a:extLst xmlns:a="http://schemas.openxmlformats.org/drawingml/2006/main">
              <a:ext uri="{FF2B5EF4-FFF2-40B4-BE49-F238E27FC236}">
                <a16:creationId xmlns:a16="http://schemas.microsoft.com/office/drawing/2014/main" id="{5C1C06DA-9F85-48AC-8BDF-B004AF7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 · 执行边界</a:t>
            </a:r>
          </a:p>
        </p:txBody>
      </p:sp>
      <p:sp>
        <p:nvSpPr>
          <p:cNvPr id="16" name="cost-body-2">
            <a:extLst xmlns:a="http://schemas.openxmlformats.org/drawingml/2006/main">
              <a:ext uri="{FF2B5EF4-FFF2-40B4-BE49-F238E27FC236}">
                <a16:creationId xmlns:a16="http://schemas.microsoft.com/office/drawing/2014/main" id="{3FBE9293-240E-4453-9E8A-45DF51E8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休眠与退出不执行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唤醒按策略补跑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瞬时错误可重试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高风险操作仍等待确认</a:t>
            </a:r>
          </a:p>
        </p:txBody>
      </p:sp>
      <p:sp>
        <p:nvSpPr>
          <p:cNvPr id="17" name="cost-bottom">
            <a:extLst xmlns:a="http://schemas.openxmlformats.org/drawingml/2006/main">
              <a:ext uri="{FF2B5EF4-FFF2-40B4-BE49-F238E27FC236}">
                <a16:creationId xmlns:a16="http://schemas.microsoft.com/office/drawing/2014/main" id="{491B0463-5425-4AA8-B9F2-50A7F232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8" name="cost-bottom-text">
            <a:extLst xmlns:a="http://schemas.openxmlformats.org/drawingml/2006/main">
              <a:ext uri="{FF2B5EF4-FFF2-40B4-BE49-F238E27FC236}">
                <a16:creationId xmlns:a16="http://schemas.microsoft.com/office/drawing/2014/main" id="{AEAC8A56-A08E-4CBF-A0B6-53518173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这些能力已在本地 Alpha 实现；真实模型、系统后台启动与跨平台稳定性仍需按环境验证。</a:t>
            </a:r>
          </a:p>
        </p:txBody>
      </p:sp>
    </p:spTree>
    <p:extLst>
      <p:ext uri="{BB962C8B-B14F-4D97-AF65-F5344CB8AC3E}">
        <p14:creationId xmlns:p14="http://schemas.microsoft.com/office/powerpoint/2010/main" val="243530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AABC45A0-A03B-4C6D-AE81-14E6224C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离开电脑，也能在手机上继续看任务</a:t>
            </a:r>
          </a:p>
        </p:txBody>
      </p:sp>
      <p:sp>
        <p:nvSpPr>
          <p:cNvPr id="2" name="accent-rule-9">
            <a:extLst xmlns:a="http://schemas.openxmlformats.org/drawingml/2006/main">
              <a:ext uri="{FF2B5EF4-FFF2-40B4-BE49-F238E27FC236}">
                <a16:creationId xmlns:a16="http://schemas.microsoft.com/office/drawing/2014/main" id="{3BF973F8-2A09-4CB2-BF56-7995328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9">
            <a:extLst xmlns:a="http://schemas.openxmlformats.org/drawingml/2006/main">
              <a:ext uri="{FF2B5EF4-FFF2-40B4-BE49-F238E27FC236}">
                <a16:creationId xmlns:a16="http://schemas.microsoft.com/office/drawing/2014/main" id="{E266BA31-D8D7-4C89-BC1E-129CED54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只要电脑在线，你可以用手机查看进度、发送补充说明或停止任务。</a:t>
            </a:r>
          </a:p>
        </p:txBody>
      </p:sp>
      <p:sp>
        <p:nvSpPr>
          <p:cNvPr id="4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8D3F3C88-A6DB-4911-BE47-69D5F48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90724ECE-4C73-4721-8F80-9ACDFBF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remote-arrow-1">
            <a:extLst xmlns:a="http://schemas.openxmlformats.org/drawingml/2006/main">
              <a:ext uri="{FF2B5EF4-FFF2-40B4-BE49-F238E27FC236}">
                <a16:creationId xmlns:a16="http://schemas.microsoft.com/office/drawing/2014/main" id="{B50842BD-8176-4267-8BDD-6BC8AE77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337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mote-arrow-2">
            <a:extLst xmlns:a="http://schemas.openxmlformats.org/drawingml/2006/main">
              <a:ext uri="{FF2B5EF4-FFF2-40B4-BE49-F238E27FC236}">
                <a16:creationId xmlns:a16="http://schemas.microsoft.com/office/drawing/2014/main" id="{B5A6190D-7C7D-4F5A-8077-F217B75B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337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mote-link-label">
            <a:extLst xmlns:a="http://schemas.openxmlformats.org/drawingml/2006/main">
              <a:ext uri="{FF2B5EF4-FFF2-40B4-BE49-F238E27FC236}">
                <a16:creationId xmlns:a16="http://schemas.microsoft.com/office/drawing/2014/main" id="{C881A5BC-6511-4000-97BB-82873563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手机与电脑建立加密连接</a:t>
            </a:r>
          </a:p>
        </p:txBody>
      </p:sp>
      <p:sp>
        <p:nvSpPr>
          <p:cNvPr id="9" name="remote-node-0">
            <a:extLst xmlns:a="http://schemas.openxmlformats.org/drawingml/2006/main">
              <a:ext uri="{FF2B5EF4-FFF2-40B4-BE49-F238E27FC236}">
                <a16:creationId xmlns:a16="http://schemas.microsoft.com/office/drawing/2014/main" id="{DC27DFC5-A9EC-435A-AEAF-42ABE1C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0" name="remote-title-0">
            <a:extLst xmlns:a="http://schemas.openxmlformats.org/drawingml/2006/main">
              <a:ext uri="{FF2B5EF4-FFF2-40B4-BE49-F238E27FC236}">
                <a16:creationId xmlns:a16="http://schemas.microsoft.com/office/drawing/2014/main" id="{9429C900-364D-48B7-810F-7C4E615A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手机端</a:t>
            </a:r>
          </a:p>
        </p:txBody>
      </p:sp>
      <p:sp>
        <p:nvSpPr>
          <p:cNvPr id="11" name="remote-sub-0">
            <a:extLst xmlns:a="http://schemas.openxmlformats.org/drawingml/2006/main">
              <a:ext uri="{FF2B5EF4-FFF2-40B4-BE49-F238E27FC236}">
                <a16:creationId xmlns:a16="http://schemas.microsoft.com/office/drawing/2014/main" id="{1E4CD614-5ED3-4A7A-AED5-38CF5BE9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查看与控制</a:t>
            </a:r>
          </a:p>
        </p:txBody>
      </p:sp>
      <p:sp>
        <p:nvSpPr>
          <p:cNvPr id="12" name="remote-body-0">
            <a:extLst xmlns:a="http://schemas.openxmlformats.org/drawingml/2006/main">
              <a:ext uri="{FF2B5EF4-FFF2-40B4-BE49-F238E27FC236}">
                <a16:creationId xmlns:a16="http://schemas.microsoft.com/office/drawing/2014/main" id="{9888F2F8-CFE4-4FB8-8AF2-914194FE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查看任务和通知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补充说明或排队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确认、停止和继续</a:t>
            </a:r>
          </a:p>
        </p:txBody>
      </p:sp>
      <p:sp>
        <p:nvSpPr>
          <p:cNvPr id="13" name="remote-node-1">
            <a:extLst xmlns:a="http://schemas.openxmlformats.org/drawingml/2006/main">
              <a:ext uri="{FF2B5EF4-FFF2-40B4-BE49-F238E27FC236}">
                <a16:creationId xmlns:a16="http://schemas.microsoft.com/office/drawing/2014/main" id="{72951FAC-FC8A-4DBB-93FF-DFED6AF9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4" name="remote-title-1">
            <a:extLst xmlns:a="http://schemas.openxmlformats.org/drawingml/2006/main">
              <a:ext uri="{FF2B5EF4-FFF2-40B4-BE49-F238E27FC236}">
                <a16:creationId xmlns:a16="http://schemas.microsoft.com/office/drawing/2014/main" id="{61469EE9-2D6A-47AA-B3AD-64B3E9AE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连接服务</a:t>
            </a:r>
          </a:p>
        </p:txBody>
      </p:sp>
      <p:sp>
        <p:nvSpPr>
          <p:cNvPr id="15" name="remote-sub-1">
            <a:extLst xmlns:a="http://schemas.openxmlformats.org/drawingml/2006/main">
              <a:ext uri="{FF2B5EF4-FFF2-40B4-BE49-F238E27FC236}">
                <a16:creationId xmlns:a16="http://schemas.microsoft.com/office/drawing/2014/main" id="{D734A8AC-6234-4E2A-9DB4-EEED9E3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只负责转发</a:t>
            </a:r>
          </a:p>
        </p:txBody>
      </p:sp>
      <p:sp>
        <p:nvSpPr>
          <p:cNvPr id="16" name="remote-body-1">
            <a:extLst xmlns:a="http://schemas.openxmlformats.org/drawingml/2006/main">
              <a:ext uri="{FF2B5EF4-FFF2-40B4-BE49-F238E27FC236}">
                <a16:creationId xmlns:a16="http://schemas.microsoft.com/office/drawing/2014/main" id="{078D0E37-A11D-48B7-927B-42F28F04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确认设备在线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转发加密消息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不代替电脑执行</a:t>
            </a:r>
          </a:p>
        </p:txBody>
      </p:sp>
      <p:sp>
        <p:nvSpPr>
          <p:cNvPr id="17" name="remote-node-2">
            <a:extLst xmlns:a="http://schemas.openxmlformats.org/drawingml/2006/main">
              <a:ext uri="{FF2B5EF4-FFF2-40B4-BE49-F238E27FC236}">
                <a16:creationId xmlns:a16="http://schemas.microsoft.com/office/drawing/2014/main" id="{89ECB91E-A666-49BB-85E0-29B1423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8" name="remote-title-2">
            <a:extLst xmlns:a="http://schemas.openxmlformats.org/drawingml/2006/main">
              <a:ext uri="{FF2B5EF4-FFF2-40B4-BE49-F238E27FC236}">
                <a16:creationId xmlns:a16="http://schemas.microsoft.com/office/drawing/2014/main" id="{F21F54D7-08C0-4FC2-8A1D-96FD995D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电脑端</a:t>
            </a:r>
          </a:p>
        </p:txBody>
      </p:sp>
      <p:sp>
        <p:nvSpPr>
          <p:cNvPr id="19" name="remote-sub-2">
            <a:extLst xmlns:a="http://schemas.openxmlformats.org/drawingml/2006/main">
              <a:ext uri="{FF2B5EF4-FFF2-40B4-BE49-F238E27FC236}">
                <a16:creationId xmlns:a16="http://schemas.microsoft.com/office/drawing/2014/main" id="{BF08CCB2-BBC9-40C4-9E09-8CF361E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真正完成工作</a:t>
            </a:r>
          </a:p>
        </p:txBody>
      </p:sp>
      <p:sp>
        <p:nvSpPr>
          <p:cNvPr id="20" name="remote-body-2">
            <a:extLst xmlns:a="http://schemas.openxmlformats.org/drawingml/2006/main">
              <a:ext uri="{FF2B5EF4-FFF2-40B4-BE49-F238E27FC236}">
                <a16:creationId xmlns:a16="http://schemas.microsoft.com/office/drawing/2014/main" id="{F4CB80BA-04E7-4BBD-873B-8C7F963B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读取本地文件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使用本机工具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保存任务与成果</a:t>
            </a:r>
          </a:p>
        </p:txBody>
      </p:sp>
      <p:sp>
        <p:nvSpPr>
          <p:cNvPr id="21" name="remote-boundary">
            <a:extLst xmlns:a="http://schemas.openxmlformats.org/drawingml/2006/main">
              <a:ext uri="{FF2B5EF4-FFF2-40B4-BE49-F238E27FC236}">
                <a16:creationId xmlns:a16="http://schemas.microsoft.com/office/drawing/2014/main" id="{F347F414-C0A1-4E2E-B2A0-CC386883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mote-boundary-text">
            <a:extLst xmlns:a="http://schemas.openxmlformats.org/drawingml/2006/main">
              <a:ext uri="{FF2B5EF4-FFF2-40B4-BE49-F238E27FC236}">
                <a16:creationId xmlns:a16="http://schemas.microsoft.com/office/drawing/2014/main" id="{30217977-69F4-4AC1-BAA5-E15F5A03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F531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F531C"/>
                </a:solidFill>
                <a:latin typeface="PingFang SC"/>
                <a:ea typeface="PingFang SC"/>
                <a:cs typeface="PingFang SC"/>
              </a:rPr>
              <a:t>需要电脑保持在线；它不是远程桌面，也不能唤醒或代替离线电脑。</a:t>
            </a:r>
          </a:p>
        </p:txBody>
      </p:sp>
    </p:spTree>
    <p:extLst>
      <p:ext uri="{BB962C8B-B14F-4D97-AF65-F5344CB8AC3E}">
        <p14:creationId xmlns:p14="http://schemas.microsoft.com/office/powerpoint/2010/main" val="430269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62D752E6-513F-480D-8191-847241E3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适合需要背景、文件和持续跟进的个人工作</a:t>
            </a:r>
          </a:p>
        </p:txBody>
      </p:sp>
      <p:sp>
        <p:nvSpPr>
          <p:cNvPr id="2" name="accent-rule-10">
            <a:extLst xmlns:a="http://schemas.openxmlformats.org/drawingml/2006/main">
              <a:ext uri="{FF2B5EF4-FFF2-40B4-BE49-F238E27FC236}">
                <a16:creationId xmlns:a16="http://schemas.microsoft.com/office/drawing/2014/main" id="{765F1CE5-91B9-46A9-A772-EBB9612F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10">
            <a:extLst xmlns:a="http://schemas.openxmlformats.org/drawingml/2006/main">
              <a:ext uri="{FF2B5EF4-FFF2-40B4-BE49-F238E27FC236}">
                <a16:creationId xmlns:a16="http://schemas.microsoft.com/office/drawing/2014/main" id="{72329272-463A-4B22-BE91-80DA7DA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一次性任务和周期性任务都在同一套权限与成果记录中运行。</a:t>
            </a:r>
          </a:p>
        </p:txBody>
      </p:sp>
      <p:sp>
        <p:nvSpPr>
          <p:cNvPr id="4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CF8D1FA6-C61C-4ABB-96FC-C0948EAF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8447C4DD-D85C-4E0E-935A-FAE352E1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value-sep-1">
            <a:extLst xmlns:a="http://schemas.openxmlformats.org/drawingml/2006/main">
              <a:ext uri="{FF2B5EF4-FFF2-40B4-BE49-F238E27FC236}">
                <a16:creationId xmlns:a16="http://schemas.microsoft.com/office/drawing/2014/main" id="{9A26B721-3669-45D7-92D9-3B99D1A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97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alue-sep-2">
            <a:extLst xmlns:a="http://schemas.openxmlformats.org/drawingml/2006/main">
              <a:ext uri="{FF2B5EF4-FFF2-40B4-BE49-F238E27FC236}">
                <a16:creationId xmlns:a16="http://schemas.microsoft.com/office/drawing/2014/main" id="{2EA34FA2-F489-4F0D-BC35-F82D6060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97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value-1-number">
            <a:extLst xmlns:a="http://schemas.openxmlformats.org/drawingml/2006/main">
              <a:ext uri="{FF2B5EF4-FFF2-40B4-BE49-F238E27FC236}">
                <a16:creationId xmlns:a16="http://schemas.microsoft.com/office/drawing/2014/main" id="{1296DF4F-3071-4AAC-936F-5DA2455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value-1-heading">
            <a:extLst xmlns:a="http://schemas.openxmlformats.org/drawingml/2006/main">
              <a:ext uri="{FF2B5EF4-FFF2-40B4-BE49-F238E27FC236}">
                <a16:creationId xmlns:a16="http://schemas.microsoft.com/office/drawing/2014/main" id="{C0144B66-3B1C-42A0-8CA2-8D1A37F0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写作与整理</a:t>
            </a:r>
          </a:p>
        </p:txBody>
      </p:sp>
      <p:sp>
        <p:nvSpPr>
          <p:cNvPr id="10" name="value-1-body">
            <a:extLst xmlns:a="http://schemas.openxmlformats.org/drawingml/2006/main">
              <a:ext uri="{FF2B5EF4-FFF2-40B4-BE49-F238E27FC236}">
                <a16:creationId xmlns:a16="http://schemas.microsoft.com/office/drawing/2014/main" id="{3ADC7F34-4896-42B0-A6FE-8F933862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整理会议材料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生成报告、表格与演示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在资料库搜索旧成果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延续已有背景</a:t>
            </a:r>
          </a:p>
        </p:txBody>
      </p:sp>
      <p:sp>
        <p:nvSpPr>
          <p:cNvPr id="11" name="value-2-number">
            <a:extLst xmlns:a="http://schemas.openxmlformats.org/drawingml/2006/main">
              <a:ext uri="{FF2B5EF4-FFF2-40B4-BE49-F238E27FC236}">
                <a16:creationId xmlns:a16="http://schemas.microsoft.com/office/drawing/2014/main" id="{F135BB51-2242-46AA-8005-0DCA8D23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value-2-heading">
            <a:extLst xmlns:a="http://schemas.openxmlformats.org/drawingml/2006/main">
              <a:ext uri="{FF2B5EF4-FFF2-40B4-BE49-F238E27FC236}">
                <a16:creationId xmlns:a16="http://schemas.microsoft.com/office/drawing/2014/main" id="{18AB7EEA-A63D-41E5-9AC5-DD20F7CE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开发与分析</a:t>
            </a:r>
          </a:p>
        </p:txBody>
      </p:sp>
      <p:sp>
        <p:nvSpPr>
          <p:cNvPr id="13" name="value-2-body">
            <a:extLst xmlns:a="http://schemas.openxmlformats.org/drawingml/2006/main">
              <a:ext uri="{FF2B5EF4-FFF2-40B4-BE49-F238E27FC236}">
                <a16:creationId xmlns:a16="http://schemas.microsoft.com/office/drawing/2014/main" id="{FA3ACA88-2C30-43AF-AA8E-D6A3A0E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理解项目和代码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修改文件并运行测试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使用浏览器与终端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保留过程和交付物</a:t>
            </a:r>
          </a:p>
        </p:txBody>
      </p:sp>
      <p:sp>
        <p:nvSpPr>
          <p:cNvPr id="14" name="value-3-number">
            <a:extLst xmlns:a="http://schemas.openxmlformats.org/drawingml/2006/main">
              <a:ext uri="{FF2B5EF4-FFF2-40B4-BE49-F238E27FC236}">
                <a16:creationId xmlns:a16="http://schemas.microsoft.com/office/drawing/2014/main" id="{9128EC85-EECB-45BE-981A-5B1243B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value-3-heading">
            <a:extLst xmlns:a="http://schemas.openxmlformats.org/drawingml/2006/main">
              <a:ext uri="{FF2B5EF4-FFF2-40B4-BE49-F238E27FC236}">
                <a16:creationId xmlns:a16="http://schemas.microsoft.com/office/drawing/2014/main" id="{62275F3C-2A8D-41E0-A45D-1C8E5ACB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重复与监测</a:t>
            </a:r>
          </a:p>
        </p:txBody>
      </p:sp>
      <p:sp>
        <p:nvSpPr>
          <p:cNvPr id="16" name="value-3-body">
            <a:extLst xmlns:a="http://schemas.openxmlformats.org/drawingml/2006/main">
              <a:ext uri="{FF2B5EF4-FFF2-40B4-BE49-F238E27FC236}">
                <a16:creationId xmlns:a16="http://schemas.microsoft.com/office/drawing/2014/main" id="{1F5F03BD-E4DC-4A9F-BC7E-A3816B8A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定时生成日报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周期整理资料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持续跟进一个任务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按状态暂停或恢复</a:t>
            </a:r>
          </a:p>
        </p:txBody>
      </p:sp>
      <p:sp>
        <p:nvSpPr>
          <p:cNvPr id="17" name="value-bottom">
            <a:extLst xmlns:a="http://schemas.openxmlformats.org/drawingml/2006/main">
              <a:ext uri="{FF2B5EF4-FFF2-40B4-BE49-F238E27FC236}">
                <a16:creationId xmlns:a16="http://schemas.microsoft.com/office/drawing/2014/main" id="{34A7C288-8F21-47F2-8DD7-753C277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alue-bottom-text">
            <a:extLst xmlns:a="http://schemas.openxmlformats.org/drawingml/2006/main">
              <a:ext uri="{FF2B5EF4-FFF2-40B4-BE49-F238E27FC236}">
                <a16:creationId xmlns:a16="http://schemas.microsoft.com/office/drawing/2014/main" id="{3BA6BDB4-D91B-49EE-9AB8-8784A98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重点不是增加一个聊天窗口，而是让一次任务和后续工作持续落地。</a:t>
            </a:r>
          </a:p>
        </p:txBody>
      </p:sp>
    </p:spTree>
    <p:extLst>
      <p:ext uri="{BB962C8B-B14F-4D97-AF65-F5344CB8AC3E}">
        <p14:creationId xmlns:p14="http://schemas.microsoft.com/office/powerpoint/2010/main" val="586244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E4F1B451-D9C5-4D74-A31E-7389BE02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当前是本地 Alpha 的个人版工作平台</a:t>
            </a:r>
          </a:p>
        </p:txBody>
      </p:sp>
      <p:sp>
        <p:nvSpPr>
          <p:cNvPr id="2" name="accent-rule-11">
            <a:extLst xmlns:a="http://schemas.openxmlformats.org/drawingml/2006/main">
              <a:ext uri="{FF2B5EF4-FFF2-40B4-BE49-F238E27FC236}">
                <a16:creationId xmlns:a16="http://schemas.microsoft.com/office/drawing/2014/main" id="{CB3C8CCC-DB6C-4443-9533-6DB10E83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11">
            <a:extLst xmlns:a="http://schemas.openxmlformats.org/drawingml/2006/main">
              <a:ext uri="{FF2B5EF4-FFF2-40B4-BE49-F238E27FC236}">
                <a16:creationId xmlns:a16="http://schemas.microsoft.com/office/drawing/2014/main" id="{1AD5BDF5-A208-4FAC-81B0-F544DE5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已实现能力、外部验证与明确非目标分开呈现。</a:t>
            </a:r>
          </a:p>
        </p:txBody>
      </p:sp>
      <p:sp>
        <p:nvSpPr>
          <p:cNvPr id="4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66CD6ED5-CA60-4E25-B3AF-C3889DEF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047D0191-A963-4DA6-AE14-1BF105B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delivery-line">
            <a:extLst xmlns:a="http://schemas.openxmlformats.org/drawingml/2006/main">
              <a:ext uri="{FF2B5EF4-FFF2-40B4-BE49-F238E27FC236}">
                <a16:creationId xmlns:a16="http://schemas.microsoft.com/office/drawing/2014/main" id="{1ECF1890-0BE1-4302-BDC4-77DA45D2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livery-dot-0">
            <a:extLst xmlns:a="http://schemas.openxmlformats.org/drawingml/2006/main">
              <a:ext uri="{FF2B5EF4-FFF2-40B4-BE49-F238E27FC236}">
                <a16:creationId xmlns:a16="http://schemas.microsoft.com/office/drawing/2014/main" id="{027B7348-9346-4FD7-AB34-702108C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livery-dot-1">
            <a:extLst xmlns:a="http://schemas.openxmlformats.org/drawingml/2006/main">
              <a:ext uri="{FF2B5EF4-FFF2-40B4-BE49-F238E27FC236}">
                <a16:creationId xmlns:a16="http://schemas.microsoft.com/office/drawing/2014/main" id="{1E409C99-AA36-4611-BC1A-D520F9FB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livery-dot-2">
            <a:extLst xmlns:a="http://schemas.openxmlformats.org/drawingml/2006/main">
              <a:ext uri="{FF2B5EF4-FFF2-40B4-BE49-F238E27FC236}">
                <a16:creationId xmlns:a16="http://schemas.microsoft.com/office/drawing/2014/main" id="{91E9F84D-48F1-4F07-AB48-7B0F315D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livery-label-56">
            <a:extLst xmlns:a="http://schemas.openxmlformats.org/drawingml/2006/main">
              <a:ext uri="{FF2B5EF4-FFF2-40B4-BE49-F238E27FC236}">
                <a16:creationId xmlns:a16="http://schemas.microsoft.com/office/drawing/2014/main" id="{72973479-5025-42F4-BB79-5B51A52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本地已实现</a:t>
            </a:r>
          </a:p>
        </p:txBody>
      </p:sp>
      <p:sp>
        <p:nvSpPr>
          <p:cNvPr id="11" name="delivery-title-56">
            <a:extLst xmlns:a="http://schemas.openxmlformats.org/drawingml/2006/main">
              <a:ext uri="{FF2B5EF4-FFF2-40B4-BE49-F238E27FC236}">
                <a16:creationId xmlns:a16="http://schemas.microsoft.com/office/drawing/2014/main" id="{E4886563-385E-48C2-B312-41B46C2F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个人工作闭环</a:t>
            </a:r>
          </a:p>
        </p:txBody>
      </p:sp>
      <p:sp>
        <p:nvSpPr>
          <p:cNvPr id="12" name="delivery-body-56">
            <a:extLst xmlns:a="http://schemas.openxmlformats.org/drawingml/2006/main">
              <a:ext uri="{FF2B5EF4-FFF2-40B4-BE49-F238E27FC236}">
                <a16:creationId xmlns:a16="http://schemas.microsoft.com/office/drawing/2014/main" id="{A751D880-AA8A-438F-88D3-5D71070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新版桌面、对话、文件与成果、工具中心、浏览器、记忆、自动化与搜索。</a:t>
            </a:r>
          </a:p>
        </p:txBody>
      </p:sp>
      <p:sp>
        <p:nvSpPr>
          <p:cNvPr id="13" name="delivery-label-464">
            <a:extLst xmlns:a="http://schemas.openxmlformats.org/drawingml/2006/main">
              <a:ext uri="{FF2B5EF4-FFF2-40B4-BE49-F238E27FC236}">
                <a16:creationId xmlns:a16="http://schemas.microsoft.com/office/drawing/2014/main" id="{4508E878-8FB1-4D98-B93E-C2C81EA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外部待验证</a:t>
            </a:r>
          </a:p>
        </p:txBody>
      </p:sp>
      <p:sp>
        <p:nvSpPr>
          <p:cNvPr id="14" name="delivery-title-464">
            <a:extLst xmlns:a="http://schemas.openxmlformats.org/drawingml/2006/main">
              <a:ext uri="{FF2B5EF4-FFF2-40B4-BE49-F238E27FC236}">
                <a16:creationId xmlns:a16="http://schemas.microsoft.com/office/drawing/2014/main" id="{5365707D-5568-46AA-ACBD-8DFE227A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真实环境与发布</a:t>
            </a:r>
          </a:p>
        </p:txBody>
      </p:sp>
      <p:sp>
        <p:nvSpPr>
          <p:cNvPr id="15" name="delivery-body-464">
            <a:extLst xmlns:a="http://schemas.openxmlformats.org/drawingml/2006/main">
              <a:ext uri="{FF2B5EF4-FFF2-40B4-BE49-F238E27FC236}">
                <a16:creationId xmlns:a16="http://schemas.microsoft.com/office/drawing/2014/main" id="{433E7989-1B31-4B95-A88A-1AD7A71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真实模型接入、账号同步、移动端实机、后台启动、签名发布与双平台矩阵仍需环境证据。</a:t>
            </a:r>
          </a:p>
        </p:txBody>
      </p:sp>
      <p:sp>
        <p:nvSpPr>
          <p:cNvPr id="16" name="delivery-label-872">
            <a:extLst xmlns:a="http://schemas.openxmlformats.org/drawingml/2006/main">
              <a:ext uri="{FF2B5EF4-FFF2-40B4-BE49-F238E27FC236}">
                <a16:creationId xmlns:a16="http://schemas.microsoft.com/office/drawing/2014/main" id="{649EEA01-E6BB-450C-A94B-80F95010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B74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B747A"/>
                </a:solidFill>
                <a:latin typeface="PingFang SC"/>
                <a:ea typeface="PingFang SC"/>
                <a:cs typeface="PingFang SC"/>
              </a:rPr>
              <a:t>明确不包含</a:t>
            </a:r>
          </a:p>
        </p:txBody>
      </p:sp>
      <p:sp>
        <p:nvSpPr>
          <p:cNvPr id="17" name="delivery-title-872">
            <a:extLst xmlns:a="http://schemas.openxmlformats.org/drawingml/2006/main">
              <a:ext uri="{FF2B5EF4-FFF2-40B4-BE49-F238E27FC236}">
                <a16:creationId xmlns:a16="http://schemas.microsoft.com/office/drawing/2014/main" id="{114A961D-DE7C-47D2-AE79-0034B1F0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企业管理能力</a:t>
            </a:r>
          </a:p>
        </p:txBody>
      </p:sp>
      <p:sp>
        <p:nvSpPr>
          <p:cNvPr id="18" name="delivery-body-872">
            <a:extLst xmlns:a="http://schemas.openxmlformats.org/drawingml/2006/main">
              <a:ext uri="{FF2B5EF4-FFF2-40B4-BE49-F238E27FC236}">
                <a16:creationId xmlns:a16="http://schemas.microsoft.com/office/drawing/2014/main" id="{B6690236-0E9D-44BB-AA44-53270F5E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组织与成员、企业单点登录、管理员策略、团队资料权限和多个组织隔离尚未添加。</a:t>
            </a:r>
          </a:p>
        </p:txBody>
      </p:sp>
      <p:sp>
        <p:nvSpPr>
          <p:cNvPr id="19" name="delivery-boundary">
            <a:extLst xmlns:a="http://schemas.openxmlformats.org/drawingml/2006/main">
              <a:ext uri="{FF2B5EF4-FFF2-40B4-BE49-F238E27FC236}">
                <a16:creationId xmlns:a16="http://schemas.microsoft.com/office/drawing/2014/main" id="{4E7876FA-C037-4A2D-8883-766ABA62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livery-boundary-text">
            <a:extLst xmlns:a="http://schemas.openxmlformats.org/drawingml/2006/main">
              <a:ext uri="{FF2B5EF4-FFF2-40B4-BE49-F238E27FC236}">
                <a16:creationId xmlns:a16="http://schemas.microsoft.com/office/drawing/2014/main" id="{135D1C11-50B7-4A80-9597-D8242F28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245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F531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F531C"/>
                </a:solidFill>
                <a:latin typeface="PingFang SC"/>
                <a:ea typeface="PingFang SC"/>
                <a:cs typeface="PingFang SC"/>
              </a:rPr>
              <a:t>定位：当前是个人版本地 Alpha；不把外部发布或企业版规划当成现有能力。</a:t>
            </a:r>
          </a:p>
        </p:txBody>
      </p:sp>
    </p:spTree>
    <p:extLst>
      <p:ext uri="{BB962C8B-B14F-4D97-AF65-F5344CB8AC3E}">
        <p14:creationId xmlns:p14="http://schemas.microsoft.com/office/powerpoint/2010/main" val="2057233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b4fdba8d74db9"/>
          <a:stretch xmlns:a="http://schemas.openxmlformats.org/drawingml/2006/main"/>
        </p:blipFill>
        <p:spPr>
          <a:xfrm xmlns:a="http://schemas.openxmlformats.org/drawingml/2006/main">
            <a:off x="533400" y="427196"/>
            <a:ext cx="361950" cy="307658"/>
          </a:xfrm>
          <a:prstGeom xmlns:a="http://schemas.openxmlformats.org/drawingml/2006/main" prst="rect">
            <a:avLst/>
          </a:prstGeom>
        </p:spPr>
      </p:pic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2D0A3992-3474-4C8C-91F6-D02BAB8C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3" name="close-label">
            <a:extLst xmlns:a="http://schemas.openxmlformats.org/drawingml/2006/main">
              <a:ext uri="{FF2B5EF4-FFF2-40B4-BE49-F238E27FC236}">
                <a16:creationId xmlns:a16="http://schemas.microsoft.com/office/drawing/2014/main" id="{E7614DC5-30F4-48CF-8D9C-2061056E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D6FB6D4-36A2-4C2A-8E70-D31CF219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从一个今天要做的真实任务开始</a:t>
            </a:r>
          </a:p>
        </p:txBody>
      </p:sp>
      <p:sp>
        <p:nvSpPr>
          <p:cNvPr id="5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4087D9FC-2F58-41DD-B055-00F27DB2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先完成一次，再决定是否记住背景或设置自动跟进。</a:t>
            </a:r>
          </a:p>
        </p:txBody>
      </p:sp>
      <p:sp>
        <p:nvSpPr>
          <p:cNvPr id="6" name="close-line">
            <a:extLst xmlns:a="http://schemas.openxmlformats.org/drawingml/2006/main">
              <a:ext uri="{FF2B5EF4-FFF2-40B4-BE49-F238E27FC236}">
                <a16:creationId xmlns:a16="http://schemas.microsoft.com/office/drawing/2014/main" id="{BD3226FC-720D-430B-A9C2-4E4A2BC3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step-rule-56">
            <a:extLst xmlns:a="http://schemas.openxmlformats.org/drawingml/2006/main">
              <a:ext uri="{FF2B5EF4-FFF2-40B4-BE49-F238E27FC236}">
                <a16:creationId xmlns:a16="http://schemas.microsoft.com/office/drawing/2014/main" id="{9AC68555-912F-4D55-921A-9C2C21CE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step-text-56">
            <a:extLst xmlns:a="http://schemas.openxmlformats.org/drawingml/2006/main">
              <a:ext uri="{FF2B5EF4-FFF2-40B4-BE49-F238E27FC236}">
                <a16:creationId xmlns:a16="http://schemas.microsoft.com/office/drawing/2014/main" id="{F480946A-C937-4655-A872-B724C866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选择任务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挑一件高频、结果清晰的个人工作</a:t>
            </a:r>
          </a:p>
        </p:txBody>
      </p:sp>
      <p:sp>
        <p:nvSpPr>
          <p:cNvPr id="9" name="close-step-rule-450">
            <a:extLst xmlns:a="http://schemas.openxmlformats.org/drawingml/2006/main">
              <a:ext uri="{FF2B5EF4-FFF2-40B4-BE49-F238E27FC236}">
                <a16:creationId xmlns:a16="http://schemas.microsoft.com/office/drawing/2014/main" id="{CB6B5F5B-EA88-4273-A345-0B0BAFC2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step-text-450">
            <a:extLst xmlns:a="http://schemas.openxmlformats.org/drawingml/2006/main">
              <a:ext uri="{FF2B5EF4-FFF2-40B4-BE49-F238E27FC236}">
                <a16:creationId xmlns:a16="http://schemas.microsoft.com/office/drawing/2014/main" id="{5C1DA500-44A6-4A8D-B91F-15D260B3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添加材料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提供文件或授权工作区，确认必要工具</a:t>
            </a:r>
          </a:p>
        </p:txBody>
      </p:sp>
      <p:sp>
        <p:nvSpPr>
          <p:cNvPr id="11" name="close-step-rule-844">
            <a:extLst xmlns:a="http://schemas.openxmlformats.org/drawingml/2006/main">
              <a:ext uri="{FF2B5EF4-FFF2-40B4-BE49-F238E27FC236}">
                <a16:creationId xmlns:a16="http://schemas.microsoft.com/office/drawing/2014/main" id="{E8B368C0-DAA9-4472-80DF-0AC3A4AE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step-text-844">
            <a:extLst xmlns:a="http://schemas.openxmlformats.org/drawingml/2006/main">
              <a:ext uri="{FF2B5EF4-FFF2-40B4-BE49-F238E27FC236}">
                <a16:creationId xmlns:a16="http://schemas.microsoft.com/office/drawing/2014/main" id="{5392C60F-AA15-4F81-B5CD-C16E580E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检查并延续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预览成果，决定记忆或自动化跟进</a:t>
            </a:r>
          </a:p>
        </p:txBody>
      </p:sp>
      <p:sp>
        <p:nvSpPr>
          <p:cNvPr id="13" name="close-tagline">
            <a:extLst xmlns:a="http://schemas.openxmlformats.org/drawingml/2006/main">
              <a:ext uri="{FF2B5EF4-FFF2-40B4-BE49-F238E27FC236}">
                <a16:creationId xmlns:a16="http://schemas.microsoft.com/office/drawing/2014/main" id="{78748CA1-FC95-46A6-8C54-F21747BE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OpenERX：让个人使用 AI，从得到回答走向持续完成工作。</a:t>
            </a:r>
          </a:p>
        </p:txBody>
      </p:sp>
      <p:sp>
        <p:nvSpPr>
          <p:cNvPr id="14" name="close-page">
            <a:extLst xmlns:a="http://schemas.openxmlformats.org/drawingml/2006/main">
              <a:ext uri="{FF2B5EF4-FFF2-40B4-BE49-F238E27FC236}">
                <a16:creationId xmlns:a16="http://schemas.microsoft.com/office/drawing/2014/main" id="{AFFB7806-E575-4C0D-845B-0CC21343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1013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2026-08-31T05:43:04.3980000Z</dcterms:created>
  <dcterms:modified xsi:type="dcterms:W3CDTF">2026-08-31T05:43:04.3980000Z</dcterms:modified>
</coreProperties>
</file>