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a938d343c34212" /><Relationship Type="http://schemas.openxmlformats.org/officeDocument/2006/relationships/extended-properties" Target="/docProps/app.xml" Id="Rd3adb76349754398" /><Relationship Type="http://schemas.openxmlformats.org/officeDocument/2006/relationships/officeDocument" Target="/ppt/presentation.xml" Id="R8c1e27a4ed7e41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d187ebf5ca4a3f"/>
  </p:sldMasterIdLst>
  <p:notesMasterIdLst>
    <p:notesMasterId xmlns:r="http://schemas.openxmlformats.org/officeDocument/2006/relationships" r:id="R48f8e185e5764aa1"/>
  </p:notesMasterIdLst>
  <p:sldIdLst>
    <p:sldId xmlns:r="http://schemas.openxmlformats.org/officeDocument/2006/relationships" id="256" r:id="Rb0fde4a958a24f66"/>
    <p:sldId xmlns:r="http://schemas.openxmlformats.org/officeDocument/2006/relationships" id="257" r:id="Rcfacb657716a4ada"/>
    <p:sldId xmlns:r="http://schemas.openxmlformats.org/officeDocument/2006/relationships" id="258" r:id="R0a70b3f3480e4002"/>
    <p:sldId xmlns:r="http://schemas.openxmlformats.org/officeDocument/2006/relationships" id="259" r:id="R303d72eb36fc4cc8"/>
    <p:sldId xmlns:r="http://schemas.openxmlformats.org/officeDocument/2006/relationships" id="260" r:id="R6595146fc9e9458f"/>
    <p:sldId xmlns:r="http://schemas.openxmlformats.org/officeDocument/2006/relationships" id="261" r:id="R2b2ca6a91a0f4ccb"/>
    <p:sldId xmlns:r="http://schemas.openxmlformats.org/officeDocument/2006/relationships" id="262" r:id="R10edd425ced345d4"/>
    <p:sldId xmlns:r="http://schemas.openxmlformats.org/officeDocument/2006/relationships" id="263" r:id="R20d46259f26a4749"/>
    <p:sldId xmlns:r="http://schemas.openxmlformats.org/officeDocument/2006/relationships" id="264" r:id="Rfc8995dea64e42fd"/>
    <p:sldId xmlns:r="http://schemas.openxmlformats.org/officeDocument/2006/relationships" id="265" r:id="R53a65b0ee7d047e3"/>
    <p:sldId xmlns:r="http://schemas.openxmlformats.org/officeDocument/2006/relationships" id="266" r:id="R35c28a1f9f6d4d73"/>
    <p:sldId xmlns:r="http://schemas.openxmlformats.org/officeDocument/2006/relationships" id="267" r:id="Rb8d6810065e947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410f75ee9f4dc7" /><Relationship Type="http://schemas.openxmlformats.org/officeDocument/2006/relationships/slideMaster" Target="/ppt/slideMasters/slideMaster1.xml" Id="R16d187ebf5ca4a3f" /><Relationship Type="http://schemas.openxmlformats.org/officeDocument/2006/relationships/notesMaster" Target="/ppt/notesMasters/notesMaster1.xml" Id="R48f8e185e5764aa1" /><Relationship Type="http://schemas.openxmlformats.org/officeDocument/2006/relationships/presProps" Target="/ppt/presProps.xml" Id="Ra195d431b5cb4944" /><Relationship Type="http://schemas.openxmlformats.org/officeDocument/2006/relationships/tableStyles" Target="/ppt/tableStyles.xml" Id="Rae0b4177eb45475e" /><Relationship Type="http://schemas.openxmlformats.org/officeDocument/2006/relationships/slide" Target="/ppt/slides/slide1.xml" Id="Rb0fde4a958a24f66" /><Relationship Type="http://schemas.openxmlformats.org/officeDocument/2006/relationships/slide" Target="/ppt/slides/slide2.xml" Id="Rcfacb657716a4ada" /><Relationship Type="http://schemas.openxmlformats.org/officeDocument/2006/relationships/slide" Target="/ppt/slides/slide3.xml" Id="R0a70b3f3480e4002" /><Relationship Type="http://schemas.openxmlformats.org/officeDocument/2006/relationships/slide" Target="/ppt/slides/slide4.xml" Id="R303d72eb36fc4cc8" /><Relationship Type="http://schemas.openxmlformats.org/officeDocument/2006/relationships/slide" Target="/ppt/slides/slide5.xml" Id="R6595146fc9e9458f" /><Relationship Type="http://schemas.openxmlformats.org/officeDocument/2006/relationships/slide" Target="/ppt/slides/slide6.xml" Id="R2b2ca6a91a0f4ccb" /><Relationship Type="http://schemas.openxmlformats.org/officeDocument/2006/relationships/slide" Target="/ppt/slides/slide7.xml" Id="R10edd425ced345d4" /><Relationship Type="http://schemas.openxmlformats.org/officeDocument/2006/relationships/slide" Target="/ppt/slides/slide8.xml" Id="R20d46259f26a4749" /><Relationship Type="http://schemas.openxmlformats.org/officeDocument/2006/relationships/slide" Target="/ppt/slides/slide9.xml" Id="Rfc8995dea64e42fd" /><Relationship Type="http://schemas.openxmlformats.org/officeDocument/2006/relationships/slide" Target="/ppt/slides/slide10.xml" Id="R53a65b0ee7d047e3" /><Relationship Type="http://schemas.openxmlformats.org/officeDocument/2006/relationships/slide" Target="/ppt/slides/slide11.xml" Id="R35c28a1f9f6d4d73" /><Relationship Type="http://schemas.openxmlformats.org/officeDocument/2006/relationships/slide" Target="/ppt/slides/slide12.xml" Id="Rb8d6810065e947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54f0d608b246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5f178afa0840a3" /><Relationship Type="http://schemas.openxmlformats.org/officeDocument/2006/relationships/notesMaster" Target="/ppt/notesMasters/notesMaster1.xml" Id="R0352c37d0e1a49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cae4de66eb45eb" /><Relationship Type="http://schemas.openxmlformats.org/officeDocument/2006/relationships/notesMaster" Target="/ppt/notesMasters/notesMaster1.xml" Id="Rc3b85577495d4e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54952ad1bd49bd" /><Relationship Type="http://schemas.openxmlformats.org/officeDocument/2006/relationships/notesMaster" Target="/ppt/notesMasters/notesMaster1.xml" Id="Rfe8d8d44e0b24d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0bda8ddc084948" /><Relationship Type="http://schemas.openxmlformats.org/officeDocument/2006/relationships/notesMaster" Target="/ppt/notesMasters/notesMaster1.xml" Id="R0e69b524b59542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29cc3952a94ecf" /><Relationship Type="http://schemas.openxmlformats.org/officeDocument/2006/relationships/notesMaster" Target="/ppt/notesMasters/notesMaster1.xml" Id="R98074cbab0e244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2fd4f23dc0451a" /><Relationship Type="http://schemas.openxmlformats.org/officeDocument/2006/relationships/notesMaster" Target="/ppt/notesMasters/notesMaster1.xml" Id="Rda03a8dfb59044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39ca17e630442a" /><Relationship Type="http://schemas.openxmlformats.org/officeDocument/2006/relationships/notesMaster" Target="/ppt/notesMasters/notesMaster1.xml" Id="R19641c5deff64e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bdf368b53848e3" /><Relationship Type="http://schemas.openxmlformats.org/officeDocument/2006/relationships/notesMaster" Target="/ppt/notesMasters/notesMaster1.xml" Id="Ra13f8fec81604a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abfa27d29e40f7" /><Relationship Type="http://schemas.openxmlformats.org/officeDocument/2006/relationships/notesMaster" Target="/ppt/notesMasters/notesMaster1.xml" Id="Ra6c68ed13c2349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4cad3cdd0b414b" /><Relationship Type="http://schemas.openxmlformats.org/officeDocument/2006/relationships/notesMaster" Target="/ppt/notesMasters/notesMaster1.xml" Id="R73409c61e6b642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934b66375240c8" /><Relationship Type="http://schemas.openxmlformats.org/officeDocument/2006/relationships/notesMaster" Target="/ppt/notesMasters/notesMaster1.xml" Id="Rf349f0273d6944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38dafa5e2641f3" /><Relationship Type="http://schemas.openxmlformats.org/officeDocument/2006/relationships/notesMaster" Target="/ppt/notesMasters/notesMaster1.xml" Id="R56e46a25633744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conversation: OpenERX is positioned as an enterprise-facing AI work platform.</a:t>
            </a:r>
          </a:p>
          <a:p xmlns:a="http://schemas.openxmlformats.org/drawingml/2006/main">
            <a:r>
              <a:t>- /Users/wanglei/Downloads/phones-cloud/openerx/README.md</a:t>
            </a:r>
          </a:p>
          <a:p xmlns:a="http://schemas.openxmlformats.org/drawingml/2006/main">
            <a:r>
              <a:t>- /Users/wanglei/Downloads/phones-cloud/openerx/docs/v2/01-product-contract.md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Enterprise positioning follows the user's explicit clarification; implementation claims in later slides stay within repository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- /Users/wanglei/Downloads/phones-cloud/openerx/docs/v2/03-experience-and-information-architecture.md</a:t>
            </a:r>
          </a:p>
          <a:p xmlns:a="http://schemas.openxmlformats.org/drawingml/2006/main">
            <a:r>
              <a:t>- /Users/wanglei/Downloads/phones-cloud/openerx/docs/v2/10-codex-capability-baseline.md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three enterprise blockers are a synthesis of the repository's documented user scenarios, interaction model, and tool/security gaps; no quantified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/Users/wanglei/Downloads/phones-cloud/openerx/docs/v2/01-product-contract.md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- /Users/wanglei/Downloads/phones-cloud/openerx/docs/v2/03-experience-and-information-architecture.md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/Users/wanglei/Downloads/phones-cloud/openerx/docs/v2/14-overall-architecture.md</a:t>
            </a:r>
          </a:p>
          <a:p xmlns:a="http://schemas.openxmlformats.org/drawingml/2006/main">
            <a:r>
              <a:t>- /Users/wanglei/Downloads/phones-cloud/openerx/docs/v2/15-remote-control-contract.md</a:t>
            </a:r>
          </a:p>
          <a:p xmlns:a="http://schemas.openxmlformats.org/drawingml/2006/main">
            <a:r>
              <a:t>- /Users/wanglei/Downloads/phones-cloud/openerx/services/README.md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/Users/wanglei/Downloads/phones-cloud/openerx/docs/v2/03-experience-and-information-architecture.md</a:t>
            </a:r>
          </a:p>
          <a:p xmlns:a="http://schemas.openxmlformats.org/drawingml/2006/main">
            <a:r>
              <a:t>- /Users/wanglei/Downloads/phones-cloud/openerx/design-qa.md</a:t>
            </a:r>
          </a:p>
          <a:p xmlns:a="http://schemas.openxmlformats.org/drawingml/2006/main">
            <a:r>
              <a:t>- /tmp/openerx-sidebar-qa.XsH9XW/full-comparison.png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slide embeds only the right-hand current local Electron new-task screen from the comparison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/Users/wanglei/Downloads/phones-cloud/openerx/docs/v2/10-codex-capability-baseline.md</a:t>
            </a:r>
          </a:p>
          <a:p xmlns:a="http://schemas.openxmlformats.org/drawingml/2006/main">
            <a:r>
              <a:t>- /Users/wanglei/Downloads/phones-cloud/openerx/docs/v2/16-codex-aligned-implementation-assessment.md</a:t>
            </a:r>
          </a:p>
          <a:p xmlns:a="http://schemas.openxmlformats.org/drawingml/2006/main">
            <a:r>
              <a:t>- /Users/wanglei/Downloads/phones-cloud/openerx/docs/v2/01-product-contract.md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/Users/wanglei/Downloads/phones-cloud/openerx/docs/v2/06-security-and-governance-contract.md</a:t>
            </a:r>
          </a:p>
          <a:p xmlns:a="http://schemas.openxmlformats.org/drawingml/2006/main">
            <a:r>
              <a:t>- /Users/wanglei/Downloads/phones-cloud/openerx/docs/v2/14-overall-architecture.md</a:t>
            </a:r>
          </a:p>
          <a:p xmlns:a="http://schemas.openxmlformats.org/drawingml/2006/main">
            <a:r>
              <a:t>- /Users/wanglei/Downloads/phones-cloud/openerx/docs/v2/10-codex-capability-baseline.md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/Users/wanglei/Downloads/phones-cloud/openerx/docs/v2/11-billing-and-commerce-contract.md</a:t>
            </a:r>
          </a:p>
          <a:p xmlns:a="http://schemas.openxmlformats.org/drawingml/2006/main">
            <a:r>
              <a:t>- /Users/wanglei/Downloads/phones-cloud/openerx/docs/v2/14-overall-architecture.md</a:t>
            </a:r>
          </a:p>
          <a:p xmlns:a="http://schemas.openxmlformats.org/drawingml/2006/main">
            <a:r>
              <a:t>- /Users/wanglei/Downloads/phones-cloud/openerx/services/model-gateway/README.md</a:t>
            </a:r>
          </a:p>
          <a:p xmlns:a="http://schemas.openxmlformats.org/drawingml/2006/main">
            <a:r>
              <a:t>- /Users/wanglei/Downloads/phones-cloud/openerx/services/billing-ledger-service/README.md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Enterprise cost transparency is presented as a platform foundation, not as a completed organization budget center or administrator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/Users/wanglei/Downloads/phones-cloud/openerx/docs/v2/15-remote-control-contract.md</a:t>
            </a:r>
          </a:p>
          <a:p xmlns:a="http://schemas.openxmlformats.org/drawingml/2006/main">
            <a:r>
              <a:t>- /Users/wanglei/Downloads/phones-cloud/openerx/docs/v2/14-overall-architecture.md</a:t>
            </a:r>
          </a:p>
          <a:p xmlns:a="http://schemas.openxmlformats.org/drawingml/2006/main">
            <a:r>
              <a:t>- /Users/wanglei/Downloads/phones-cloud/openerx/docs/v2/evidence/m6-2026-08-26.md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/Users/wanglei/Downloads/phones-cloud/openerx/docs/v2/01-product-contract.md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- /Users/wanglei/Downloads/phones-cloud/openerx/docs/v2/06-security-and-governance-contract.md</a:t>
            </a:r>
          </a:p>
          <a:p xmlns:a="http://schemas.openxmlformats.org/drawingml/2006/main">
            <a:r>
              <a:t>- /Users/wanglei/Downloads/phones-cloud/openerx/docs/v2/11-billing-and-commerce-contract.md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Role-level value statements are product synthesis. The slide does not claim completed organization dashboards, budget centers, SSO, or administrator governance.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/Users/wanglei/Downloads/phones-cloud/openerx/README.md</a:t>
            </a:r>
          </a:p>
          <a:p xmlns:a="http://schemas.openxmlformats.org/drawingml/2006/main">
            <a:r>
              <a:t>- /Users/wanglei/Downloads/phones-cloud/openerx/docs/v2/16-codex-aligned-implementation-assessment.md</a:t>
            </a:r>
          </a:p>
          <a:p xmlns:a="http://schemas.openxmlformats.org/drawingml/2006/main">
            <a:r>
              <a:t>- /Users/wanglei/Downloads/phones-cloud/openerx/docs/v2/06-security-and-governance-contract.md</a:t>
            </a:r>
          </a:p>
          <a:p xmlns:a="http://schemas.openxmlformats.org/drawingml/2006/main">
            <a:r>
              <a:t>- /Users/wanglei/Downloads/phones-cloud/openerx/docs/v2/15-remote-control-contract.md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enterprise governance stage is explicitly roadmap-only. Current status remains local implementation checkpoint / release gates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the product narrative and the user's enterprise positioning.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- /Users/wanglei/Downloads/phones-cloud/openerx/docs/v2/16-codex-aligned-implementation-assessment.md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1988b0dec41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b0d4fcf9784bdf" /><Relationship Type="http://schemas.openxmlformats.org/officeDocument/2006/relationships/slideLayout" Target="/ppt/slideLayouts/slideLayout1.xml" Id="Rf38b19ae8cc549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8b19ae8cc549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0e0e24b51465b" /><Relationship Type="http://schemas.openxmlformats.org/officeDocument/2006/relationships/image" Target="/ppt/media/image.png" Id="Re458ef7c329641cc" /><Relationship Type="http://schemas.openxmlformats.org/officeDocument/2006/relationships/notesSlide" Target="/ppt/notesSlides/notesSlide1.xml" Id="R1e041780fd3e40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1404a7a6942f5" /><Relationship Type="http://schemas.openxmlformats.org/officeDocument/2006/relationships/notesSlide" Target="/ppt/notesSlides/notesSlide2.xml" Id="Rd90d649bf56144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24e6ab85a4fc6" /><Relationship Type="http://schemas.openxmlformats.org/officeDocument/2006/relationships/notesSlide" Target="/ppt/notesSlides/notesSlide3.xml" Id="R7ba2d0bbc4ff45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2f128c2a74421" /><Relationship Type="http://schemas.openxmlformats.org/officeDocument/2006/relationships/notesSlide" Target="/ppt/notesSlides/notesSlide4.xml" Id="R57a1232b2cae4f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4f5a5609c4077" /><Relationship Type="http://schemas.openxmlformats.org/officeDocument/2006/relationships/image" Target="/ppt/media/image2.png" Id="R953d55d1774046f9" /><Relationship Type="http://schemas.openxmlformats.org/officeDocument/2006/relationships/notesSlide" Target="/ppt/notesSlides/notesSlide5.xml" Id="R4a7e255fac3f4f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375d387e84ce6" /><Relationship Type="http://schemas.openxmlformats.org/officeDocument/2006/relationships/notesSlide" Target="/ppt/notesSlides/notesSlide6.xml" Id="R42622da0866748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3f2c1b17d4808" /><Relationship Type="http://schemas.openxmlformats.org/officeDocument/2006/relationships/notesSlide" Target="/ppt/notesSlides/notesSlide7.xml" Id="Rdc16720152b54d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2be886c9d472e" /><Relationship Type="http://schemas.openxmlformats.org/officeDocument/2006/relationships/notesSlide" Target="/ppt/notesSlides/notesSlide8.xml" Id="R75fb44b3a77040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ffe07cb8a4555" /><Relationship Type="http://schemas.openxmlformats.org/officeDocument/2006/relationships/notesSlide" Target="/ppt/notesSlides/notesSlide9.xml" Id="Rc202563bbc5140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e35b6b6814915" /><Relationship Type="http://schemas.openxmlformats.org/officeDocument/2006/relationships/notesSlide" Target="/ppt/notesSlides/notesSlide10.xml" Id="R82d327707fc441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87860efbc4a62" /><Relationship Type="http://schemas.openxmlformats.org/officeDocument/2006/relationships/notesSlide" Target="/ppt/notesSlides/notesSlide11.xml" Id="Rd720fbc3925643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4ebed5c764c3c" /><Relationship Type="http://schemas.openxmlformats.org/officeDocument/2006/relationships/image" Target="/ppt/media/image3.png" Id="Rf651ac89fdc84180" /><Relationship Type="http://schemas.openxmlformats.org/officeDocument/2006/relationships/notesSlide" Target="/ppt/notesSlides/notesSlide12.xml" Id="Rf92ac72b111c4b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8ef7c329641cc"/>
          <a:stretch xmlns:a="http://schemas.openxmlformats.org/drawingml/2006/main"/>
        </p:blipFill>
        <p:spPr>
          <a:xfrm xmlns:a="http://schemas.openxmlformats.org/drawingml/2006/main">
            <a:off x="533400" y="431483"/>
            <a:ext cx="419100" cy="356235"/>
          </a:xfrm>
          <a:prstGeom xmlns:a="http://schemas.openxmlformats.org/drawingml/2006/main" prst="rect">
            <a:avLst/>
          </a:prstGeom>
        </p:spPr>
      </p:pic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0A0847EB-F3BA-4302-9DEB-D9FB7EC4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3531E4D3-F342-4300-B2D4-B9985FD1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产品说明 · 2026.08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E14B95A3-EAB3-4A9D-94D6-8AAB738E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rule-accent">
            <a:extLst xmlns:a="http://schemas.openxmlformats.org/drawingml/2006/main">
              <a:ext uri="{FF2B5EF4-FFF2-40B4-BE49-F238E27FC236}">
                <a16:creationId xmlns:a16="http://schemas.microsoft.com/office/drawing/2014/main" id="{8BFC5FEB-2A5F-4420-8FB0-B5A1E25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open-erx">
            <a:extLst xmlns:a="http://schemas.openxmlformats.org/drawingml/2006/main">
              <a:ext uri="{FF2B5EF4-FFF2-40B4-BE49-F238E27FC236}">
                <a16:creationId xmlns:a16="http://schemas.microsoft.com/office/drawing/2014/main" id="{EF9FF1B6-9B6A-43F8-B180-9C676678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BB19BB-0FDB-451C-8125-7FAE8CA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企业 AI 工作平台</a:t>
            </a:r>
          </a:p>
        </p:txBody>
      </p:sp>
      <p:sp>
        <p:nvSpPr>
          <p:cNvPr id="8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38180EE3-9CDE-4A19-93B1-2133FE69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让模型、知识、工具与终端执行，成为可交付、可治理的企业工作能力。</a:t>
            </a:r>
          </a:p>
        </p:txBody>
      </p:sp>
      <p:sp>
        <p:nvSpPr>
          <p:cNvPr id="9" name="cover-capabilities">
            <a:extLst xmlns:a="http://schemas.openxmlformats.org/drawingml/2006/main">
              <a:ext uri="{FF2B5EF4-FFF2-40B4-BE49-F238E27FC236}">
                <a16:creationId xmlns:a16="http://schemas.microsoft.com/office/drawing/2014/main" id="{38858BD5-45F8-43A4-A047-82D74A08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员工工作入口   ·   受控执行主机   ·   平台服务与治理</a:t>
            </a:r>
          </a:p>
        </p:txBody>
      </p:sp>
      <p:sp>
        <p:nvSpPr>
          <p:cNvPr id="10" name="cover-page">
            <a:extLst xmlns:a="http://schemas.openxmlformats.org/drawingml/2006/main">
              <a:ext uri="{FF2B5EF4-FFF2-40B4-BE49-F238E27FC236}">
                <a16:creationId xmlns:a16="http://schemas.microsoft.com/office/drawing/2014/main" id="{E6900D64-9F46-4440-A3AC-F1FE576A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4902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7C1B07D0-E94A-40ED-A96C-E2BEF01E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AI 价值不在模型上线，而在工作闭环建立</a:t>
            </a:r>
          </a:p>
        </p:txBody>
      </p:sp>
      <p:sp>
        <p:nvSpPr>
          <p:cNvPr id="2" name="accent-rule-2">
            <a:extLst xmlns:a="http://schemas.openxmlformats.org/drawingml/2006/main">
              <a:ext uri="{FF2B5EF4-FFF2-40B4-BE49-F238E27FC236}">
                <a16:creationId xmlns:a16="http://schemas.microsoft.com/office/drawing/2014/main" id="{DDC1F6F3-04C4-4141-829A-08AA6A67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2">
            <a:extLst xmlns:a="http://schemas.openxmlformats.org/drawingml/2006/main">
              <a:ext uri="{FF2B5EF4-FFF2-40B4-BE49-F238E27FC236}">
                <a16:creationId xmlns:a16="http://schemas.microsoft.com/office/drawing/2014/main" id="{B0B39ADA-8675-4210-87DE-F9E683B5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企业 AI 试点常常能完成“问答”，却难以进入真实文件、系统、工具和交付流程。</a:t>
            </a:r>
          </a:p>
        </p:txBody>
      </p:sp>
      <p:sp>
        <p:nvSpPr>
          <p:cNvPr id="4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EA42AE49-01F5-4635-8A29-B7A86F79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企业 AI 工作平台</a:t>
            </a:r>
          </a:p>
        </p:txBody>
      </p:sp>
      <p:sp>
        <p:nvSpPr>
          <p:cNvPr id="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6BE150B5-CC27-4DF3-9994-CD459C15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problem-sep-1">
            <a:extLst xmlns:a="http://schemas.openxmlformats.org/drawingml/2006/main">
              <a:ext uri="{FF2B5EF4-FFF2-40B4-BE49-F238E27FC236}">
                <a16:creationId xmlns:a16="http://schemas.microsoft.com/office/drawing/2014/main" id="{2D65C514-EC58-4871-8730-BD993212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85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sep-2">
            <a:extLst xmlns:a="http://schemas.openxmlformats.org/drawingml/2006/main">
              <a:ext uri="{FF2B5EF4-FFF2-40B4-BE49-F238E27FC236}">
                <a16:creationId xmlns:a16="http://schemas.microsoft.com/office/drawing/2014/main" id="{E008A45C-BBD3-4D35-94EF-627BFFC1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1-number">
            <a:extLst xmlns:a="http://schemas.openxmlformats.org/drawingml/2006/main">
              <a:ext uri="{FF2B5EF4-FFF2-40B4-BE49-F238E27FC236}">
                <a16:creationId xmlns:a16="http://schemas.microsoft.com/office/drawing/2014/main" id="{9D7F0D1E-6A8C-4C55-9022-5C5F533C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problem-1-heading">
            <a:extLst xmlns:a="http://schemas.openxmlformats.org/drawingml/2006/main">
              <a:ext uri="{FF2B5EF4-FFF2-40B4-BE49-F238E27FC236}">
                <a16:creationId xmlns:a16="http://schemas.microsoft.com/office/drawing/2014/main" id="{32092C96-8D8C-49C6-A48C-B7910AB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入口碎片</a:t>
            </a:r>
          </a:p>
        </p:txBody>
      </p:sp>
      <p:sp>
        <p:nvSpPr>
          <p:cNvPr id="10" name="problem-1-body">
            <a:extLst xmlns:a="http://schemas.openxmlformats.org/drawingml/2006/main">
              <a:ext uri="{FF2B5EF4-FFF2-40B4-BE49-F238E27FC236}">
                <a16:creationId xmlns:a16="http://schemas.microsoft.com/office/drawing/2014/main" id="{148FAC08-0CE9-4D13-ABC5-CD8791E1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员工在聊天、文件、浏览器、业务系统之间反复搬运信息，AI 没有持续上下文。</a:t>
            </a:r>
          </a:p>
        </p:txBody>
      </p:sp>
      <p:sp>
        <p:nvSpPr>
          <p:cNvPr id="11" name="problem-2-number">
            <a:extLst xmlns:a="http://schemas.openxmlformats.org/drawingml/2006/main">
              <a:ext uri="{FF2B5EF4-FFF2-40B4-BE49-F238E27FC236}">
                <a16:creationId xmlns:a16="http://schemas.microsoft.com/office/drawing/2014/main" id="{4C612EDE-3B69-49E5-BF83-FAFD25C0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problem-2-heading">
            <a:extLst xmlns:a="http://schemas.openxmlformats.org/drawingml/2006/main">
              <a:ext uri="{FF2B5EF4-FFF2-40B4-BE49-F238E27FC236}">
                <a16:creationId xmlns:a16="http://schemas.microsoft.com/office/drawing/2014/main" id="{C348970F-A3D7-46BA-B8E0-9F3623C7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执行脱节</a:t>
            </a:r>
          </a:p>
        </p:txBody>
      </p:sp>
      <p:sp>
        <p:nvSpPr>
          <p:cNvPr id="13" name="problem-2-body">
            <a:extLst xmlns:a="http://schemas.openxmlformats.org/drawingml/2006/main">
              <a:ext uri="{FF2B5EF4-FFF2-40B4-BE49-F238E27FC236}">
                <a16:creationId xmlns:a16="http://schemas.microsoft.com/office/drawing/2014/main" id="{3CFA868F-ED75-4E2E-81E7-E561DE99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模型可以给建议，却不能在授权边界内完成检索、计算、修改、生成与验证。</a:t>
            </a:r>
          </a:p>
        </p:txBody>
      </p:sp>
      <p:sp>
        <p:nvSpPr>
          <p:cNvPr id="14" name="problem-3-number">
            <a:extLst xmlns:a="http://schemas.openxmlformats.org/drawingml/2006/main">
              <a:ext uri="{FF2B5EF4-FFF2-40B4-BE49-F238E27FC236}">
                <a16:creationId xmlns:a16="http://schemas.microsoft.com/office/drawing/2014/main" id="{45FFD0BE-7B56-4EA5-8313-2955544A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problem-3-heading">
            <a:extLst xmlns:a="http://schemas.openxmlformats.org/drawingml/2006/main">
              <a:ext uri="{FF2B5EF4-FFF2-40B4-BE49-F238E27FC236}">
                <a16:creationId xmlns:a16="http://schemas.microsoft.com/office/drawing/2014/main" id="{CD767033-6B86-4C75-9CB0-8A1FFAF0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治理滞后</a:t>
            </a:r>
          </a:p>
        </p:txBody>
      </p:sp>
      <p:sp>
        <p:nvSpPr>
          <p:cNvPr id="16" name="problem-3-body">
            <a:extLst xmlns:a="http://schemas.openxmlformats.org/drawingml/2006/main">
              <a:ext uri="{FF2B5EF4-FFF2-40B4-BE49-F238E27FC236}">
                <a16:creationId xmlns:a16="http://schemas.microsoft.com/office/drawing/2014/main" id="{FE768F52-BA6B-4BD8-BF8A-9946C527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模型来源、工具权限、用量成本和外部副作用分散，难以形成统一责任链。</a:t>
            </a:r>
          </a:p>
        </p:txBody>
      </p:sp>
      <p:sp>
        <p:nvSpPr>
          <p:cNvPr id="17" name="problem-bottom-band">
            <a:extLst xmlns:a="http://schemas.openxmlformats.org/drawingml/2006/main">
              <a:ext uri="{FF2B5EF4-FFF2-40B4-BE49-F238E27FC236}">
                <a16:creationId xmlns:a16="http://schemas.microsoft.com/office/drawing/2014/main" id="{3841BFAD-5877-40C8-935B-0F7DB1BF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blem-bottom-copy">
            <a:extLst xmlns:a="http://schemas.openxmlformats.org/drawingml/2006/main">
              <a:ext uri="{FF2B5EF4-FFF2-40B4-BE49-F238E27FC236}">
                <a16:creationId xmlns:a16="http://schemas.microsoft.com/office/drawing/2014/main" id="{6BB696BD-FD7B-47B9-A924-A762A222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结果：员工仍在复制粘贴，数据与工具没有真正进入 AI 工作流。</a:t>
            </a:r>
          </a:p>
        </p:txBody>
      </p:sp>
    </p:spTree>
    <p:extLst>
      <p:ext uri="{BB962C8B-B14F-4D97-AF65-F5344CB8AC3E}">
        <p14:creationId xmlns:p14="http://schemas.microsoft.com/office/powerpoint/2010/main" val="173593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7DCCE31B-BF04-49EE-AE20-CAA1A3BA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一个入口，贯穿提问、执行、交付与复用</a:t>
            </a:r>
          </a:p>
        </p:txBody>
      </p:sp>
      <p:sp>
        <p:nvSpPr>
          <p:cNvPr id="2" name="accent-rule-3">
            <a:extLst xmlns:a="http://schemas.openxmlformats.org/drawingml/2006/main">
              <a:ext uri="{FF2B5EF4-FFF2-40B4-BE49-F238E27FC236}">
                <a16:creationId xmlns:a16="http://schemas.microsoft.com/office/drawing/2014/main" id="{26CF1C83-3352-4072-8027-D12665E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3">
            <a:extLst xmlns:a="http://schemas.openxmlformats.org/drawingml/2006/main">
              <a:ext uri="{FF2B5EF4-FFF2-40B4-BE49-F238E27FC236}">
                <a16:creationId xmlns:a16="http://schemas.microsoft.com/office/drawing/2014/main" id="{DF57EB9E-2D71-4057-8208-D05C7A50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把员工的自然语言需求转化为一条可恢复、可审阅、可继续的工作链。</a:t>
            </a:r>
          </a:p>
        </p:txBody>
      </p:sp>
      <p:sp>
        <p:nvSpPr>
          <p:cNvPr id="4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68E46532-32E0-4740-8B44-2080EAAC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企业 AI 工作平台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D4A7076B-576A-4D38-B679-05C7A23C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0020A568-65D1-425F-BCAB-153D97E2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dot-0">
            <a:extLst xmlns:a="http://schemas.openxmlformats.org/drawingml/2006/main">
              <a:ext uri="{FF2B5EF4-FFF2-40B4-BE49-F238E27FC236}">
                <a16:creationId xmlns:a16="http://schemas.microsoft.com/office/drawing/2014/main" id="{4DEA3807-FE0E-44E3-AA7E-1C4997F3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9E93B1FF-94A0-4FD1-B5A2-CD7A9B71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AC98CE6C-0CC3-489F-8252-169204E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orkflow-label-56">
            <a:extLst xmlns:a="http://schemas.openxmlformats.org/drawingml/2006/main">
              <a:ext uri="{FF2B5EF4-FFF2-40B4-BE49-F238E27FC236}">
                <a16:creationId xmlns:a16="http://schemas.microsoft.com/office/drawing/2014/main" id="{D92481A5-56E9-49CF-9268-A7408AEE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01 · 表达目标</a:t>
            </a:r>
          </a:p>
        </p:txBody>
      </p:sp>
      <p:sp>
        <p:nvSpPr>
          <p:cNvPr id="11" name="workflow-title-56">
            <a:extLst xmlns:a="http://schemas.openxmlformats.org/drawingml/2006/main">
              <a:ext uri="{FF2B5EF4-FFF2-40B4-BE49-F238E27FC236}">
                <a16:creationId xmlns:a16="http://schemas.microsoft.com/office/drawing/2014/main" id="{626A2741-CEE0-4C5A-8329-618B13DA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像聊天一样开始</a:t>
            </a:r>
          </a:p>
        </p:txBody>
      </p:sp>
      <p:sp>
        <p:nvSpPr>
          <p:cNvPr id="12" name="workflow-body-56">
            <a:extLst xmlns:a="http://schemas.openxmlformats.org/drawingml/2006/main">
              <a:ext uri="{FF2B5EF4-FFF2-40B4-BE49-F238E27FC236}">
                <a16:creationId xmlns:a16="http://schemas.microsoft.com/office/drawing/2014/main" id="{A7514D4A-6FA7-48D4-BBC4-F4BF31D8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说明任务，添加文件或工作区；系统保持对话、分支和上下文。</a:t>
            </a:r>
          </a:p>
        </p:txBody>
      </p:sp>
      <p:sp>
        <p:nvSpPr>
          <p:cNvPr id="13" name="workflow-label-464">
            <a:extLst xmlns:a="http://schemas.openxmlformats.org/drawingml/2006/main">
              <a:ext uri="{FF2B5EF4-FFF2-40B4-BE49-F238E27FC236}">
                <a16:creationId xmlns:a16="http://schemas.microsoft.com/office/drawing/2014/main" id="{61E7A5EF-6924-4D94-95CD-0D01D11F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02 · 受控执行</a:t>
            </a:r>
          </a:p>
        </p:txBody>
      </p:sp>
      <p:sp>
        <p:nvSpPr>
          <p:cNvPr id="14" name="workflow-title-464">
            <a:extLst xmlns:a="http://schemas.openxmlformats.org/drawingml/2006/main">
              <a:ext uri="{FF2B5EF4-FFF2-40B4-BE49-F238E27FC236}">
                <a16:creationId xmlns:a16="http://schemas.microsoft.com/office/drawing/2014/main" id="{0A6EA3EE-2210-41CA-85AB-CE2348B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模型与工具协同</a:t>
            </a:r>
          </a:p>
        </p:txBody>
      </p:sp>
      <p:sp>
        <p:nvSpPr>
          <p:cNvPr id="15" name="workflow-body-464">
            <a:extLst xmlns:a="http://schemas.openxmlformats.org/drawingml/2006/main">
              <a:ext uri="{FF2B5EF4-FFF2-40B4-BE49-F238E27FC236}">
                <a16:creationId xmlns:a16="http://schemas.microsoft.com/office/drawing/2014/main" id="{78C6EF90-3FB2-4DF7-BAFE-702B3548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在授权范围内调用文件、网页、浏览器与桌面应用；Shell、MCP 和 Skill 复用同一审批链。</a:t>
            </a:r>
          </a:p>
        </p:txBody>
      </p:sp>
      <p:sp>
        <p:nvSpPr>
          <p:cNvPr id="16" name="workflow-label-872">
            <a:extLst xmlns:a="http://schemas.openxmlformats.org/drawingml/2006/main">
              <a:ext uri="{FF2B5EF4-FFF2-40B4-BE49-F238E27FC236}">
                <a16:creationId xmlns:a16="http://schemas.microsoft.com/office/drawing/2014/main" id="{4A565C65-CDA8-4C5B-B826-D9F0572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03 · 成果沉淀</a:t>
            </a:r>
          </a:p>
        </p:txBody>
      </p:sp>
      <p:sp>
        <p:nvSpPr>
          <p:cNvPr id="17" name="workflow-title-872">
            <a:extLst xmlns:a="http://schemas.openxmlformats.org/drawingml/2006/main">
              <a:ext uri="{FF2B5EF4-FFF2-40B4-BE49-F238E27FC236}">
                <a16:creationId xmlns:a16="http://schemas.microsoft.com/office/drawing/2014/main" id="{D87CBDC7-71E8-4740-A55A-D5EC6965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结果可交付、可复用</a:t>
            </a:r>
          </a:p>
        </p:txBody>
      </p:sp>
      <p:sp>
        <p:nvSpPr>
          <p:cNvPr id="18" name="workflow-body-872">
            <a:extLst xmlns:a="http://schemas.openxmlformats.org/drawingml/2006/main">
              <a:ext uri="{FF2B5EF4-FFF2-40B4-BE49-F238E27FC236}">
                <a16:creationId xmlns:a16="http://schemas.microsoft.com/office/drawing/2014/main" id="{4B1CBD29-D110-4260-85C0-DADC3CFD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回答、Diff、测试与 Office / PDF 成果，连同运行记录统一回到对话和成果库。</a:t>
            </a:r>
          </a:p>
        </p:txBody>
      </p:sp>
      <p:sp>
        <p:nvSpPr>
          <p:cNvPr id="19" name="workflow-close">
            <a:extLst xmlns:a="http://schemas.openxmlformats.org/drawingml/2006/main">
              <a:ext uri="{FF2B5EF4-FFF2-40B4-BE49-F238E27FC236}">
                <a16:creationId xmlns:a16="http://schemas.microsoft.com/office/drawing/2014/main" id="{284BF645-B36A-48C5-AAFA-9BDD9493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同一条工作链同时保留状态、权限、用量与成果身份。</a:t>
            </a:r>
          </a:p>
        </p:txBody>
      </p:sp>
    </p:spTree>
    <p:extLst>
      <p:ext uri="{BB962C8B-B14F-4D97-AF65-F5344CB8AC3E}">
        <p14:creationId xmlns:p14="http://schemas.microsoft.com/office/powerpoint/2010/main" val="1350997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FDCEC48B-ACCA-49BF-8AE1-99158E4E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 把员工体验、受控执行与平台服务组合成一体</a:t>
            </a:r>
          </a:p>
        </p:txBody>
      </p:sp>
      <p:sp>
        <p:nvSpPr>
          <p:cNvPr id="2" name="accent-rule-4">
            <a:extLst xmlns:a="http://schemas.openxmlformats.org/drawingml/2006/main">
              <a:ext uri="{FF2B5EF4-FFF2-40B4-BE49-F238E27FC236}">
                <a16:creationId xmlns:a16="http://schemas.microsoft.com/office/drawing/2014/main" id="{4C1C4116-ECAC-4E68-AC19-3D3D7882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4">
            <a:extLst xmlns:a="http://schemas.openxmlformats.org/drawingml/2006/main">
              <a:ext uri="{FF2B5EF4-FFF2-40B4-BE49-F238E27FC236}">
                <a16:creationId xmlns:a16="http://schemas.microsoft.com/office/drawing/2014/main" id="{56A18A6D-BA1A-4FCE-A845-034A2A3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前台保持简单，复杂度沉到执行宿主、能力 Broker 与平台服务中。</a:t>
            </a:r>
          </a:p>
        </p:txBody>
      </p:sp>
      <p:sp>
        <p:nvSpPr>
          <p:cNvPr id="4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13E38EBA-10EA-4E40-AEE6-3E673763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企业 AI 工作平台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F9C5220D-8CB1-4232-BFBE-30981A5E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9B0EAE43-5A0B-4395-B719-2DB58755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5742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480351C8-0FE2-4539-A8C5-DBD05BAC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5277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E9F32DC3-136C-4E77-8B1C-AF863924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4812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itecture-band-0">
            <a:extLst xmlns:a="http://schemas.openxmlformats.org/drawingml/2006/main">
              <a:ext uri="{FF2B5EF4-FFF2-40B4-BE49-F238E27FC236}">
                <a16:creationId xmlns:a16="http://schemas.microsoft.com/office/drawing/2014/main" id="{EF3603EF-7CE8-4739-8B4D-E8785B3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0" name="architecture-label-0">
            <a:extLst xmlns:a="http://schemas.openxmlformats.org/drawingml/2006/main">
              <a:ext uri="{FF2B5EF4-FFF2-40B4-BE49-F238E27FC236}">
                <a16:creationId xmlns:a16="http://schemas.microsoft.com/office/drawing/2014/main" id="{58EFAF7B-38BD-453B-AB8F-FA09C303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员工工作入口</a:t>
            </a:r>
          </a:p>
        </p:txBody>
      </p:sp>
      <p:sp>
        <p:nvSpPr>
          <p:cNvPr id="11" name="architecture-content-0">
            <a:extLst xmlns:a="http://schemas.openxmlformats.org/drawingml/2006/main">
              <a:ext uri="{FF2B5EF4-FFF2-40B4-BE49-F238E27FC236}">
                <a16:creationId xmlns:a16="http://schemas.microsoft.com/office/drawing/2014/main" id="{4DE3186D-7662-4FEA-AE26-F259FBE7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049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Windows / macOS Desktop   ·   iOS / Android Remote Companion</a:t>
            </a:r>
          </a:p>
        </p:txBody>
      </p:sp>
      <p:sp>
        <p:nvSpPr>
          <p:cNvPr id="12" name="architecture-band-1">
            <a:extLst xmlns:a="http://schemas.openxmlformats.org/drawingml/2006/main">
              <a:ext uri="{FF2B5EF4-FFF2-40B4-BE49-F238E27FC236}">
                <a16:creationId xmlns:a16="http://schemas.microsoft.com/office/drawing/2014/main" id="{A68EDAD7-31AA-40F8-B8BD-12EDBAB4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3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82D4DAD8-04C5-42E0-AFFA-E41B8FFE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产品状态与成果</a:t>
            </a:r>
          </a:p>
        </p:txBody>
      </p:sp>
      <p:sp>
        <p:nvSpPr>
          <p:cNvPr id="14" name="architecture-content-1">
            <a:extLst xmlns:a="http://schemas.openxmlformats.org/drawingml/2006/main">
              <a:ext uri="{FF2B5EF4-FFF2-40B4-BE49-F238E27FC236}">
                <a16:creationId xmlns:a16="http://schemas.microsoft.com/office/drawing/2014/main" id="{50B2B439-A211-448A-9347-9B0717CF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003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Conversation   ·   Message   ·   Search   ·   File   ·   Artifact   ·   Task / Run</a:t>
            </a:r>
          </a:p>
        </p:txBody>
      </p:sp>
      <p:sp>
        <p:nvSpPr>
          <p:cNvPr id="15" name="architecture-band-2">
            <a:extLst xmlns:a="http://schemas.openxmlformats.org/drawingml/2006/main">
              <a:ext uri="{FF2B5EF4-FFF2-40B4-BE49-F238E27FC236}">
                <a16:creationId xmlns:a16="http://schemas.microsoft.com/office/drawing/2014/main" id="{34086989-B083-4FF4-85BC-CB007935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6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21D12A9E-F9DB-42A9-BC26-98EB5D42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受控 Agent 执行</a:t>
            </a:r>
          </a:p>
        </p:txBody>
      </p:sp>
      <p:sp>
        <p:nvSpPr>
          <p:cNvPr id="17" name="architecture-content-2">
            <a:extLst xmlns:a="http://schemas.openxmlformats.org/drawingml/2006/main">
              <a:ext uri="{FF2B5EF4-FFF2-40B4-BE49-F238E27FC236}">
                <a16:creationId xmlns:a16="http://schemas.microsoft.com/office/drawing/2014/main" id="{E849B26F-1C92-4608-A332-D6E59D01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956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Isolated Pi Host   ·   Capability Broker   ·   File / Web / Browser / Shell / Desktop / MCP / Skill</a:t>
            </a:r>
          </a:p>
        </p:txBody>
      </p:sp>
      <p:sp>
        <p:nvSpPr>
          <p:cNvPr id="18" name="architecture-band-3">
            <a:extLst xmlns:a="http://schemas.openxmlformats.org/drawingml/2006/main">
              <a:ext uri="{FF2B5EF4-FFF2-40B4-BE49-F238E27FC236}">
                <a16:creationId xmlns:a16="http://schemas.microsoft.com/office/drawing/2014/main" id="{8BAAF8FE-0475-4BE8-9BA0-8C8D350E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112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5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9" name="architecture-label-3">
            <a:extLst xmlns:a="http://schemas.openxmlformats.org/drawingml/2006/main">
              <a:ext uri="{FF2B5EF4-FFF2-40B4-BE49-F238E27FC236}">
                <a16:creationId xmlns:a16="http://schemas.microsoft.com/office/drawing/2014/main" id="{0F885EA0-74A1-4B14-B2DD-05E3F760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企业平台服务</a:t>
            </a:r>
          </a:p>
        </p:txBody>
      </p:sp>
      <p:sp>
        <p:nvSpPr>
          <p:cNvPr id="20" name="architecture-content-3">
            <a:extLst xmlns:a="http://schemas.openxmlformats.org/drawingml/2006/main">
              <a:ext uri="{FF2B5EF4-FFF2-40B4-BE49-F238E27FC236}">
                <a16:creationId xmlns:a16="http://schemas.microsoft.com/office/drawing/2014/main" id="{BF82ACF2-3B56-4D79-9120-C557711B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9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Identity · Account Sync · Model Gateway · Usage · Pricing · Billing Ledger</a:t>
            </a:r>
          </a:p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Object Store · Remote Gateway · Notification</a:t>
            </a:r>
          </a:p>
        </p:txBody>
      </p:sp>
      <p:sp>
        <p:nvSpPr>
          <p:cNvPr id="21" name="architecture-meaning">
            <a:extLst xmlns:a="http://schemas.openxmlformats.org/drawingml/2006/main">
              <a:ext uri="{FF2B5EF4-FFF2-40B4-BE49-F238E27FC236}">
                <a16:creationId xmlns:a16="http://schemas.microsoft.com/office/drawing/2014/main" id="{6EC52B61-77AF-4592-9CA6-A44D7B3B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核心原则：桌面是执行主机，手机是控制面；模型凭证、用量与账本由平台服务掌握。</a:t>
            </a:r>
          </a:p>
        </p:txBody>
      </p:sp>
    </p:spTree>
    <p:extLst>
      <p:ext uri="{BB962C8B-B14F-4D97-AF65-F5344CB8AC3E}">
        <p14:creationId xmlns:p14="http://schemas.microsoft.com/office/powerpoint/2010/main" val="1953682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4ECC3E91-C949-42A4-8B3B-84B6707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员工只需表达目标，平台负责组织上下文与执行</a:t>
            </a:r>
          </a:p>
        </p:txBody>
      </p:sp>
      <p:sp>
        <p:nvSpPr>
          <p:cNvPr id="2" name="accent-rule-5">
            <a:extLst xmlns:a="http://schemas.openxmlformats.org/drawingml/2006/main">
              <a:ext uri="{FF2B5EF4-FFF2-40B4-BE49-F238E27FC236}">
                <a16:creationId xmlns:a16="http://schemas.microsoft.com/office/drawing/2014/main" id="{7DE49DD3-D0BA-440B-92AC-B6D1C057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5">
            <a:extLst xmlns:a="http://schemas.openxmlformats.org/drawingml/2006/main">
              <a:ext uri="{FF2B5EF4-FFF2-40B4-BE49-F238E27FC236}">
                <a16:creationId xmlns:a16="http://schemas.microsoft.com/office/drawing/2014/main" id="{D8074E2B-F875-498C-AAB9-946B30D8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聊天优先的工作台把文件、工具活动、成果和长任务状态留在同一上下文。</a:t>
            </a:r>
          </a:p>
        </p:txBody>
      </p:sp>
      <p:sp>
        <p:nvSpPr>
          <p:cNvPr id="4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028307A9-1C5D-4804-8E13-E8E8B9B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企业 AI 工作平台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98CF9E60-A4D6-40E2-A5C7-83EF9124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6" name="experience-heading">
            <a:extLst xmlns:a="http://schemas.openxmlformats.org/drawingml/2006/main">
              <a:ext uri="{FF2B5EF4-FFF2-40B4-BE49-F238E27FC236}">
                <a16:creationId xmlns:a16="http://schemas.microsoft.com/office/drawing/2014/main" id="{25F9A5F9-1460-4BEA-BDF4-5C9934C8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自然语言成为统一入口</a:t>
            </a:r>
          </a:p>
        </p:txBody>
      </p:sp>
      <p:sp>
        <p:nvSpPr>
          <p:cNvPr id="7" name="experience-bullets">
            <a:extLst xmlns:a="http://schemas.openxmlformats.org/drawingml/2006/main">
              <a:ext uri="{FF2B5EF4-FFF2-40B4-BE49-F238E27FC236}">
                <a16:creationId xmlns:a16="http://schemas.microsoft.com/office/drawing/2014/main" id="{4BA62A0F-0A9E-42FD-983A-FFA99336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714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打开即可开始，不先创建项目或工作流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文件、成果、引用与工具过程保持可见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长任务可停止、继续、恢复并审阅状态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历史、搜索和同步支持跨设备继续</a:t>
            </a:r>
          </a:p>
        </p:txBody>
      </p:sp>
      <p:sp>
        <p:nvSpPr>
          <p:cNvPr id="8" name="experience-callout">
            <a:extLst xmlns:a="http://schemas.openxmlformats.org/drawingml/2006/main">
              <a:ext uri="{FF2B5EF4-FFF2-40B4-BE49-F238E27FC236}">
                <a16:creationId xmlns:a16="http://schemas.microsoft.com/office/drawing/2014/main" id="{E13756C2-8ECE-480E-855C-8D37CFE0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perience-callout-text">
            <a:extLst xmlns:a="http://schemas.openxmlformats.org/drawingml/2006/main">
              <a:ext uri="{FF2B5EF4-FFF2-40B4-BE49-F238E27FC236}">
                <a16:creationId xmlns:a16="http://schemas.microsoft.com/office/drawing/2014/main" id="{38C754BA-8B31-48E6-8D5F-10E5161A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292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员工看到的是工作结果，而不是 Agent 基础设施。</a:t>
            </a:r>
          </a:p>
        </p:txBody>
      </p:sp>
      <p:sp>
        <p:nvSpPr>
          <p:cNvPr id="10" name="experience-image-frame">
            <a:extLst xmlns:a="http://schemas.openxmlformats.org/drawingml/2006/main">
              <a:ext uri="{FF2B5EF4-FFF2-40B4-BE49-F238E27FC236}">
                <a16:creationId xmlns:a16="http://schemas.microsoft.com/office/drawing/2014/main" id="{10A88EF1-BC1B-4ECB-AD63-51BED47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466850"/>
            <a:ext cx="7038975" cy="4676775"/>
          </a:xfrm>
          <a:prstGeom xmlns:a="http://schemas.openxmlformats.org/drawingml/2006/main" prst="roundRect">
            <a:avLst>
              <a:gd name="adj" fmla="val 2851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d55d1774046f9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1075" y="1562100"/>
            <a:ext cx="6848475" cy="4533900"/>
          </a:xfrm>
          <a:prstGeom xmlns:a="http://schemas.openxmlformats.org/drawingml/2006/main" prst="roundRect">
            <a:avLst>
              <a:gd name="adj" fmla="val 2101"/>
            </a:avLst>
          </a:prstGeom>
        </p:spPr>
      </p:pic>
      <p:sp>
        <p:nvSpPr>
          <p:cNvPr id="12" name="experience-caption">
            <a:extLst xmlns:a="http://schemas.openxmlformats.org/drawingml/2006/main">
              <a:ext uri="{FF2B5EF4-FFF2-40B4-BE49-F238E27FC236}">
                <a16:creationId xmlns:a16="http://schemas.microsoft.com/office/drawing/2014/main" id="{C8CAED29-5444-47B9-A7CD-A609944D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62675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桌面端实测截图 · 新任务页（2026-08-26）</a:t>
            </a:r>
          </a:p>
        </p:txBody>
      </p:sp>
    </p:spTree>
    <p:extLst>
      <p:ext uri="{BB962C8B-B14F-4D97-AF65-F5344CB8AC3E}">
        <p14:creationId xmlns:p14="http://schemas.microsoft.com/office/powerpoint/2010/main" val="207463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0840D395-D992-4786-90ED-5FB8065B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从知识问答到成果生产，能力沿同一安全链路扩展</a:t>
            </a:r>
          </a:p>
        </p:txBody>
      </p:sp>
      <p:sp>
        <p:nvSpPr>
          <p:cNvPr id="2" name="accent-rule-6">
            <a:extLst xmlns:a="http://schemas.openxmlformats.org/drawingml/2006/main">
              <a:ext uri="{FF2B5EF4-FFF2-40B4-BE49-F238E27FC236}">
                <a16:creationId xmlns:a16="http://schemas.microsoft.com/office/drawing/2014/main" id="{A1D32CCF-3D57-438B-A1F8-C046D9D6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6">
            <a:extLst xmlns:a="http://schemas.openxmlformats.org/drawingml/2006/main">
              <a:ext uri="{FF2B5EF4-FFF2-40B4-BE49-F238E27FC236}">
                <a16:creationId xmlns:a16="http://schemas.microsoft.com/office/drawing/2014/main" id="{D3C5C184-EE04-4EE7-B205-06C658C3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文件、工具、Skill 与终端能力不是外挂入口，而是同一对话里的受控工作能力。</a:t>
            </a:r>
          </a:p>
        </p:txBody>
      </p:sp>
      <p:sp>
        <p:nvSpPr>
          <p:cNvPr id="4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F3473CEA-5D6C-40AB-B6A4-BD1B30B0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企业 AI 工作平台</a:t>
            </a:r>
          </a:p>
        </p:txBody>
      </p:sp>
      <p:sp>
        <p:nvSpPr>
          <p:cNvPr id="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DFEEC4F3-F97F-438E-8348-03B21F0A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cap-left-panel">
            <a:extLst xmlns:a="http://schemas.openxmlformats.org/drawingml/2006/main">
              <a:ext uri="{FF2B5EF4-FFF2-40B4-BE49-F238E27FC236}">
                <a16:creationId xmlns:a16="http://schemas.microsoft.com/office/drawing/2014/main" id="{3F3701AA-2004-4C25-92D2-73EDFBDD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52578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7" name="cap-right-panel">
            <a:extLst xmlns:a="http://schemas.openxmlformats.org/drawingml/2006/main">
              <a:ext uri="{FF2B5EF4-FFF2-40B4-BE49-F238E27FC236}">
                <a16:creationId xmlns:a16="http://schemas.microsoft.com/office/drawing/2014/main" id="{71AE5DA9-820D-4AAD-80F9-DEA569DE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52578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D5FF"/>
            </a:solidFill>
            <a:prstDash val="solid"/>
          </a:ln>
        </p:spPr>
      </p:sp>
      <p:sp>
        <p:nvSpPr>
          <p:cNvPr id="8" name="cap-left-title">
            <a:extLst xmlns:a="http://schemas.openxmlformats.org/drawingml/2006/main">
              <a:ext uri="{FF2B5EF4-FFF2-40B4-BE49-F238E27FC236}">
                <a16:creationId xmlns:a16="http://schemas.microsoft.com/office/drawing/2014/main" id="{C43B3FED-1732-47AC-A09E-6F3F6E6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理解与生成</a:t>
            </a:r>
          </a:p>
        </p:txBody>
      </p:sp>
      <p:sp>
        <p:nvSpPr>
          <p:cNvPr id="9" name="cap-left-body">
            <a:extLst xmlns:a="http://schemas.openxmlformats.org/drawingml/2006/main">
              <a:ext uri="{FF2B5EF4-FFF2-40B4-BE49-F238E27FC236}">
                <a16:creationId xmlns:a16="http://schemas.microsoft.com/office/drawing/2014/main" id="{66FB1B51-E00F-4D33-85BE-B1ACE6E3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4476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对话、分支、编辑、重生成与搜索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PDF / Office / 图片 / 代码等文件理解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文档、表格、PPT、PDF 与图片成果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个人 / 工作区 Skill 的触发与版本</a:t>
            </a:r>
          </a:p>
        </p:txBody>
      </p:sp>
      <p:sp>
        <p:nvSpPr>
          <p:cNvPr id="10" name="cap-right-title">
            <a:extLst xmlns:a="http://schemas.openxmlformats.org/drawingml/2006/main">
              <a:ext uri="{FF2B5EF4-FFF2-40B4-BE49-F238E27FC236}">
                <a16:creationId xmlns:a16="http://schemas.microsoft.com/office/drawing/2014/main" id="{42D8813E-D342-455F-9435-BA7575D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执行与连接</a:t>
            </a:r>
          </a:p>
        </p:txBody>
      </p:sp>
      <p:sp>
        <p:nvSpPr>
          <p:cNvPr id="11" name="cap-right-body">
            <a:extLst xmlns:a="http://schemas.openxmlformats.org/drawingml/2006/main">
              <a:ext uri="{FF2B5EF4-FFF2-40B4-BE49-F238E27FC236}">
                <a16:creationId xmlns:a16="http://schemas.microsoft.com/office/drawing/2014/main" id="{E15D72EA-4437-467B-84B4-C42731F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Web 与 Browser Computer-Use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授权工作区、Patch、Diff 与 Shell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桌面应用操作与截图证据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本地 / 远程 MCP 与工具目录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工具活动、停止、重试与幂等</a:t>
            </a:r>
          </a:p>
        </p:txBody>
      </p:sp>
      <p:sp>
        <p:nvSpPr>
          <p:cNvPr id="12" name="cap-bottom-panel">
            <a:extLst xmlns:a="http://schemas.openxmlformats.org/drawingml/2006/main">
              <a:ext uri="{FF2B5EF4-FFF2-40B4-BE49-F238E27FC236}">
                <a16:creationId xmlns:a16="http://schemas.microsoft.com/office/drawing/2014/main" id="{CAE711A0-126A-4FD8-B0F2-E9EA1DEB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-bottom-title">
            <a:extLst xmlns:a="http://schemas.openxmlformats.org/drawingml/2006/main">
              <a:ext uri="{FF2B5EF4-FFF2-40B4-BE49-F238E27FC236}">
                <a16:creationId xmlns:a16="http://schemas.microsoft.com/office/drawing/2014/main" id="{9A09B73A-7F94-42E7-85D8-CE5C663C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统一安全语义</a:t>
            </a:r>
          </a:p>
        </p:txBody>
      </p:sp>
      <p:sp>
        <p:nvSpPr>
          <p:cNvPr id="14" name="cap-bottom-body">
            <a:extLst xmlns:a="http://schemas.openxmlformats.org/drawingml/2006/main">
              <a:ext uri="{FF2B5EF4-FFF2-40B4-BE49-F238E27FC236}">
                <a16:creationId xmlns:a16="http://schemas.microsoft.com/office/drawing/2014/main" id="{2F24D5BA-0E89-4061-85CE-17DAFCA9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244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范围 · 审批 · 沙箱 · 审计 · 幂等 · 未知结果保护</a:t>
            </a:r>
          </a:p>
        </p:txBody>
      </p:sp>
    </p:spTree>
    <p:extLst>
      <p:ext uri="{BB962C8B-B14F-4D97-AF65-F5344CB8AC3E}">
        <p14:creationId xmlns:p14="http://schemas.microsoft.com/office/powerpoint/2010/main" val="1021907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03E44CCF-4156-4182-99C8-7630361B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执行靠近数据，权限收敛在可治理边界</a:t>
            </a:r>
          </a:p>
        </p:txBody>
      </p:sp>
      <p:sp>
        <p:nvSpPr>
          <p:cNvPr id="2" name="accent-rule-7">
            <a:extLst xmlns:a="http://schemas.openxmlformats.org/drawingml/2006/main">
              <a:ext uri="{FF2B5EF4-FFF2-40B4-BE49-F238E27FC236}">
                <a16:creationId xmlns:a16="http://schemas.microsoft.com/office/drawing/2014/main" id="{47605466-E7CA-4BCE-9524-01B7EDB1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7">
            <a:extLst xmlns:a="http://schemas.openxmlformats.org/drawingml/2006/main">
              <a:ext uri="{FF2B5EF4-FFF2-40B4-BE49-F238E27FC236}">
                <a16:creationId xmlns:a16="http://schemas.microsoft.com/office/drawing/2014/main" id="{D40949A9-A68F-4585-94C9-3FF2EB8F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安全不是执行后的审计补丁，而是模型、工具、文件与设备能力共同遵守的运行合同。</a:t>
            </a:r>
          </a:p>
        </p:txBody>
      </p:sp>
      <p:sp>
        <p:nvSpPr>
          <p:cNvPr id="4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AE73E90F-FC54-4D9E-8C30-06414525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企业 AI 工作平台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81DC73DE-85A3-48A1-BC14-4FDCAA9F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security-sep-1">
            <a:extLst xmlns:a="http://schemas.openxmlformats.org/drawingml/2006/main">
              <a:ext uri="{FF2B5EF4-FFF2-40B4-BE49-F238E27FC236}">
                <a16:creationId xmlns:a16="http://schemas.microsoft.com/office/drawing/2014/main" id="{A647EFC0-6F05-4A89-B68E-AB03D943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716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curity-sep-2">
            <a:extLst xmlns:a="http://schemas.openxmlformats.org/drawingml/2006/main">
              <a:ext uri="{FF2B5EF4-FFF2-40B4-BE49-F238E27FC236}">
                <a16:creationId xmlns:a16="http://schemas.microsoft.com/office/drawing/2014/main" id="{57DEF44C-A5E0-4C95-B2BF-BD5D861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716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urity-1-number">
            <a:extLst xmlns:a="http://schemas.openxmlformats.org/drawingml/2006/main">
              <a:ext uri="{FF2B5EF4-FFF2-40B4-BE49-F238E27FC236}">
                <a16:creationId xmlns:a16="http://schemas.microsoft.com/office/drawing/2014/main" id="{8707F1F0-2841-463A-B799-FC3495E2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security-1-heading">
            <a:extLst xmlns:a="http://schemas.openxmlformats.org/drawingml/2006/main">
              <a:ext uri="{FF2B5EF4-FFF2-40B4-BE49-F238E27FC236}">
                <a16:creationId xmlns:a16="http://schemas.microsoft.com/office/drawing/2014/main" id="{A6C64BA2-BD20-46E5-8742-11FC35EE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桌面受控执行</a:t>
            </a:r>
          </a:p>
        </p:txBody>
      </p:sp>
      <p:sp>
        <p:nvSpPr>
          <p:cNvPr id="10" name="security-1-body">
            <a:extLst xmlns:a="http://schemas.openxmlformats.org/drawingml/2006/main">
              <a:ext uri="{FF2B5EF4-FFF2-40B4-BE49-F238E27FC236}">
                <a16:creationId xmlns:a16="http://schemas.microsoft.com/office/drawing/2014/main" id="{C6FC74F6-F9B5-46A9-9A4B-222E884E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隔离执行宿主与文件、Shell、浏览器、桌面能力运行在授权主机；Renderer 不直接访问 Node、文件系统或密钥。</a:t>
            </a:r>
          </a:p>
        </p:txBody>
      </p:sp>
      <p:sp>
        <p:nvSpPr>
          <p:cNvPr id="11" name="security-2-number">
            <a:extLst xmlns:a="http://schemas.openxmlformats.org/drawingml/2006/main">
              <a:ext uri="{FF2B5EF4-FFF2-40B4-BE49-F238E27FC236}">
                <a16:creationId xmlns:a16="http://schemas.microsoft.com/office/drawing/2014/main" id="{5AA1C409-E028-48A5-93F6-B8B78E3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security-2-heading">
            <a:extLst xmlns:a="http://schemas.openxmlformats.org/drawingml/2006/main">
              <a:ext uri="{FF2B5EF4-FFF2-40B4-BE49-F238E27FC236}">
                <a16:creationId xmlns:a16="http://schemas.microsoft.com/office/drawing/2014/main" id="{1244F2CC-73CD-4B2C-9931-D336B93F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统一能力 Broker</a:t>
            </a:r>
          </a:p>
        </p:txBody>
      </p:sp>
      <p:sp>
        <p:nvSpPr>
          <p:cNvPr id="13" name="security-2-body">
            <a:extLst xmlns:a="http://schemas.openxmlformats.org/drawingml/2006/main">
              <a:ext uri="{FF2B5EF4-FFF2-40B4-BE49-F238E27FC236}">
                <a16:creationId xmlns:a16="http://schemas.microsoft.com/office/drawing/2014/main" id="{0421433C-C8D0-47E2-B3FE-44BAA13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所有敏感能力复用 Scope、审批、OS 沙箱、审计与副作用幂等；Skill 和 MCP 不得旁路。</a:t>
            </a:r>
          </a:p>
        </p:txBody>
      </p:sp>
      <p:sp>
        <p:nvSpPr>
          <p:cNvPr id="14" name="security-3-number">
            <a:extLst xmlns:a="http://schemas.openxmlformats.org/drawingml/2006/main">
              <a:ext uri="{FF2B5EF4-FFF2-40B4-BE49-F238E27FC236}">
                <a16:creationId xmlns:a16="http://schemas.microsoft.com/office/drawing/2014/main" id="{124D374E-35F2-4435-AAFC-148AEB66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security-3-heading">
            <a:extLst xmlns:a="http://schemas.openxmlformats.org/drawingml/2006/main">
              <a:ext uri="{FF2B5EF4-FFF2-40B4-BE49-F238E27FC236}">
                <a16:creationId xmlns:a16="http://schemas.microsoft.com/office/drawing/2014/main" id="{240D2CBF-FFAC-4B9C-B7B8-8BF06284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云端保存真值</a:t>
            </a:r>
          </a:p>
        </p:txBody>
      </p:sp>
      <p:sp>
        <p:nvSpPr>
          <p:cNvPr id="16" name="security-3-body">
            <a:extLst xmlns:a="http://schemas.openxmlformats.org/drawingml/2006/main">
              <a:ext uri="{FF2B5EF4-FFF2-40B4-BE49-F238E27FC236}">
                <a16:creationId xmlns:a16="http://schemas.microsoft.com/office/drawing/2014/main" id="{B33CAB30-D649-4996-90B6-6EAB2055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身份、模型凭证、Usage、价格、账本与支付结果由平台服务掌握；客户端只读最终商业结果。</a:t>
            </a:r>
          </a:p>
        </p:txBody>
      </p:sp>
      <p:sp>
        <p:nvSpPr>
          <p:cNvPr id="17" name="security-bottom">
            <a:extLst xmlns:a="http://schemas.openxmlformats.org/drawingml/2006/main">
              <a:ext uri="{FF2B5EF4-FFF2-40B4-BE49-F238E27FC236}">
                <a16:creationId xmlns:a16="http://schemas.microsoft.com/office/drawing/2014/main" id="{13CA7E42-841B-4639-8998-CA68BA88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95925"/>
            <a:ext cx="11125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curity-bottom-text">
            <a:extLst xmlns:a="http://schemas.openxmlformats.org/drawingml/2006/main">
              <a:ext uri="{FF2B5EF4-FFF2-40B4-BE49-F238E27FC236}">
                <a16:creationId xmlns:a16="http://schemas.microsoft.com/office/drawing/2014/main" id="{2F54B065-4BDA-405E-8C19-AB0459B9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设备权限不随账户同步  ·  Provider 密钥仅在服务端  ·  高影响外部动作逐次确认</a:t>
            </a:r>
          </a:p>
        </p:txBody>
      </p:sp>
    </p:spTree>
    <p:extLst>
      <p:ext uri="{BB962C8B-B14F-4D97-AF65-F5344CB8AC3E}">
        <p14:creationId xmlns:p14="http://schemas.microsoft.com/office/powerpoint/2010/main" val="1466918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6F4717E5-5B46-413C-A755-78178D2F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模型可替换，用量与成本可追溯</a:t>
            </a:r>
          </a:p>
        </p:txBody>
      </p:sp>
      <p:sp>
        <p:nvSpPr>
          <p:cNvPr id="2" name="accent-rule-8">
            <a:extLst xmlns:a="http://schemas.openxmlformats.org/drawingml/2006/main">
              <a:ext uri="{FF2B5EF4-FFF2-40B4-BE49-F238E27FC236}">
                <a16:creationId xmlns:a16="http://schemas.microsoft.com/office/drawing/2014/main" id="{67B5C1E3-F0CA-4C63-8279-46449FD6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8">
            <a:extLst xmlns:a="http://schemas.openxmlformats.org/drawingml/2006/main">
              <a:ext uri="{FF2B5EF4-FFF2-40B4-BE49-F238E27FC236}">
                <a16:creationId xmlns:a16="http://schemas.microsoft.com/office/drawing/2014/main" id="{A5D46853-9A74-43F2-9A73-DE4215A1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把模型路由、权威用量和商业核算从客户端分离，形成可审计的平台服务链。</a:t>
            </a:r>
          </a:p>
        </p:txBody>
      </p:sp>
      <p:sp>
        <p:nvSpPr>
          <p:cNvPr id="4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3CF72EFA-4400-4C10-AF48-49D106FD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企业 AI 工作平台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ABD20EF0-CCD4-4E7D-B590-8DA4B1D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cost-arrow-1">
            <a:extLst xmlns:a="http://schemas.openxmlformats.org/drawingml/2006/main">
              <a:ext uri="{FF2B5EF4-FFF2-40B4-BE49-F238E27FC236}">
                <a16:creationId xmlns:a16="http://schemas.microsoft.com/office/drawing/2014/main" id="{C9F94FF5-6D5E-4D0E-A99C-251CEEC5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st-arrow-2">
            <a:extLst xmlns:a="http://schemas.openxmlformats.org/drawingml/2006/main">
              <a:ext uri="{FF2B5EF4-FFF2-40B4-BE49-F238E27FC236}">
                <a16:creationId xmlns:a16="http://schemas.microsoft.com/office/drawing/2014/main" id="{F303FCCB-C7DE-490B-9031-8336EF7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st-card-0">
            <a:extLst xmlns:a="http://schemas.openxmlformats.org/drawingml/2006/main">
              <a:ext uri="{FF2B5EF4-FFF2-40B4-BE49-F238E27FC236}">
                <a16:creationId xmlns:a16="http://schemas.microsoft.com/office/drawing/2014/main" id="{9EA72DBA-E2F7-46A6-9C34-33B2A38E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9" name="cost-title-0">
            <a:extLst xmlns:a="http://schemas.openxmlformats.org/drawingml/2006/main">
              <a:ext uri="{FF2B5EF4-FFF2-40B4-BE49-F238E27FC236}">
                <a16:creationId xmlns:a16="http://schemas.microsoft.com/office/drawing/2014/main" id="{11032FF6-710B-4247-83A9-94F815EF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01 · 模型网关</a:t>
            </a:r>
          </a:p>
        </p:txBody>
      </p:sp>
      <p:sp>
        <p:nvSpPr>
          <p:cNvPr id="10" name="cost-body-0">
            <a:extLst xmlns:a="http://schemas.openxmlformats.org/drawingml/2006/main">
              <a:ext uri="{FF2B5EF4-FFF2-40B4-BE49-F238E27FC236}">
                <a16:creationId xmlns:a16="http://schemas.microsoft.com/office/drawing/2014/main" id="{3E588E15-6805-4B0E-98BE-DC4910B5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模型目录与能力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平台凭证与路由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选择模型 / 实际模型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显式降级与回退</a:t>
            </a:r>
          </a:p>
        </p:txBody>
      </p:sp>
      <p:sp>
        <p:nvSpPr>
          <p:cNvPr id="11" name="cost-card-1">
            <a:extLst xmlns:a="http://schemas.openxmlformats.org/drawingml/2006/main">
              <a:ext uri="{FF2B5EF4-FFF2-40B4-BE49-F238E27FC236}">
                <a16:creationId xmlns:a16="http://schemas.microsoft.com/office/drawing/2014/main" id="{22463D64-5908-4A2B-91D8-53079AB3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2" name="cost-title-1">
            <a:extLst xmlns:a="http://schemas.openxmlformats.org/drawingml/2006/main">
              <a:ext uri="{FF2B5EF4-FFF2-40B4-BE49-F238E27FC236}">
                <a16:creationId xmlns:a16="http://schemas.microsoft.com/office/drawing/2014/main" id="{0040C8F4-EAEF-45DD-903C-BD523DE0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 · 权威用量</a:t>
            </a:r>
          </a:p>
        </p:txBody>
      </p:sp>
      <p:sp>
        <p:nvSpPr>
          <p:cNvPr id="13" name="cost-body-1">
            <a:extLst xmlns:a="http://schemas.openxmlformats.org/drawingml/2006/main">
              <a:ext uri="{FF2B5EF4-FFF2-40B4-BE49-F238E27FC236}">
                <a16:creationId xmlns:a16="http://schemas.microsoft.com/office/drawing/2014/main" id="{3CFAE115-D90F-446C-B711-EEDBB67F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权威 Token 记录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调用去重与聚合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对话 / 模型维度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失败与停止仍可追溯</a:t>
            </a:r>
          </a:p>
        </p:txBody>
      </p:sp>
      <p:sp>
        <p:nvSpPr>
          <p:cNvPr id="14" name="cost-card-2">
            <a:extLst xmlns:a="http://schemas.openxmlformats.org/drawingml/2006/main">
              <a:ext uri="{FF2B5EF4-FFF2-40B4-BE49-F238E27FC236}">
                <a16:creationId xmlns:a16="http://schemas.microsoft.com/office/drawing/2014/main" id="{1AA328DF-D248-4CD8-AD6A-F2CB5B7C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5" name="cost-title-2">
            <a:extLst xmlns:a="http://schemas.openxmlformats.org/drawingml/2006/main">
              <a:ext uri="{FF2B5EF4-FFF2-40B4-BE49-F238E27FC236}">
                <a16:creationId xmlns:a16="http://schemas.microsoft.com/office/drawing/2014/main" id="{5C1C06DA-9F85-48AC-8BDF-B004AF7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 · 报价与账本</a:t>
            </a:r>
          </a:p>
        </p:txBody>
      </p:sp>
      <p:sp>
        <p:nvSpPr>
          <p:cNvPr id="16" name="cost-body-2">
            <a:extLst xmlns:a="http://schemas.openxmlformats.org/drawingml/2006/main">
              <a:ext uri="{FF2B5EF4-FFF2-40B4-BE49-F238E27FC236}">
                <a16:creationId xmlns:a16="http://schemas.microsoft.com/office/drawing/2014/main" id="{3FBE9293-240E-4453-9E8A-45DF51E8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执行前报价与预留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价格快照冻结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按真实用量结算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Charge 与账单记录</a:t>
            </a:r>
          </a:p>
        </p:txBody>
      </p:sp>
      <p:sp>
        <p:nvSpPr>
          <p:cNvPr id="17" name="cost-bottom">
            <a:extLst xmlns:a="http://schemas.openxmlformats.org/drawingml/2006/main">
              <a:ext uri="{FF2B5EF4-FFF2-40B4-BE49-F238E27FC236}">
                <a16:creationId xmlns:a16="http://schemas.microsoft.com/office/drawing/2014/main" id="{491B0463-5425-4AA8-B9F2-50A7F232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8" name="cost-bottom-text">
            <a:extLst xmlns:a="http://schemas.openxmlformats.org/drawingml/2006/main">
              <a:ext uri="{FF2B5EF4-FFF2-40B4-BE49-F238E27FC236}">
                <a16:creationId xmlns:a16="http://schemas.microsoft.com/office/drawing/2014/main" id="{AEAC8A56-A08E-4CBF-A0B6-53518173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员工无需维护 Provider API Key；平台获得统一接入、真实用量与成本透明的基础。</a:t>
            </a:r>
          </a:p>
        </p:txBody>
      </p:sp>
    </p:spTree>
    <p:extLst>
      <p:ext uri="{BB962C8B-B14F-4D97-AF65-F5344CB8AC3E}">
        <p14:creationId xmlns:p14="http://schemas.microsoft.com/office/powerpoint/2010/main" val="243530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AABC45A0-A03B-4C6D-AE81-14E6224C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手机是控制面，桌面是执行面</a:t>
            </a:r>
          </a:p>
        </p:txBody>
      </p:sp>
      <p:sp>
        <p:nvSpPr>
          <p:cNvPr id="2" name="accent-rule-9">
            <a:extLst xmlns:a="http://schemas.openxmlformats.org/drawingml/2006/main">
              <a:ext uri="{FF2B5EF4-FFF2-40B4-BE49-F238E27FC236}">
                <a16:creationId xmlns:a16="http://schemas.microsoft.com/office/drawing/2014/main" id="{3BF973F8-2A09-4CB2-BF56-7995328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9">
            <a:extLst xmlns:a="http://schemas.openxmlformats.org/drawingml/2006/main">
              <a:ext uri="{FF2B5EF4-FFF2-40B4-BE49-F238E27FC236}">
                <a16:creationId xmlns:a16="http://schemas.microsoft.com/office/drawing/2014/main" id="{E266BA31-D8D7-4C89-BC1E-129CED54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员工离开电脑后仍可查看、引导、排队、停止、审批和审阅在线桌面任务。</a:t>
            </a:r>
          </a:p>
        </p:txBody>
      </p:sp>
      <p:sp>
        <p:nvSpPr>
          <p:cNvPr id="4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8D3F3C88-A6DB-4911-BE47-69D5F48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企业 AI 工作平台</a:t>
            </a:r>
          </a:p>
        </p:txBody>
      </p:sp>
      <p:sp>
        <p:nvSpPr>
          <p:cNvPr id="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90724ECE-4C73-4721-8F80-9ACDFBF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6" name="remote-arrow-1">
            <a:extLst xmlns:a="http://schemas.openxmlformats.org/drawingml/2006/main">
              <a:ext uri="{FF2B5EF4-FFF2-40B4-BE49-F238E27FC236}">
                <a16:creationId xmlns:a16="http://schemas.microsoft.com/office/drawing/2014/main" id="{B50842BD-8176-4267-8BDD-6BC8AE77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337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mote-arrow-2">
            <a:extLst xmlns:a="http://schemas.openxmlformats.org/drawingml/2006/main">
              <a:ext uri="{FF2B5EF4-FFF2-40B4-BE49-F238E27FC236}">
                <a16:creationId xmlns:a16="http://schemas.microsoft.com/office/drawing/2014/main" id="{B5A6190D-7C7D-4F5A-8077-F217B75B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337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mote-link-label">
            <a:extLst xmlns:a="http://schemas.openxmlformats.org/drawingml/2006/main">
              <a:ext uri="{FF2B5EF4-FFF2-40B4-BE49-F238E27FC236}">
                <a16:creationId xmlns:a16="http://schemas.microsoft.com/office/drawing/2014/main" id="{C881A5BC-6511-4000-97BB-82873563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TLS + 端到端加密命令与事件</a:t>
            </a:r>
          </a:p>
        </p:txBody>
      </p:sp>
      <p:sp>
        <p:nvSpPr>
          <p:cNvPr id="9" name="remote-node-0">
            <a:extLst xmlns:a="http://schemas.openxmlformats.org/drawingml/2006/main">
              <a:ext uri="{FF2B5EF4-FFF2-40B4-BE49-F238E27FC236}">
                <a16:creationId xmlns:a16="http://schemas.microsoft.com/office/drawing/2014/main" id="{DC27DFC5-A9EC-435A-AEAF-42ABE1CB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0" name="remote-title-0">
            <a:extLst xmlns:a="http://schemas.openxmlformats.org/drawingml/2006/main">
              <a:ext uri="{FF2B5EF4-FFF2-40B4-BE49-F238E27FC236}">
                <a16:creationId xmlns:a16="http://schemas.microsoft.com/office/drawing/2014/main" id="{9429C900-364D-48B7-810F-7C4E615A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手机 Remote</a:t>
            </a:r>
          </a:p>
        </p:txBody>
      </p:sp>
      <p:sp>
        <p:nvSpPr>
          <p:cNvPr id="11" name="remote-sub-0">
            <a:extLst xmlns:a="http://schemas.openxmlformats.org/drawingml/2006/main">
              <a:ext uri="{FF2B5EF4-FFF2-40B4-BE49-F238E27FC236}">
                <a16:creationId xmlns:a16="http://schemas.microsoft.com/office/drawing/2014/main" id="{1E4CD614-5ED3-4A7A-AED5-38CF5BE9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12" name="remote-body-0">
            <a:extLst xmlns:a="http://schemas.openxmlformats.org/drawingml/2006/main">
              <a:ext uri="{FF2B5EF4-FFF2-40B4-BE49-F238E27FC236}">
                <a16:creationId xmlns:a16="http://schemas.microsoft.com/office/drawing/2014/main" id="{9888F2F8-CFE4-4FB8-8AF2-914194FE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主机 / 任务 / 收件箱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Queue · Steer · Stop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审批、审阅与通知</a:t>
            </a:r>
          </a:p>
        </p:txBody>
      </p:sp>
      <p:sp>
        <p:nvSpPr>
          <p:cNvPr id="13" name="remote-node-1">
            <a:extLst xmlns:a="http://schemas.openxmlformats.org/drawingml/2006/main">
              <a:ext uri="{FF2B5EF4-FFF2-40B4-BE49-F238E27FC236}">
                <a16:creationId xmlns:a16="http://schemas.microsoft.com/office/drawing/2014/main" id="{72951FAC-FC8A-4DBB-93FF-DFED6AF9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4" name="remote-title-1">
            <a:extLst xmlns:a="http://schemas.openxmlformats.org/drawingml/2006/main">
              <a:ext uri="{FF2B5EF4-FFF2-40B4-BE49-F238E27FC236}">
                <a16:creationId xmlns:a16="http://schemas.microsoft.com/office/drawing/2014/main" id="{61469EE9-2D6A-47AA-B3AD-64B3E9AE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密文网关</a:t>
            </a:r>
          </a:p>
        </p:txBody>
      </p:sp>
      <p:sp>
        <p:nvSpPr>
          <p:cNvPr id="15" name="remote-sub-1">
            <a:extLst xmlns:a="http://schemas.openxmlformats.org/drawingml/2006/main">
              <a:ext uri="{FF2B5EF4-FFF2-40B4-BE49-F238E27FC236}">
                <a16:creationId xmlns:a16="http://schemas.microsoft.com/office/drawing/2014/main" id="{D734A8AC-6234-4E2A-9DB4-EEED9E3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密文 Relay</a:t>
            </a:r>
          </a:p>
        </p:txBody>
      </p:sp>
      <p:sp>
        <p:nvSpPr>
          <p:cNvPr id="16" name="remote-body-1">
            <a:extLst xmlns:a="http://schemas.openxmlformats.org/drawingml/2006/main">
              <a:ext uri="{FF2B5EF4-FFF2-40B4-BE49-F238E27FC236}">
                <a16:creationId xmlns:a16="http://schemas.microsoft.com/office/drawing/2014/main" id="{078D0E37-A11D-48B7-927B-42F28F04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Presence 与路由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短 TTL、回执与游标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不解密业务正文</a:t>
            </a:r>
          </a:p>
        </p:txBody>
      </p:sp>
      <p:sp>
        <p:nvSpPr>
          <p:cNvPr id="17" name="remote-node-2">
            <a:extLst xmlns:a="http://schemas.openxmlformats.org/drawingml/2006/main">
              <a:ext uri="{FF2B5EF4-FFF2-40B4-BE49-F238E27FC236}">
                <a16:creationId xmlns:a16="http://schemas.microsoft.com/office/drawing/2014/main" id="{89ECB91E-A666-49BB-85E0-29B1423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8" name="remote-title-2">
            <a:extLst xmlns:a="http://schemas.openxmlformats.org/drawingml/2006/main">
              <a:ext uri="{FF2B5EF4-FFF2-40B4-BE49-F238E27FC236}">
                <a16:creationId xmlns:a16="http://schemas.microsoft.com/office/drawing/2014/main" id="{F21F54D7-08C0-4FC2-8A1D-96FD995D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桌面执行主机</a:t>
            </a:r>
          </a:p>
        </p:txBody>
      </p:sp>
      <p:sp>
        <p:nvSpPr>
          <p:cNvPr id="19" name="remote-sub-2">
            <a:extLst xmlns:a="http://schemas.openxmlformats.org/drawingml/2006/main">
              <a:ext uri="{FF2B5EF4-FFF2-40B4-BE49-F238E27FC236}">
                <a16:creationId xmlns:a16="http://schemas.microsoft.com/office/drawing/2014/main" id="{BF08CCB2-BBC9-40C4-9E09-8CF361E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唯一执行面</a:t>
            </a:r>
          </a:p>
        </p:txBody>
      </p:sp>
      <p:sp>
        <p:nvSpPr>
          <p:cNvPr id="20" name="remote-body-2">
            <a:extLst xmlns:a="http://schemas.openxmlformats.org/drawingml/2006/main">
              <a:ext uri="{FF2B5EF4-FFF2-40B4-BE49-F238E27FC236}">
                <a16:creationId xmlns:a16="http://schemas.microsoft.com/office/drawing/2014/main" id="{F4CB80BA-04E7-4BBD-873B-8C7F963B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Pi / File / Tool / Shell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Capability Broker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模型、用量与成果</a:t>
            </a:r>
          </a:p>
        </p:txBody>
      </p:sp>
      <p:sp>
        <p:nvSpPr>
          <p:cNvPr id="21" name="remote-boundary">
            <a:extLst xmlns:a="http://schemas.openxmlformats.org/drawingml/2006/main">
              <a:ext uri="{FF2B5EF4-FFF2-40B4-BE49-F238E27FC236}">
                <a16:creationId xmlns:a16="http://schemas.microsoft.com/office/drawing/2014/main" id="{F347F414-C0A1-4E2E-B2A0-CC386883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mote-boundary-text">
            <a:extLst xmlns:a="http://schemas.openxmlformats.org/drawingml/2006/main">
              <a:ext uri="{FF2B5EF4-FFF2-40B4-BE49-F238E27FC236}">
                <a16:creationId xmlns:a16="http://schemas.microsoft.com/office/drawing/2014/main" id="{30217977-69F4-4AC1-BAA5-E15F5A03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531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F531C"/>
                </a:solidFill>
                <a:latin typeface="PingFang SC"/>
                <a:ea typeface="PingFang SC"/>
                <a:cs typeface="PingFang SC"/>
              </a:rPr>
              <a:t>边界：主机必须在线；不提供远程桌面、SSH、远程唤醒或主机离线代跑。</a:t>
            </a:r>
          </a:p>
        </p:txBody>
      </p:sp>
    </p:spTree>
    <p:extLst>
      <p:ext uri="{BB962C8B-B14F-4D97-AF65-F5344CB8AC3E}">
        <p14:creationId xmlns:p14="http://schemas.microsoft.com/office/powerpoint/2010/main" val="4302693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62D752E6-513F-480D-8191-847241E3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一套平台，同时服务员工效率、IT 安全与经营透明</a:t>
            </a:r>
          </a:p>
        </p:txBody>
      </p:sp>
      <p:sp>
        <p:nvSpPr>
          <p:cNvPr id="2" name="accent-rule-10">
            <a:extLst xmlns:a="http://schemas.openxmlformats.org/drawingml/2006/main">
              <a:ext uri="{FF2B5EF4-FFF2-40B4-BE49-F238E27FC236}">
                <a16:creationId xmlns:a16="http://schemas.microsoft.com/office/drawing/2014/main" id="{765F1CE5-91B9-46A9-A772-EBB9612F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10">
            <a:extLst xmlns:a="http://schemas.openxmlformats.org/drawingml/2006/main">
              <a:ext uri="{FF2B5EF4-FFF2-40B4-BE49-F238E27FC236}">
                <a16:creationId xmlns:a16="http://schemas.microsoft.com/office/drawing/2014/main" id="{72329272-463A-4B22-BE91-80DA7DA0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价值不是单一模型指标，而是工作完成方式、风险边界和运营证据的共同改善。</a:t>
            </a:r>
          </a:p>
        </p:txBody>
      </p:sp>
      <p:sp>
        <p:nvSpPr>
          <p:cNvPr id="4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CF8D1FA6-C61C-4ABB-96FC-C0948EAF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企业 AI 工作平台</a:t>
            </a:r>
          </a:p>
        </p:txBody>
      </p:sp>
      <p:sp>
        <p:nvSpPr>
          <p:cNvPr id="5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8447C4DD-D85C-4E0E-935A-FAE352E1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value-sep-1">
            <a:extLst xmlns:a="http://schemas.openxmlformats.org/drawingml/2006/main">
              <a:ext uri="{FF2B5EF4-FFF2-40B4-BE49-F238E27FC236}">
                <a16:creationId xmlns:a16="http://schemas.microsoft.com/office/drawing/2014/main" id="{9A26B721-3669-45D7-92D9-3B99D1A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097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alue-sep-2">
            <a:extLst xmlns:a="http://schemas.openxmlformats.org/drawingml/2006/main">
              <a:ext uri="{FF2B5EF4-FFF2-40B4-BE49-F238E27FC236}">
                <a16:creationId xmlns:a16="http://schemas.microsoft.com/office/drawing/2014/main" id="{2EA34FA2-F489-4F0D-BC35-F82D6060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97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value-1-number">
            <a:extLst xmlns:a="http://schemas.openxmlformats.org/drawingml/2006/main">
              <a:ext uri="{FF2B5EF4-FFF2-40B4-BE49-F238E27FC236}">
                <a16:creationId xmlns:a16="http://schemas.microsoft.com/office/drawing/2014/main" id="{1296DF4F-3071-4AAC-936F-5DA2455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value-1-heading">
            <a:extLst xmlns:a="http://schemas.openxmlformats.org/drawingml/2006/main">
              <a:ext uri="{FF2B5EF4-FFF2-40B4-BE49-F238E27FC236}">
                <a16:creationId xmlns:a16="http://schemas.microsoft.com/office/drawing/2014/main" id="{C0144B66-3B1C-42A0-8CA2-8D1A37F0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业务员工</a:t>
            </a:r>
          </a:p>
        </p:txBody>
      </p:sp>
      <p:sp>
        <p:nvSpPr>
          <p:cNvPr id="10" name="value-1-body">
            <a:extLst xmlns:a="http://schemas.openxmlformats.org/drawingml/2006/main">
              <a:ext uri="{FF2B5EF4-FFF2-40B4-BE49-F238E27FC236}">
                <a16:creationId xmlns:a16="http://schemas.microsoft.com/office/drawing/2014/main" id="{3ADC7F34-4896-42B0-A6FE-8F933862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自然语言表达目标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连接文件与工作上下文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把分析直接变成可交付成果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跨设备继续个人工作</a:t>
            </a:r>
          </a:p>
        </p:txBody>
      </p:sp>
      <p:sp>
        <p:nvSpPr>
          <p:cNvPr id="11" name="value-2-number">
            <a:extLst xmlns:a="http://schemas.openxmlformats.org/drawingml/2006/main">
              <a:ext uri="{FF2B5EF4-FFF2-40B4-BE49-F238E27FC236}">
                <a16:creationId xmlns:a16="http://schemas.microsoft.com/office/drawing/2014/main" id="{F135BB51-2242-46AA-8005-0DCA8D23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value-2-heading">
            <a:extLst xmlns:a="http://schemas.openxmlformats.org/drawingml/2006/main">
              <a:ext uri="{FF2B5EF4-FFF2-40B4-BE49-F238E27FC236}">
                <a16:creationId xmlns:a16="http://schemas.microsoft.com/office/drawing/2014/main" id="{18AB7EEA-A63D-41E5-9AC5-DD20F7CE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IT 与安全</a:t>
            </a:r>
          </a:p>
        </p:txBody>
      </p:sp>
      <p:sp>
        <p:nvSpPr>
          <p:cNvPr id="13" name="value-2-body">
            <a:extLst xmlns:a="http://schemas.openxmlformats.org/drawingml/2006/main">
              <a:ext uri="{FF2B5EF4-FFF2-40B4-BE49-F238E27FC236}">
                <a16:creationId xmlns:a16="http://schemas.microsoft.com/office/drawing/2014/main" id="{FA3ACA88-2C30-43AF-AA8E-D6A3A0E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统一模型与工具入口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最小权限 Scope 和逐次审批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设备能力与账户数据分界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失败、副作用与撤销可追溯</a:t>
            </a:r>
          </a:p>
        </p:txBody>
      </p:sp>
      <p:sp>
        <p:nvSpPr>
          <p:cNvPr id="14" name="value-3-number">
            <a:extLst xmlns:a="http://schemas.openxmlformats.org/drawingml/2006/main">
              <a:ext uri="{FF2B5EF4-FFF2-40B4-BE49-F238E27FC236}">
                <a16:creationId xmlns:a16="http://schemas.microsoft.com/office/drawing/2014/main" id="{9128EC85-EECB-45BE-981A-5B1243B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value-3-heading">
            <a:extLst xmlns:a="http://schemas.openxmlformats.org/drawingml/2006/main">
              <a:ext uri="{FF2B5EF4-FFF2-40B4-BE49-F238E27FC236}">
                <a16:creationId xmlns:a16="http://schemas.microsoft.com/office/drawing/2014/main" id="{62275F3C-2A8D-41E0-A45D-1C8E5ACB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管理与运营</a:t>
            </a:r>
          </a:p>
        </p:txBody>
      </p:sp>
      <p:sp>
        <p:nvSpPr>
          <p:cNvPr id="16" name="value-3-body">
            <a:extLst xmlns:a="http://schemas.openxmlformats.org/drawingml/2006/main">
              <a:ext uri="{FF2B5EF4-FFF2-40B4-BE49-F238E27FC236}">
                <a16:creationId xmlns:a16="http://schemas.microsoft.com/office/drawing/2014/main" id="{1F5F03BD-E4DC-4A9F-BC7E-A3816B8A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模型选择与实际执行透明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用量、价格快照与费用可核对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能力目录支持渐进推广</a:t>
            </a:r>
          </a:p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为后续企业治理建立数据基础</a:t>
            </a:r>
          </a:p>
        </p:txBody>
      </p:sp>
      <p:sp>
        <p:nvSpPr>
          <p:cNvPr id="17" name="value-bottom">
            <a:extLst xmlns:a="http://schemas.openxmlformats.org/drawingml/2006/main">
              <a:ext uri="{FF2B5EF4-FFF2-40B4-BE49-F238E27FC236}">
                <a16:creationId xmlns:a16="http://schemas.microsoft.com/office/drawing/2014/main" id="{34A7C288-8F21-47F2-8DD7-753C277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alue-bottom-text">
            <a:extLst xmlns:a="http://schemas.openxmlformats.org/drawingml/2006/main">
              <a:ext uri="{FF2B5EF4-FFF2-40B4-BE49-F238E27FC236}">
                <a16:creationId xmlns:a16="http://schemas.microsoft.com/office/drawing/2014/main" id="{3BA6BDB4-D91B-49EE-9AB8-8784A98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OpenERX 交付的是企业工作能力，而不只是一个聊天窗口。</a:t>
            </a:r>
          </a:p>
        </p:txBody>
      </p:sp>
    </p:spTree>
    <p:extLst>
      <p:ext uri="{BB962C8B-B14F-4D97-AF65-F5344CB8AC3E}">
        <p14:creationId xmlns:p14="http://schemas.microsoft.com/office/powerpoint/2010/main" val="586244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E4F1B451-D9C5-4D74-A31E-7389BE02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以桌面工作闭环为起点，逐步进入企业级规模化</a:t>
            </a:r>
          </a:p>
        </p:txBody>
      </p:sp>
      <p:sp>
        <p:nvSpPr>
          <p:cNvPr id="2" name="accent-rule-11">
            <a:extLst xmlns:a="http://schemas.openxmlformats.org/drawingml/2006/main">
              <a:ext uri="{FF2B5EF4-FFF2-40B4-BE49-F238E27FC236}">
                <a16:creationId xmlns:a16="http://schemas.microsoft.com/office/drawing/2014/main" id="{CB3C8CCC-DB6C-4443-9533-6DB10E83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11">
            <a:extLst xmlns:a="http://schemas.openxmlformats.org/drawingml/2006/main">
              <a:ext uri="{FF2B5EF4-FFF2-40B4-BE49-F238E27FC236}">
                <a16:creationId xmlns:a16="http://schemas.microsoft.com/office/drawing/2014/main" id="{1AD5BDF5-A208-4FAC-81B0-F544DE5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当前核心能力已有本地实现检查点；外部发布与企业治理按独立门禁继续推进。</a:t>
            </a:r>
          </a:p>
        </p:txBody>
      </p:sp>
      <p:sp>
        <p:nvSpPr>
          <p:cNvPr id="4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66CD6ED5-CA60-4E25-B3AF-C3889DEF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企业 AI 工作平台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047D0191-A963-4DA6-AE14-1BF105B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delivery-line">
            <a:extLst xmlns:a="http://schemas.openxmlformats.org/drawingml/2006/main">
              <a:ext uri="{FF2B5EF4-FFF2-40B4-BE49-F238E27FC236}">
                <a16:creationId xmlns:a16="http://schemas.microsoft.com/office/drawing/2014/main" id="{1ECF1890-0BE1-4302-BDC4-77DA45D2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livery-dot-0">
            <a:extLst xmlns:a="http://schemas.openxmlformats.org/drawingml/2006/main">
              <a:ext uri="{FF2B5EF4-FFF2-40B4-BE49-F238E27FC236}">
                <a16:creationId xmlns:a16="http://schemas.microsoft.com/office/drawing/2014/main" id="{027B7348-9346-4FD7-AB34-702108C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livery-dot-1">
            <a:extLst xmlns:a="http://schemas.openxmlformats.org/drawingml/2006/main">
              <a:ext uri="{FF2B5EF4-FFF2-40B4-BE49-F238E27FC236}">
                <a16:creationId xmlns:a16="http://schemas.microsoft.com/office/drawing/2014/main" id="{1E409C99-AA36-4611-BC1A-D520F9FB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livery-dot-2">
            <a:extLst xmlns:a="http://schemas.openxmlformats.org/drawingml/2006/main">
              <a:ext uri="{FF2B5EF4-FFF2-40B4-BE49-F238E27FC236}">
                <a16:creationId xmlns:a16="http://schemas.microsoft.com/office/drawing/2014/main" id="{91E9F84D-48F1-4F07-AB48-7B0F315D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livery-label-56">
            <a:extLst xmlns:a="http://schemas.openxmlformats.org/drawingml/2006/main">
              <a:ext uri="{FF2B5EF4-FFF2-40B4-BE49-F238E27FC236}">
                <a16:creationId xmlns:a16="http://schemas.microsoft.com/office/drawing/2014/main" id="{72973479-5025-42F4-BB79-5B51A52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阶段 1 · 核心闭环</a:t>
            </a:r>
          </a:p>
        </p:txBody>
      </p:sp>
      <p:sp>
        <p:nvSpPr>
          <p:cNvPr id="11" name="delivery-title-56">
            <a:extLst xmlns:a="http://schemas.openxmlformats.org/drawingml/2006/main">
              <a:ext uri="{FF2B5EF4-FFF2-40B4-BE49-F238E27FC236}">
                <a16:creationId xmlns:a16="http://schemas.microsoft.com/office/drawing/2014/main" id="{E4886563-385E-48C2-B312-41B46C2F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本地 Alpha 已形成</a:t>
            </a:r>
          </a:p>
        </p:txBody>
      </p:sp>
      <p:sp>
        <p:nvSpPr>
          <p:cNvPr id="12" name="delivery-body-56">
            <a:extLst xmlns:a="http://schemas.openxmlformats.org/drawingml/2006/main">
              <a:ext uri="{FF2B5EF4-FFF2-40B4-BE49-F238E27FC236}">
                <a16:creationId xmlns:a16="http://schemas.microsoft.com/office/drawing/2014/main" id="{A751D880-AA8A-438F-88D3-5D71070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对话、文件、工具、成果、同步、模型、计费与 Remote 已形成可验证的本地闭环。</a:t>
            </a:r>
          </a:p>
        </p:txBody>
      </p:sp>
      <p:sp>
        <p:nvSpPr>
          <p:cNvPr id="13" name="delivery-label-464">
            <a:extLst xmlns:a="http://schemas.openxmlformats.org/drawingml/2006/main">
              <a:ext uri="{FF2B5EF4-FFF2-40B4-BE49-F238E27FC236}">
                <a16:creationId xmlns:a16="http://schemas.microsoft.com/office/drawing/2014/main" id="{4508E878-8FB1-4D98-B93E-C2C81EAC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阶段 2 · 外部发布</a:t>
            </a:r>
          </a:p>
        </p:txBody>
      </p:sp>
      <p:sp>
        <p:nvSpPr>
          <p:cNvPr id="14" name="delivery-title-464">
            <a:extLst xmlns:a="http://schemas.openxmlformats.org/drawingml/2006/main">
              <a:ext uri="{FF2B5EF4-FFF2-40B4-BE49-F238E27FC236}">
                <a16:creationId xmlns:a16="http://schemas.microsoft.com/office/drawing/2014/main" id="{5365707D-5568-46AA-ACBD-8DFE227A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真实环境门禁</a:t>
            </a:r>
          </a:p>
        </p:txBody>
      </p:sp>
      <p:sp>
        <p:nvSpPr>
          <p:cNvPr id="15" name="delivery-body-464">
            <a:extLst xmlns:a="http://schemas.openxmlformats.org/drawingml/2006/main">
              <a:ext uri="{FF2B5EF4-FFF2-40B4-BE49-F238E27FC236}">
                <a16:creationId xmlns:a16="http://schemas.microsoft.com/office/drawing/2014/main" id="{433E7989-1B31-4B95-A88A-1AD7A717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真机、签名与公证、真实模型服务与 OAuth、Windows 原生工具矩阵和外部 Beta 证据。</a:t>
            </a:r>
          </a:p>
        </p:txBody>
      </p:sp>
      <p:sp>
        <p:nvSpPr>
          <p:cNvPr id="16" name="delivery-label-872">
            <a:extLst xmlns:a="http://schemas.openxmlformats.org/drawingml/2006/main">
              <a:ext uri="{FF2B5EF4-FFF2-40B4-BE49-F238E27FC236}">
                <a16:creationId xmlns:a16="http://schemas.microsoft.com/office/drawing/2014/main" id="{649EEA01-E6BB-450C-A94B-80F95010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4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B747A"/>
                </a:solidFill>
                <a:latin typeface="PingFang SC"/>
                <a:ea typeface="PingFang SC"/>
                <a:cs typeface="PingFang SC"/>
              </a:rPr>
              <a:t>阶段 3 · 企业扩展</a:t>
            </a:r>
          </a:p>
        </p:txBody>
      </p:sp>
      <p:sp>
        <p:nvSpPr>
          <p:cNvPr id="17" name="delivery-title-872">
            <a:extLst xmlns:a="http://schemas.openxmlformats.org/drawingml/2006/main">
              <a:ext uri="{FF2B5EF4-FFF2-40B4-BE49-F238E27FC236}">
                <a16:creationId xmlns:a16="http://schemas.microsoft.com/office/drawing/2014/main" id="{114A961D-DE7C-47D2-AE79-0034B1F0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规模化治理路线</a:t>
            </a:r>
          </a:p>
        </p:txBody>
      </p:sp>
      <p:sp>
        <p:nvSpPr>
          <p:cNvPr id="18" name="delivery-body-872">
            <a:extLst xmlns:a="http://schemas.openxmlformats.org/drawingml/2006/main">
              <a:ext uri="{FF2B5EF4-FFF2-40B4-BE49-F238E27FC236}">
                <a16:creationId xmlns:a16="http://schemas.microsoft.com/office/drawing/2014/main" id="{B6690236-0E9D-44BB-AA44-53270F5E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SSO、组织策略、管理员审计、团队知识权限与多租户治理，作为后续独立合同推进。</a:t>
            </a:r>
          </a:p>
        </p:txBody>
      </p:sp>
      <p:sp>
        <p:nvSpPr>
          <p:cNvPr id="19" name="delivery-boundary">
            <a:extLst xmlns:a="http://schemas.openxmlformats.org/drawingml/2006/main">
              <a:ext uri="{FF2B5EF4-FFF2-40B4-BE49-F238E27FC236}">
                <a16:creationId xmlns:a16="http://schemas.microsoft.com/office/drawing/2014/main" id="{4E7876FA-C037-4A2D-8883-766ABA62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livery-boundary-text">
            <a:extLst xmlns:a="http://schemas.openxmlformats.org/drawingml/2006/main">
              <a:ext uri="{FF2B5EF4-FFF2-40B4-BE49-F238E27FC236}">
                <a16:creationId xmlns:a16="http://schemas.microsoft.com/office/drawing/2014/main" id="{135D1C11-50B7-4A80-9597-D8242F28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245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531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F531C"/>
                </a:solidFill>
                <a:latin typeface="PingFang SC"/>
                <a:ea typeface="PingFang SC"/>
                <a:cs typeface="PingFang SC"/>
              </a:rPr>
              <a:t>说明：企业治理能力是产品方向，不作为当前 V2 已完成能力对外宣称。</a:t>
            </a:r>
          </a:p>
        </p:txBody>
      </p:sp>
    </p:spTree>
    <p:extLst>
      <p:ext uri="{BB962C8B-B14F-4D97-AF65-F5344CB8AC3E}">
        <p14:creationId xmlns:p14="http://schemas.microsoft.com/office/powerpoint/2010/main" val="2057233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1ac89fdc84180"/>
          <a:stretch xmlns:a="http://schemas.openxmlformats.org/drawingml/2006/main"/>
        </p:blipFill>
        <p:spPr>
          <a:xfrm xmlns:a="http://schemas.openxmlformats.org/drawingml/2006/main">
            <a:off x="533400" y="427196"/>
            <a:ext cx="361950" cy="307658"/>
          </a:xfrm>
          <a:prstGeom xmlns:a="http://schemas.openxmlformats.org/drawingml/2006/main" prst="rect">
            <a:avLst/>
          </a:prstGeom>
        </p:spPr>
      </p:pic>
      <p:sp>
        <p:nvSpPr>
          <p:cNvPr id="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2D0A3992-3474-4C8C-91F6-D02BAB8C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3" name="close-label">
            <a:extLst xmlns:a="http://schemas.openxmlformats.org/drawingml/2006/main">
              <a:ext uri="{FF2B5EF4-FFF2-40B4-BE49-F238E27FC236}">
                <a16:creationId xmlns:a16="http://schemas.microsoft.com/office/drawing/2014/main" id="{E7614DC5-30F4-48CF-8D9C-2061056E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D6FB6D4-36A2-4C2A-8E70-D31CF219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从一条真实工作链开始</a:t>
            </a:r>
          </a:p>
        </p:txBody>
      </p:sp>
      <p:sp>
        <p:nvSpPr>
          <p:cNvPr id="5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4087D9FC-2F58-41DD-B055-00F27DB2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让 AI 进入企业日常工作，而不是停留在独立试点。</a:t>
            </a:r>
          </a:p>
        </p:txBody>
      </p:sp>
      <p:sp>
        <p:nvSpPr>
          <p:cNvPr id="6" name="close-line">
            <a:extLst xmlns:a="http://schemas.openxmlformats.org/drawingml/2006/main">
              <a:ext uri="{FF2B5EF4-FFF2-40B4-BE49-F238E27FC236}">
                <a16:creationId xmlns:a16="http://schemas.microsoft.com/office/drawing/2014/main" id="{BD3226FC-720D-430B-A9C2-4E4A2BC3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step-rule-56">
            <a:extLst xmlns:a="http://schemas.openxmlformats.org/drawingml/2006/main">
              <a:ext uri="{FF2B5EF4-FFF2-40B4-BE49-F238E27FC236}">
                <a16:creationId xmlns:a16="http://schemas.microsoft.com/office/drawing/2014/main" id="{9AC68555-912F-4D55-921A-9C2C21CE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step-text-56">
            <a:extLst xmlns:a="http://schemas.openxmlformats.org/drawingml/2006/main">
              <a:ext uri="{FF2B5EF4-FFF2-40B4-BE49-F238E27FC236}">
                <a16:creationId xmlns:a16="http://schemas.microsoft.com/office/drawing/2014/main" id="{F480946A-C937-4655-A872-B724C866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选择场景</a:t>
            </a:r>
          </a:p>
          <a:p xmlns:a="http://schemas.openxmlformats.org/drawingml/2006/main">
            <a:pPr algn="l"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选择一条高频、可衡量的业务工作链</a:t>
            </a:r>
          </a:p>
        </p:txBody>
      </p:sp>
      <p:sp>
        <p:nvSpPr>
          <p:cNvPr id="9" name="close-step-rule-450">
            <a:extLst xmlns:a="http://schemas.openxmlformats.org/drawingml/2006/main">
              <a:ext uri="{FF2B5EF4-FFF2-40B4-BE49-F238E27FC236}">
                <a16:creationId xmlns:a16="http://schemas.microsoft.com/office/drawing/2014/main" id="{CB6B5F5B-EA88-4273-A345-0B0BAFC2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step-text-450">
            <a:extLst xmlns:a="http://schemas.openxmlformats.org/drawingml/2006/main">
              <a:ext uri="{FF2B5EF4-FFF2-40B4-BE49-F238E27FC236}">
                <a16:creationId xmlns:a16="http://schemas.microsoft.com/office/drawing/2014/main" id="{5C1DA500-44A6-4A8D-B91F-15D260B3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接入边界</a:t>
            </a:r>
          </a:p>
          <a:p xmlns:a="http://schemas.openxmlformats.org/drawingml/2006/main">
            <a:pPr algn="l"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在最小权限下接入必要数据与工具</a:t>
            </a:r>
          </a:p>
        </p:txBody>
      </p:sp>
      <p:sp>
        <p:nvSpPr>
          <p:cNvPr id="11" name="close-step-rule-844">
            <a:extLst xmlns:a="http://schemas.openxmlformats.org/drawingml/2006/main">
              <a:ext uri="{FF2B5EF4-FFF2-40B4-BE49-F238E27FC236}">
                <a16:creationId xmlns:a16="http://schemas.microsoft.com/office/drawing/2014/main" id="{E8B368C0-DAA9-4472-80DF-0AC3A4AE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-step-text-844">
            <a:extLst xmlns:a="http://schemas.openxmlformats.org/drawingml/2006/main">
              <a:ext uri="{FF2B5EF4-FFF2-40B4-BE49-F238E27FC236}">
                <a16:creationId xmlns:a16="http://schemas.microsoft.com/office/drawing/2014/main" id="{5392C60F-AA15-4F81-B5CD-C16E580E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验证价值</a:t>
            </a:r>
          </a:p>
          <a:p xmlns:a="http://schemas.openxmlformats.org/drawingml/2006/main">
            <a:pPr algn="l"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验证质量、效率、安全与成本证据</a:t>
            </a:r>
          </a:p>
        </p:txBody>
      </p:sp>
      <p:sp>
        <p:nvSpPr>
          <p:cNvPr id="13" name="close-tagline">
            <a:extLst xmlns:a="http://schemas.openxmlformats.org/drawingml/2006/main">
              <a:ext uri="{FF2B5EF4-FFF2-40B4-BE49-F238E27FC236}">
                <a16:creationId xmlns:a16="http://schemas.microsoft.com/office/drawing/2014/main" id="{78748CA1-FC95-46A6-8C54-F21747BE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OpenERX：可执行、可交付、可治理的企业 AI 工作平台。</a:t>
            </a:r>
          </a:p>
        </p:txBody>
      </p:sp>
      <p:sp>
        <p:nvSpPr>
          <p:cNvPr id="14" name="close-page">
            <a:extLst xmlns:a="http://schemas.openxmlformats.org/drawingml/2006/main">
              <a:ext uri="{FF2B5EF4-FFF2-40B4-BE49-F238E27FC236}">
                <a16:creationId xmlns:a16="http://schemas.microsoft.com/office/drawing/2014/main" id="{AFFB7806-E575-4C0D-845B-0CC21343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1013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2026-08-29T03:27:07.1360000Z</dcterms:created>
  <dcterms:modified xsi:type="dcterms:W3CDTF">2026-08-29T03:27:07.1360000Z</dcterms:modified>
</coreProperties>
</file>