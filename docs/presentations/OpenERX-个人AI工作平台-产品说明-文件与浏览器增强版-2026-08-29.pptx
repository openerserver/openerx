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1da7265c44ebf" /><Relationship Type="http://schemas.openxmlformats.org/officeDocument/2006/relationships/extended-properties" Target="/docProps/app.xml" Id="R7324402bba1a43ad" /><Relationship Type="http://schemas.openxmlformats.org/officeDocument/2006/relationships/officeDocument" Target="/ppt/presentation.xml" Id="Rea2362fddd3b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59587311774aa3"/>
  </p:sldMasterIdLst>
  <p:notesMasterIdLst>
    <p:notesMasterId xmlns:r="http://schemas.openxmlformats.org/officeDocument/2006/relationships" r:id="Rbb61cfc1ad174cae"/>
  </p:notesMasterIdLst>
  <p:sldIdLst>
    <p:sldId xmlns:r="http://schemas.openxmlformats.org/officeDocument/2006/relationships" id="256" r:id="R8e518e2e5f3f47e2"/>
    <p:sldId xmlns:r="http://schemas.openxmlformats.org/officeDocument/2006/relationships" id="257" r:id="R31cb05b57288444d"/>
    <p:sldId xmlns:r="http://schemas.openxmlformats.org/officeDocument/2006/relationships" id="258" r:id="R67f2b780e3fc4d7f"/>
    <p:sldId xmlns:r="http://schemas.openxmlformats.org/officeDocument/2006/relationships" id="259" r:id="R7c140f110b1f4879"/>
    <p:sldId xmlns:r="http://schemas.openxmlformats.org/officeDocument/2006/relationships" id="260" r:id="Rf17a74a2c9c84e9f"/>
    <p:sldId xmlns:r="http://schemas.openxmlformats.org/officeDocument/2006/relationships" id="261" r:id="Rf4c166d13ebf4413"/>
    <p:sldId xmlns:r="http://schemas.openxmlformats.org/officeDocument/2006/relationships" id="262" r:id="R972ab88e99dc442f"/>
    <p:sldId xmlns:r="http://schemas.openxmlformats.org/officeDocument/2006/relationships" id="263" r:id="R27285cf773fd4098"/>
    <p:sldId xmlns:r="http://schemas.openxmlformats.org/officeDocument/2006/relationships" id="264" r:id="R1a95e45dce6a4181"/>
    <p:sldId xmlns:r="http://schemas.openxmlformats.org/officeDocument/2006/relationships" id="265" r:id="Rb25932b7704a4e1c"/>
    <p:sldId xmlns:r="http://schemas.openxmlformats.org/officeDocument/2006/relationships" id="266" r:id="R0ebc68a8631b4d86"/>
    <p:sldId xmlns:r="http://schemas.openxmlformats.org/officeDocument/2006/relationships" id="267" r:id="R6b4fcf68f2b24e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711bb50f344397" /><Relationship Type="http://schemas.openxmlformats.org/officeDocument/2006/relationships/slideMaster" Target="/ppt/slideMasters/slideMaster1.xml" Id="Ra359587311774aa3" /><Relationship Type="http://schemas.openxmlformats.org/officeDocument/2006/relationships/notesMaster" Target="/ppt/notesMasters/notesMaster1.xml" Id="Rbb61cfc1ad174cae" /><Relationship Type="http://schemas.openxmlformats.org/officeDocument/2006/relationships/presProps" Target="/ppt/presProps.xml" Id="R3bdec8ace14f466a" /><Relationship Type="http://schemas.openxmlformats.org/officeDocument/2006/relationships/tableStyles" Target="/ppt/tableStyles.xml" Id="R241105aebb3c4494" /><Relationship Type="http://schemas.openxmlformats.org/officeDocument/2006/relationships/slide" Target="/ppt/slides/slide1.xml" Id="R8e518e2e5f3f47e2" /><Relationship Type="http://schemas.openxmlformats.org/officeDocument/2006/relationships/slide" Target="/ppt/slides/slide2.xml" Id="R31cb05b57288444d" /><Relationship Type="http://schemas.openxmlformats.org/officeDocument/2006/relationships/slide" Target="/ppt/slides/slide3.xml" Id="R67f2b780e3fc4d7f" /><Relationship Type="http://schemas.openxmlformats.org/officeDocument/2006/relationships/slide" Target="/ppt/slides/slide4.xml" Id="R7c140f110b1f4879" /><Relationship Type="http://schemas.openxmlformats.org/officeDocument/2006/relationships/slide" Target="/ppt/slides/slide5.xml" Id="Rf17a74a2c9c84e9f" /><Relationship Type="http://schemas.openxmlformats.org/officeDocument/2006/relationships/slide" Target="/ppt/slides/slide6.xml" Id="Rf4c166d13ebf4413" /><Relationship Type="http://schemas.openxmlformats.org/officeDocument/2006/relationships/slide" Target="/ppt/slides/slide7.xml" Id="R972ab88e99dc442f" /><Relationship Type="http://schemas.openxmlformats.org/officeDocument/2006/relationships/slide" Target="/ppt/slides/slide8.xml" Id="R27285cf773fd4098" /><Relationship Type="http://schemas.openxmlformats.org/officeDocument/2006/relationships/slide" Target="/ppt/slides/slide9.xml" Id="R1a95e45dce6a4181" /><Relationship Type="http://schemas.openxmlformats.org/officeDocument/2006/relationships/slide" Target="/ppt/slides/slide10.xml" Id="Rb25932b7704a4e1c" /><Relationship Type="http://schemas.openxmlformats.org/officeDocument/2006/relationships/slide" Target="/ppt/slides/slide11.xml" Id="R0ebc68a8631b4d86" /><Relationship Type="http://schemas.openxmlformats.org/officeDocument/2006/relationships/slide" Target="/ppt/slides/slide12.xml" Id="R6b4fcf68f2b2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eca151b47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5194b8c5242c3" /><Relationship Type="http://schemas.openxmlformats.org/officeDocument/2006/relationships/notesMaster" Target="/ppt/notesMasters/notesMaster1.xml" Id="R4d586f4f466c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b59ad0d3a4ce2" /><Relationship Type="http://schemas.openxmlformats.org/officeDocument/2006/relationships/notesMaster" Target="/ppt/notesMasters/notesMaster1.xml" Id="Ra5d23a968807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f901ce0184227" /><Relationship Type="http://schemas.openxmlformats.org/officeDocument/2006/relationships/notesMaster" Target="/ppt/notesMasters/notesMaster1.xml" Id="R90db37c0d59f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8548a1c3ad4810" /><Relationship Type="http://schemas.openxmlformats.org/officeDocument/2006/relationships/notesMaster" Target="/ppt/notesMasters/notesMaster1.xml" Id="Rba72a2fbff834f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f5ee83faa74e37" /><Relationship Type="http://schemas.openxmlformats.org/officeDocument/2006/relationships/notesMaster" Target="/ppt/notesMasters/notesMaster1.xml" Id="Ra845c62cdd14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414eaa01c7439e" /><Relationship Type="http://schemas.openxmlformats.org/officeDocument/2006/relationships/notesMaster" Target="/ppt/notesMasters/notesMaster1.xml" Id="R0d9bef69998e42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593b0e3cea4e8c" /><Relationship Type="http://schemas.openxmlformats.org/officeDocument/2006/relationships/notesMaster" Target="/ppt/notesMasters/notesMaster1.xml" Id="R81d8ba224b9a4a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4c199891f4471f" /><Relationship Type="http://schemas.openxmlformats.org/officeDocument/2006/relationships/notesMaster" Target="/ppt/notesMasters/notesMaster1.xml" Id="R581f486c45bd44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a4949d6c004c50" /><Relationship Type="http://schemas.openxmlformats.org/officeDocument/2006/relationships/notesMaster" Target="/ppt/notesMasters/notesMaster1.xml" Id="Rf12625e79338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d480f2c33e4c8b" /><Relationship Type="http://schemas.openxmlformats.org/officeDocument/2006/relationships/notesMaster" Target="/ppt/notesMasters/notesMaster1.xml" Id="Rc6a21d87070848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cf18f9b58f490c" /><Relationship Type="http://schemas.openxmlformats.org/officeDocument/2006/relationships/notesMaster" Target="/ppt/notesMasters/notesMaster1.xml" Id="Rba335e4b5db846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5204e01d284e9a" /><Relationship Type="http://schemas.openxmlformats.org/officeDocument/2006/relationships/notesMaster" Target="/ppt/notesMasters/notesMaster1.xml" Id="R4d1310a5d0ed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 in this conversation: the current implemented product is the personal work platform; enterprise capabilities have not yet been added.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screenshot captured in this run from the running Electron application on 2026-08-29.</a:t>
            </a:r>
          </a:p>
          <a:p xmlns:a="http://schemas.openxmlformats.org/drawingml/2006/main">
            <a:r>
              <a:t>- Route verified through accessibility state: localhost:5173/#/chat/new.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/Users/wanglei/Downloads/phones-cloud/openerx/packages/file-service/src/formats.ts</a:t>
            </a:r>
          </a:p>
          <a:p xmlns:a="http://schemas.openxmlformats.org/drawingml/2006/main">
            <a:r>
              <a:t>- /Users/wanglei/Downloads/phones-cloud/openerx/packages/file-service/src/parser.ts</a:t>
            </a:r>
          </a:p>
          <a:p xmlns:a="http://schemas.openxmlformats.org/drawingml/2006/main">
            <a:r>
              <a:t>- /Users/wanglei/Downloads/phones-cloud/openerx/docs/v2/evidence/p1-codex-alignment-cx108-2026-08-27.md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/Users/wanglei/Downloads/phones-cloud/openerx/docs/v2/17-browser-computer-use-plan.md</a:t>
            </a:r>
          </a:p>
          <a:p xmlns:a="http://schemas.openxmlformats.org/drawingml/2006/main">
            <a:r>
              <a:t>- /Users/wanglei/Downloads/phones-cloud/openerx/docs/v2/evidence/bcu-003-2026-08-27.md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/Users/wanglei/Downloads/phones-cloud/openerx/docs/v2/11-billing-and-commerce-contract.md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 in this conversation: current product is personal; enterprise-version capabilities have not yet been added.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correction in this conversation.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1104e1b0c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28ab8e93c4b09" /><Relationship Type="http://schemas.openxmlformats.org/officeDocument/2006/relationships/slideLayout" Target="/ppt/slideLayouts/slideLayout1.xml" Id="R56abaa8b90e2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baa8b90e2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558abf7d4458" /><Relationship Type="http://schemas.openxmlformats.org/officeDocument/2006/relationships/image" Target="/ppt/media/image.png" Id="R04bd071b3ebb4208" /><Relationship Type="http://schemas.openxmlformats.org/officeDocument/2006/relationships/notesSlide" Target="/ppt/notesSlides/notesSlide1.xml" Id="R14faa1977bf1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76bb4307c4da0" /><Relationship Type="http://schemas.openxmlformats.org/officeDocument/2006/relationships/notesSlide" Target="/ppt/notesSlides/notesSlide2.xml" Id="R432a92c8dc1c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583312766428f" /><Relationship Type="http://schemas.openxmlformats.org/officeDocument/2006/relationships/notesSlide" Target="/ppt/notesSlides/notesSlide3.xml" Id="R90d345e746cb45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fa6665d644536" /><Relationship Type="http://schemas.openxmlformats.org/officeDocument/2006/relationships/notesSlide" Target="/ppt/notesSlides/notesSlide4.xml" Id="R74b071687a5247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3a89b5c364580" /><Relationship Type="http://schemas.openxmlformats.org/officeDocument/2006/relationships/image" Target="/ppt/media/image.jpeg" Id="R6f6edba6c5474105" /><Relationship Type="http://schemas.openxmlformats.org/officeDocument/2006/relationships/notesSlide" Target="/ppt/notesSlides/notesSlide5.xml" Id="R82eb203b3d0e4b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21d3c8bb4fe3" /><Relationship Type="http://schemas.openxmlformats.org/officeDocument/2006/relationships/notesSlide" Target="/ppt/notesSlides/notesSlide6.xml" Id="R9ce14c592e4349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fbe8e919c43f3" /><Relationship Type="http://schemas.openxmlformats.org/officeDocument/2006/relationships/notesSlide" Target="/ppt/notesSlides/notesSlide7.xml" Id="Rcb8c8ee579bd43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4142d9eb449ba" /><Relationship Type="http://schemas.openxmlformats.org/officeDocument/2006/relationships/notesSlide" Target="/ppt/notesSlides/notesSlide8.xml" Id="R405f9f58f19941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663c3fa94c04" /><Relationship Type="http://schemas.openxmlformats.org/officeDocument/2006/relationships/notesSlide" Target="/ppt/notesSlides/notesSlide9.xml" Id="R673a202f7df246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6bf3d06614ce4" /><Relationship Type="http://schemas.openxmlformats.org/officeDocument/2006/relationships/notesSlide" Target="/ppt/notesSlides/notesSlide10.xml" Id="Rbe41d1c1a8114a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46602453248d4" /><Relationship Type="http://schemas.openxmlformats.org/officeDocument/2006/relationships/notesSlide" Target="/ppt/notesSlides/notesSlide11.xml" Id="Rf1a4cc22bc0e42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4e2529d043d3" /><Relationship Type="http://schemas.openxmlformats.org/officeDocument/2006/relationships/image" Target="/ppt/media/image2.png" Id="R2fcded4176be4d72" /><Relationship Type="http://schemas.openxmlformats.org/officeDocument/2006/relationships/notesSlide" Target="/ppt/notesSlides/notesSlide12.xml" Id="R8775579209ca42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d071b3ebb4208"/>
          <a:stretch xmlns:a="http://schemas.openxmlformats.org/drawingml/2006/main"/>
        </p:blipFill>
        <p:spPr>
          <a:xfrm xmlns:a="http://schemas.openxmlformats.org/drawingml/2006/main">
            <a:off x="533400" y="431483"/>
            <a:ext cx="419100" cy="356235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0A0847EB-F3BA-4302-9DEB-D9FB7EC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3531E4D3-F342-4300-B2D4-B9985FD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产品说明 · 2026.08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14B95A3-EAB3-4A9D-94D6-8AAB738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ule-accent">
            <a:extLst xmlns:a="http://schemas.openxmlformats.org/drawingml/2006/main">
              <a:ext uri="{FF2B5EF4-FFF2-40B4-BE49-F238E27FC236}">
                <a16:creationId xmlns:a16="http://schemas.microsoft.com/office/drawing/2014/main" id="{8BFC5FEB-2A5F-4420-8FB0-B5A1E25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open-erx">
            <a:extLst xmlns:a="http://schemas.openxmlformats.org/drawingml/2006/main">
              <a:ext uri="{FF2B5EF4-FFF2-40B4-BE49-F238E27FC236}">
                <a16:creationId xmlns:a16="http://schemas.microsoft.com/office/drawing/2014/main" id="{EF9FF1B6-9B6A-43F8-B180-9C67667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BB19BB-0FDB-451C-8125-7FAE8CA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 AI 工作平台</a:t>
            </a:r>
          </a:p>
        </p:txBody>
      </p:sp>
      <p:sp>
        <p:nvSpPr>
          <p:cNvPr id="8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38180EE3-9CDE-4A19-93B1-2133FE6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 AI 不只回答，还能在你的授权下处理文件、使用工具并交付成果。</a:t>
            </a:r>
          </a:p>
        </p:txBody>
      </p:sp>
      <p:sp>
        <p:nvSpPr>
          <p:cNvPr id="9" name="cover-capabilities">
            <a:extLst xmlns:a="http://schemas.openxmlformats.org/drawingml/2006/main">
              <a:ext uri="{FF2B5EF4-FFF2-40B4-BE49-F238E27FC236}">
                <a16:creationId xmlns:a16="http://schemas.microsoft.com/office/drawing/2014/main" id="{38858BD5-45F8-43A4-A047-82D74A0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对话   ·   文件   ·   工具   ·   成果</a:t>
            </a:r>
          </a:p>
        </p:txBody>
      </p:sp>
      <p:sp>
        <p:nvSpPr>
          <p:cNvPr id="10" name="cover-page">
            <a:extLst xmlns:a="http://schemas.openxmlformats.org/drawingml/2006/main">
              <a:ext uri="{FF2B5EF4-FFF2-40B4-BE49-F238E27FC236}">
                <a16:creationId xmlns:a16="http://schemas.microsoft.com/office/drawing/2014/main" id="{E6900D64-9F46-4440-A3AC-F1FE576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4902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C1B07D0-E94A-40ED-A96C-E2BEF01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普通 AI 很会回答，但工作还要自己收尾</a:t>
            </a:r>
          </a:p>
        </p:txBody>
      </p:sp>
      <p:sp>
        <p:nvSpPr>
          <p:cNvPr id="2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DDC1F6F3-04C4-4141-829A-08AA6A6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2">
            <a:extLst xmlns:a="http://schemas.openxmlformats.org/drawingml/2006/main">
              <a:ext uri="{FF2B5EF4-FFF2-40B4-BE49-F238E27FC236}">
                <a16:creationId xmlns:a16="http://schemas.microsoft.com/office/drawing/2014/main" id="{B0B39ADA-8675-4210-87DE-F9E683B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信息散在不同地方、工具需要来回切换，最后的成果仍要手工整理。</a:t>
            </a:r>
          </a:p>
        </p:txBody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A42AE49-01F5-4635-8A29-B7A86F7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BE150B5-CC27-4DF3-9994-CD459C1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problem-sep-1">
            <a:extLst xmlns:a="http://schemas.openxmlformats.org/drawingml/2006/main">
              <a:ext uri="{FF2B5EF4-FFF2-40B4-BE49-F238E27FC236}">
                <a16:creationId xmlns:a16="http://schemas.microsoft.com/office/drawing/2014/main" id="{2D65C514-EC58-4871-8730-BD993212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sep-2">
            <a:extLst xmlns:a="http://schemas.openxmlformats.org/drawingml/2006/main">
              <a:ext uri="{FF2B5EF4-FFF2-40B4-BE49-F238E27FC236}">
                <a16:creationId xmlns:a16="http://schemas.microsoft.com/office/drawing/2014/main" id="{E008A45C-BBD3-4D35-94EF-627BFFC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9D7F0D1E-6A8C-4C55-9022-5C5F533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2092C96-8D8C-49C6-A48C-B7910AB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材料分散</a:t>
            </a:r>
          </a:p>
        </p:txBody>
      </p:sp>
      <p:sp>
        <p:nvSpPr>
          <p:cNvPr id="10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148FAC08-0CE9-4D13-ABC5-CD8791E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聊天记录、文件和网页各在一处，下一次还得重新说明背景。</a:t>
            </a:r>
          </a:p>
        </p:txBody>
      </p:sp>
      <p:sp>
        <p:nvSpPr>
          <p:cNvPr id="11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4C612EDE-3B69-49E5-BF83-FAFD25C0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C348970F-A3D7-46BA-B8E0-9F3623C7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工具切换</a:t>
            </a:r>
          </a:p>
        </p:txBody>
      </p:sp>
      <p:sp>
        <p:nvSpPr>
          <p:cNvPr id="13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3CFA868F-ED75-4E2E-81E7-E561DE9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搜索、改文件、跑命令、做文档，仍要自己一步步完成。</a:t>
            </a:r>
          </a:p>
        </p:txBody>
      </p:sp>
      <p:sp>
        <p:nvSpPr>
          <p:cNvPr id="14" name="problem-3-number">
            <a:extLst xmlns:a="http://schemas.openxmlformats.org/drawingml/2006/main">
              <a:ext uri="{FF2B5EF4-FFF2-40B4-BE49-F238E27FC236}">
                <a16:creationId xmlns:a16="http://schemas.microsoft.com/office/drawing/2014/main" id="{45FFD0BE-7B56-4EA5-8313-2955544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CD767033-6B86-4C75-9CB0-8A1FFAF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结果难复用</a:t>
            </a:r>
          </a:p>
        </p:txBody>
      </p:sp>
      <p:sp>
        <p:nvSpPr>
          <p:cNvPr id="16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FE768F52-BA6B-4BD8-BF8A-9946C52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答案留在聊天里，没有变成可编辑、可检查、可分享的成果。</a:t>
            </a:r>
          </a:p>
        </p:txBody>
      </p:sp>
      <p:sp>
        <p:nvSpPr>
          <p:cNvPr id="17" name="problem-bottom-band">
            <a:extLst xmlns:a="http://schemas.openxmlformats.org/drawingml/2006/main">
              <a:ext uri="{FF2B5EF4-FFF2-40B4-BE49-F238E27FC236}">
                <a16:creationId xmlns:a16="http://schemas.microsoft.com/office/drawing/2014/main" id="{3841BFAD-5877-40C8-935B-0F7DB1B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bottom-copy">
            <a:extLst xmlns:a="http://schemas.openxmlformats.org/drawingml/2006/main">
              <a:ext uri="{FF2B5EF4-FFF2-40B4-BE49-F238E27FC236}">
                <a16:creationId xmlns:a16="http://schemas.microsoft.com/office/drawing/2014/main" id="{6BB696BD-FD7B-47B9-A924-A762A222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 把这些步骤放回同一个个人工作区。</a:t>
            </a:r>
          </a:p>
        </p:txBody>
      </p:sp>
    </p:spTree>
    <p:extLst>
      <p:ext uri="{BB962C8B-B14F-4D97-AF65-F5344CB8AC3E}">
        <p14:creationId xmlns:p14="http://schemas.microsoft.com/office/powerpoint/2010/main" val="173593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7DCCE31B-BF04-49EE-AE20-CAA1A3B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说清目标，剩下的步骤在同一处完成</a:t>
            </a:r>
          </a:p>
        </p:txBody>
      </p:sp>
      <p:sp>
        <p:nvSpPr>
          <p:cNvPr id="2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26CF1C83-3352-4072-8027-D12665E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3">
            <a:extLst xmlns:a="http://schemas.openxmlformats.org/drawingml/2006/main">
              <a:ext uri="{FF2B5EF4-FFF2-40B4-BE49-F238E27FC236}">
                <a16:creationId xmlns:a16="http://schemas.microsoft.com/office/drawing/2014/main" id="{DF57EB9E-2D71-4057-8208-D05C7A5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你从一句话开始，OpenERX 在你允许的范围内继续处理。</a:t>
            </a:r>
          </a:p>
        </p:txBody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E46532-32E0-4740-8B44-2080EAA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4A7076B-576A-4D38-B679-05C7A23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0020A568-65D1-425F-BCAB-153D97E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4DEA3807-FE0E-44E3-AA7E-1C4997F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9E93B1FF-94A0-4FD1-B5A2-CD7A9B7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AC98CE6C-0CC3-489F-8252-169204E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label-56">
            <a:extLst xmlns:a="http://schemas.openxmlformats.org/drawingml/2006/main">
              <a:ext uri="{FF2B5EF4-FFF2-40B4-BE49-F238E27FC236}">
                <a16:creationId xmlns:a16="http://schemas.microsoft.com/office/drawing/2014/main" id="{D92481A5-56E9-49CF-9268-A7408AEE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告诉它要做什么</a:t>
            </a:r>
          </a:p>
        </p:txBody>
      </p:sp>
      <p:sp>
        <p:nvSpPr>
          <p:cNvPr id="11" name="workflow-title-56">
            <a:extLst xmlns:a="http://schemas.openxmlformats.org/drawingml/2006/main">
              <a:ext uri="{FF2B5EF4-FFF2-40B4-BE49-F238E27FC236}">
                <a16:creationId xmlns:a16="http://schemas.microsoft.com/office/drawing/2014/main" id="{626A2741-CEE0-4C5A-8329-618B13D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像聊天一样开始</a:t>
            </a:r>
          </a:p>
        </p:txBody>
      </p:sp>
      <p:sp>
        <p:nvSpPr>
          <p:cNvPr id="12" name="workflow-body-56">
            <a:extLst xmlns:a="http://schemas.openxmlformats.org/drawingml/2006/main">
              <a:ext uri="{FF2B5EF4-FFF2-40B4-BE49-F238E27FC236}">
                <a16:creationId xmlns:a16="http://schemas.microsoft.com/office/drawing/2014/main" id="{A7514D4A-6FA7-48D4-BBC4-F4BF31D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描述目标，或者添加文件和工作区。</a:t>
            </a:r>
          </a:p>
        </p:txBody>
      </p:sp>
      <p:sp>
        <p:nvSpPr>
          <p:cNvPr id="13" name="workflow-label-464">
            <a:extLst xmlns:a="http://schemas.openxmlformats.org/drawingml/2006/main">
              <a:ext uri="{FF2B5EF4-FFF2-40B4-BE49-F238E27FC236}">
                <a16:creationId xmlns:a16="http://schemas.microsoft.com/office/drawing/2014/main" id="{61E7A5EF-6924-4D94-95CD-0D01D11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02 · 开始处理</a:t>
            </a:r>
          </a:p>
        </p:txBody>
      </p:sp>
      <p:sp>
        <p:nvSpPr>
          <p:cNvPr id="14" name="workflow-title-464">
            <a:extLst xmlns:a="http://schemas.openxmlformats.org/drawingml/2006/main">
              <a:ext uri="{FF2B5EF4-FFF2-40B4-BE49-F238E27FC236}">
                <a16:creationId xmlns:a16="http://schemas.microsoft.com/office/drawing/2014/main" id="{0A6EA3EE-2210-41CA-85AB-CE2348B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需要时使用工具</a:t>
            </a:r>
          </a:p>
        </p:txBody>
      </p:sp>
      <p:sp>
        <p:nvSpPr>
          <p:cNvPr id="15" name="workflow-body-464">
            <a:extLst xmlns:a="http://schemas.openxmlformats.org/drawingml/2006/main">
              <a:ext uri="{FF2B5EF4-FFF2-40B4-BE49-F238E27FC236}">
                <a16:creationId xmlns:a16="http://schemas.microsoft.com/office/drawing/2014/main" id="{78C6EF90-3FB2-4DF7-BAFE-702B354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它可以查资料、读写文件、运行工具；重要操作会先征求同意。</a:t>
            </a:r>
          </a:p>
        </p:txBody>
      </p:sp>
      <p:sp>
        <p:nvSpPr>
          <p:cNvPr id="16" name="workflow-label-872">
            <a:extLst xmlns:a="http://schemas.openxmlformats.org/drawingml/2006/main">
              <a:ext uri="{FF2B5EF4-FFF2-40B4-BE49-F238E27FC236}">
                <a16:creationId xmlns:a16="http://schemas.microsoft.com/office/drawing/2014/main" id="{4A565C65-CDA8-4C5B-B826-D9F0572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03 · 交付结果</a:t>
            </a:r>
          </a:p>
        </p:txBody>
      </p:sp>
      <p:sp>
        <p:nvSpPr>
          <p:cNvPr id="17" name="workflow-title-872">
            <a:extLst xmlns:a="http://schemas.openxmlformats.org/drawingml/2006/main">
              <a:ext uri="{FF2B5EF4-FFF2-40B4-BE49-F238E27FC236}">
                <a16:creationId xmlns:a16="http://schemas.microsoft.com/office/drawing/2014/main" id="{D87CBDC7-71E8-4740-A55A-D5EC696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成果留在任务里</a:t>
            </a:r>
          </a:p>
        </p:txBody>
      </p:sp>
      <p:sp>
        <p:nvSpPr>
          <p:cNvPr id="18" name="workflow-body-872">
            <a:extLst xmlns:a="http://schemas.openxmlformats.org/drawingml/2006/main">
              <a:ext uri="{FF2B5EF4-FFF2-40B4-BE49-F238E27FC236}">
                <a16:creationId xmlns:a16="http://schemas.microsoft.com/office/drawing/2014/main" id="{4B1CBD29-D110-4260-85C0-DADC3CF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报告、表格、PPT、修改记录和运行结果，都能继续查看和使用。</a:t>
            </a:r>
          </a:p>
        </p:txBody>
      </p:sp>
      <p:sp>
        <p:nvSpPr>
          <p:cNvPr id="19" name="workflow-close">
            <a:extLst xmlns:a="http://schemas.openxmlformats.org/drawingml/2006/main">
              <a:ext uri="{FF2B5EF4-FFF2-40B4-BE49-F238E27FC236}">
                <a16:creationId xmlns:a16="http://schemas.microsoft.com/office/drawing/2014/main" id="{284BF645-B36A-48C5-AAFA-9BDD949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一件事的背景、过程和成果，不再散落在多个窗口里。</a:t>
            </a:r>
          </a:p>
        </p:txBody>
      </p:sp>
    </p:spTree>
    <p:extLst>
      <p:ext uri="{BB962C8B-B14F-4D97-AF65-F5344CB8AC3E}">
        <p14:creationId xmlns:p14="http://schemas.microsoft.com/office/powerpoint/2010/main" val="135099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DCEC48B-ACCA-49BF-8AE1-99158E4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一个桌面工作区，连接对话、文件、工具和结果</a:t>
            </a:r>
          </a:p>
        </p:txBody>
      </p:sp>
      <p:sp>
        <p:nvSpPr>
          <p:cNvPr id="2" name="accent-rule-4">
            <a:extLst xmlns:a="http://schemas.openxmlformats.org/drawingml/2006/main">
              <a:ext uri="{FF2B5EF4-FFF2-40B4-BE49-F238E27FC236}">
                <a16:creationId xmlns:a16="http://schemas.microsoft.com/office/drawing/2014/main" id="{4C1C4116-ECAC-4E68-AC19-3D3D788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4">
            <a:extLst xmlns:a="http://schemas.openxmlformats.org/drawingml/2006/main">
              <a:ext uri="{FF2B5EF4-FFF2-40B4-BE49-F238E27FC236}">
                <a16:creationId xmlns:a16="http://schemas.microsoft.com/office/drawing/2014/main" id="{56A18A6D-BA1A-4FCE-A845-034A2A3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你只面对简单的工作区，复杂步骤由系统在后台组织。</a:t>
            </a:r>
          </a:p>
        </p:txBody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13E38EBA-10EA-4E40-AEE6-3E673763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9C5220D-8CB1-4232-BFBE-30981A5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9B0EAE43-5A0B-4395-B719-2DB5875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574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480351C8-0FE2-4539-A8C5-DBD05BA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5277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E9F32DC3-136C-4E77-8B1C-AF86392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band-0">
            <a:extLst xmlns:a="http://schemas.openxmlformats.org/drawingml/2006/main">
              <a:ext uri="{FF2B5EF4-FFF2-40B4-BE49-F238E27FC236}">
                <a16:creationId xmlns:a16="http://schemas.microsoft.com/office/drawing/2014/main" id="{EF3603EF-7CE8-4739-8B4D-E8785B3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58EFAF7B-38BD-453B-AB8F-FA09C30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个人工作区</a:t>
            </a:r>
          </a:p>
        </p:txBody>
      </p:sp>
      <p:sp>
        <p:nvSpPr>
          <p:cNvPr id="11" name="architecture-content-0">
            <a:extLst xmlns:a="http://schemas.openxmlformats.org/drawingml/2006/main">
              <a:ext uri="{FF2B5EF4-FFF2-40B4-BE49-F238E27FC236}">
                <a16:creationId xmlns:a16="http://schemas.microsoft.com/office/drawing/2014/main" id="{4DE3186D-7662-4FEA-AE26-F259FBE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Windows / macOS 桌面端   ·   手机可以查看和控制在线任务</a:t>
            </a:r>
          </a:p>
        </p:txBody>
      </p:sp>
      <p:sp>
        <p:nvSpPr>
          <p:cNvPr id="12" name="architecture-band-1">
            <a:extLst xmlns:a="http://schemas.openxmlformats.org/drawingml/2006/main">
              <a:ext uri="{FF2B5EF4-FFF2-40B4-BE49-F238E27FC236}">
                <a16:creationId xmlns:a16="http://schemas.microsoft.com/office/drawing/2014/main" id="{A68EDAD7-31AA-40F8-B8BD-12EDBAB4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3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82D4DAD8-04C5-42E0-AFFA-E41B8FF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任务记录</a:t>
            </a:r>
          </a:p>
        </p:txBody>
      </p:sp>
      <p:sp>
        <p:nvSpPr>
          <p:cNvPr id="14" name="architecture-content-1">
            <a:extLst xmlns:a="http://schemas.openxmlformats.org/drawingml/2006/main">
              <a:ext uri="{FF2B5EF4-FFF2-40B4-BE49-F238E27FC236}">
                <a16:creationId xmlns:a16="http://schemas.microsoft.com/office/drawing/2014/main" id="{50B2B439-A211-448A-9347-9B0717C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对话   ·   搜索   ·   文件   ·   成果   ·   长任务进度</a:t>
            </a:r>
          </a:p>
        </p:txBody>
      </p:sp>
      <p:sp>
        <p:nvSpPr>
          <p:cNvPr id="15" name="architecture-band-2">
            <a:extLst xmlns:a="http://schemas.openxmlformats.org/drawingml/2006/main">
              <a:ext uri="{FF2B5EF4-FFF2-40B4-BE49-F238E27FC236}">
                <a16:creationId xmlns:a16="http://schemas.microsoft.com/office/drawing/2014/main" id="{34086989-B083-4FF4-85BC-CB007935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6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21D12A9E-F9DB-42A9-BC26-98EB5D4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可用工具</a:t>
            </a:r>
          </a:p>
        </p:txBody>
      </p:sp>
      <p:sp>
        <p:nvSpPr>
          <p:cNvPr id="17" name="architecture-content-2">
            <a:extLst xmlns:a="http://schemas.openxmlformats.org/drawingml/2006/main">
              <a:ext uri="{FF2B5EF4-FFF2-40B4-BE49-F238E27FC236}">
                <a16:creationId xmlns:a16="http://schemas.microsoft.com/office/drawing/2014/main" id="{E849B26F-1C92-4608-A332-D6E59D01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956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网页   ·   浏览器   ·   命令行   ·   桌面应用   ·   扩展工具</a:t>
            </a:r>
          </a:p>
        </p:txBody>
      </p:sp>
      <p:sp>
        <p:nvSpPr>
          <p:cNvPr id="18" name="architecture-band-3">
            <a:extLst xmlns:a="http://schemas.openxmlformats.org/drawingml/2006/main">
              <a:ext uri="{FF2B5EF4-FFF2-40B4-BE49-F238E27FC236}">
                <a16:creationId xmlns:a16="http://schemas.microsoft.com/office/drawing/2014/main" id="{8BAAF8FE-0475-4BE8-9BA0-8C8D350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5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9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0F885EA0-74A1-4B14-B2DD-05E3F76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个人服务</a:t>
            </a:r>
          </a:p>
        </p:txBody>
      </p:sp>
      <p:sp>
        <p:nvSpPr>
          <p:cNvPr id="20" name="architecture-content-3">
            <a:extLst xmlns:a="http://schemas.openxmlformats.org/drawingml/2006/main">
              <a:ext uri="{FF2B5EF4-FFF2-40B4-BE49-F238E27FC236}">
                <a16:creationId xmlns:a16="http://schemas.microsoft.com/office/drawing/2014/main" id="{BF82ACF2-3B56-4D79-9120-C557711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9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登录与同步   ·   模型选择   ·   用量与费用   ·   远程连接</a:t>
            </a:r>
          </a:p>
        </p:txBody>
      </p:sp>
      <p:sp>
        <p:nvSpPr>
          <p:cNvPr id="21" name="architecture-meaning">
            <a:extLst xmlns:a="http://schemas.openxmlformats.org/drawingml/2006/main">
              <a:ext uri="{FF2B5EF4-FFF2-40B4-BE49-F238E27FC236}">
                <a16:creationId xmlns:a16="http://schemas.microsoft.com/office/drawing/2014/main" id="{6EC52B61-77AF-4592-9CA6-A44D7B3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电脑负责真正执行；你决定它可以访问什么、何时需要确认。</a:t>
            </a:r>
          </a:p>
        </p:txBody>
      </p:sp>
    </p:spTree>
    <p:extLst>
      <p:ext uri="{BB962C8B-B14F-4D97-AF65-F5344CB8AC3E}">
        <p14:creationId xmlns:p14="http://schemas.microsoft.com/office/powerpoint/2010/main" val="1953682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ECC3E91-C949-42A4-8B3B-84B6707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打开 OpenERX，就可以从一句话开始</a:t>
            </a:r>
          </a:p>
        </p:txBody>
      </p:sp>
      <p:sp>
        <p:nvSpPr>
          <p:cNvPr id="2" name="accent-rule-5">
            <a:extLst xmlns:a="http://schemas.openxmlformats.org/drawingml/2006/main">
              <a:ext uri="{FF2B5EF4-FFF2-40B4-BE49-F238E27FC236}">
                <a16:creationId xmlns:a16="http://schemas.microsoft.com/office/drawing/2014/main" id="{7DE49DD3-D0BA-440B-92AC-B6D1C05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5">
            <a:extLst xmlns:a="http://schemas.openxmlformats.org/drawingml/2006/main">
              <a:ext uri="{FF2B5EF4-FFF2-40B4-BE49-F238E27FC236}">
                <a16:creationId xmlns:a16="http://schemas.microsoft.com/office/drawing/2014/main" id="{D8074E2B-F875-498C-AAB9-946B30D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下面是本次从实际运行中的桌面应用获取的新任务页。</a:t>
            </a:r>
          </a:p>
        </p:txBody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28307A9-1C5D-4804-8E13-E8E8B9B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8CF9E60-A4D6-40E2-A5C7-83EF912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25F9A5F9-1460-4BEA-BDF4-5C9934C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先说你想完成什么</a:t>
            </a:r>
          </a:p>
        </p:txBody>
      </p:sp>
      <p:sp>
        <p:nvSpPr>
          <p:cNvPr id="7" name="experience-bullets">
            <a:extLst xmlns:a="http://schemas.openxmlformats.org/drawingml/2006/main">
              <a:ext uri="{FF2B5EF4-FFF2-40B4-BE49-F238E27FC236}">
                <a16:creationId xmlns:a16="http://schemas.microsoft.com/office/drawing/2014/main" id="{4BA62A0F-0A9E-42FD-983A-FFA993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输入目标，或添加文件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选择常用任务，快速开始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历史任务随时查找并继续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文件、工具过程和结果都在同一处</a:t>
            </a:r>
          </a:p>
        </p:txBody>
      </p:sp>
      <p:sp>
        <p:nvSpPr>
          <p:cNvPr id="8" name="experience-callout">
            <a:extLst xmlns:a="http://schemas.openxmlformats.org/drawingml/2006/main">
              <a:ext uri="{FF2B5EF4-FFF2-40B4-BE49-F238E27FC236}">
                <a16:creationId xmlns:a16="http://schemas.microsoft.com/office/drawing/2014/main" id="{E13756C2-8ECE-480E-855C-8D37CFE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perience-callout-text">
            <a:extLst xmlns:a="http://schemas.openxmlformats.org/drawingml/2006/main">
              <a:ext uri="{FF2B5EF4-FFF2-40B4-BE49-F238E27FC236}">
                <a16:creationId xmlns:a16="http://schemas.microsoft.com/office/drawing/2014/main" id="{38C754BA-8B31-48E6-8D5F-10E5161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真实界面，不使用设计稿或拼接示意图。</a:t>
            </a:r>
          </a:p>
        </p:txBody>
      </p:sp>
      <p:sp>
        <p:nvSpPr>
          <p:cNvPr id="10" name="experience-image-frame">
            <a:extLst xmlns:a="http://schemas.openxmlformats.org/drawingml/2006/main">
              <a:ext uri="{FF2B5EF4-FFF2-40B4-BE49-F238E27FC236}">
                <a16:creationId xmlns:a16="http://schemas.microsoft.com/office/drawing/2014/main" id="{10A88EF1-BC1B-4ECB-AD63-51BED4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66850"/>
            <a:ext cx="7038975" cy="4676775"/>
          </a:xfrm>
          <a:prstGeom xmlns:a="http://schemas.openxmlformats.org/drawingml/2006/main" prst="roundRect">
            <a:avLst>
              <a:gd name="adj" fmla="val 2851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edba6c5474105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91075" y="1562100"/>
            <a:ext cx="6848475" cy="4533900"/>
          </a:xfrm>
          <a:prstGeom xmlns:a="http://schemas.openxmlformats.org/drawingml/2006/main" prst="roundRect">
            <a:avLst/>
          </a:prstGeom>
        </p:spPr>
      </p:pic>
      <p:sp>
        <p:nvSpPr>
          <p:cNvPr id="12" name="experience-caption">
            <a:extLst xmlns:a="http://schemas.openxmlformats.org/drawingml/2006/main">
              <a:ext uri="{FF2B5EF4-FFF2-40B4-BE49-F238E27FC236}">
                <a16:creationId xmlns:a16="http://schemas.microsoft.com/office/drawing/2014/main" id="{C8CAED29-5444-47B9-A7CD-A609944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62675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实际运行界面 · 新任务页（2026-08-29）</a:t>
            </a:r>
          </a:p>
        </p:txBody>
      </p:sp>
    </p:spTree>
    <p:extLst>
      <p:ext uri="{BB962C8B-B14F-4D97-AF65-F5344CB8AC3E}">
        <p14:creationId xmlns:p14="http://schemas.microsoft.com/office/powerpoint/2010/main" val="207463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840D395-D992-4786-90ED-5FB8065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常见文件都能读，也能生成可交付成果</a:t>
            </a:r>
          </a:p>
        </p:txBody>
      </p:sp>
      <p:sp>
        <p:nvSpPr>
          <p:cNvPr id="2" name="accent-rule-6">
            <a:extLst xmlns:a="http://schemas.openxmlformats.org/drawingml/2006/main">
              <a:ext uri="{FF2B5EF4-FFF2-40B4-BE49-F238E27FC236}">
                <a16:creationId xmlns:a16="http://schemas.microsoft.com/office/drawing/2014/main" id="{A1D32CCF-3D57-438B-A1F8-C046D9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6">
            <a:extLst xmlns:a="http://schemas.openxmlformats.org/drawingml/2006/main">
              <a:ext uri="{FF2B5EF4-FFF2-40B4-BE49-F238E27FC236}">
                <a16:creationId xmlns:a16="http://schemas.microsoft.com/office/drawing/2014/main" id="{D3C5C184-EE04-4EE7-B205-06C658C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把文件交给 OpenERX，不只得到一段回答，还能继续阅读、整理、修改并保存成果。</a:t>
            </a:r>
          </a:p>
        </p:txBody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F3473CEA-5D6C-40AB-B6A4-BD1B30B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FEEC4F3-F97F-438E-8348-03B21F0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cap-left-panel">
            <a:extLst xmlns:a="http://schemas.openxmlformats.org/drawingml/2006/main">
              <a:ext uri="{FF2B5EF4-FFF2-40B4-BE49-F238E27FC236}">
                <a16:creationId xmlns:a16="http://schemas.microsoft.com/office/drawing/2014/main" id="{3F3701AA-2004-4C25-92D2-73EDFBD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7" name="cap-right-panel">
            <a:extLst xmlns:a="http://schemas.openxmlformats.org/drawingml/2006/main">
              <a:ext uri="{FF2B5EF4-FFF2-40B4-BE49-F238E27FC236}">
                <a16:creationId xmlns:a16="http://schemas.microsoft.com/office/drawing/2014/main" id="{71AE5DA9-820D-4AAD-80F9-DEA569D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5FF"/>
            </a:solidFill>
            <a:prstDash val="solid"/>
          </a:ln>
        </p:spPr>
      </p:sp>
      <p:sp>
        <p:nvSpPr>
          <p:cNvPr id="8" name="cap-left-title">
            <a:extLst xmlns:a="http://schemas.openxmlformats.org/drawingml/2006/main">
              <a:ext uri="{FF2B5EF4-FFF2-40B4-BE49-F238E27FC236}">
                <a16:creationId xmlns:a16="http://schemas.microsoft.com/office/drawing/2014/main" id="{C43B3FED-1732-47AC-A09E-6F3F6E6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读取与理解</a:t>
            </a:r>
          </a:p>
        </p:txBody>
      </p:sp>
      <p:sp>
        <p:nvSpPr>
          <p:cNvPr id="9" name="cap-left-body">
            <a:extLst xmlns:a="http://schemas.openxmlformats.org/drawingml/2006/main">
              <a:ext uri="{FF2B5EF4-FFF2-40B4-BE49-F238E27FC236}">
                <a16:creationId xmlns:a16="http://schemas.microsoft.com/office/drawing/2014/main" id="{66FB1B51-E00F-4D33-85BE-B1ACE6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文档：DOCX、PDF、TXT、Markdown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表格：XLSX、CSV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数据：JSON、YAML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演示与网页：PPTX、HTML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图片：PNG、JPEG、GIF、WebP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代码：Python、JavaScript、SQL 等</a:t>
            </a:r>
          </a:p>
        </p:txBody>
      </p:sp>
      <p:sp>
        <p:nvSpPr>
          <p:cNvPr id="10" name="cap-right-title">
            <a:extLst xmlns:a="http://schemas.openxmlformats.org/drawingml/2006/main">
              <a:ext uri="{FF2B5EF4-FFF2-40B4-BE49-F238E27FC236}">
                <a16:creationId xmlns:a16="http://schemas.microsoft.com/office/drawing/2014/main" id="{42D8813E-D342-455F-9435-BA7575D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创建、修改与交付</a:t>
            </a:r>
          </a:p>
        </p:txBody>
      </p:sp>
      <p:sp>
        <p:nvSpPr>
          <p:cNvPr id="11" name="cap-right-body">
            <a:extLst xmlns:a="http://schemas.openxmlformats.org/drawingml/2006/main">
              <a:ext uri="{FF2B5EF4-FFF2-40B4-BE49-F238E27FC236}">
                <a16:creationId xmlns:a16="http://schemas.microsoft.com/office/drawing/2014/main" id="{E15D72EA-4437-467B-84B4-C42731F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Word 文档（DOCX）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Excel 表格（XLSX）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PowerPoint 演示（PPTX）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PDF 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每页同步生成 SVG / PNG 预览</a:t>
            </a:r>
          </a:p>
        </p:txBody>
      </p:sp>
      <p:sp>
        <p:nvSpPr>
          <p:cNvPr id="12" name="cap-bottom-panel">
            <a:extLst xmlns:a="http://schemas.openxmlformats.org/drawingml/2006/main">
              <a:ext uri="{FF2B5EF4-FFF2-40B4-BE49-F238E27FC236}">
                <a16:creationId xmlns:a16="http://schemas.microsoft.com/office/drawing/2014/main" id="{CAE711A0-126A-4FD8-B0F2-E9EA1DE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bottom-title">
            <a:extLst xmlns:a="http://schemas.openxmlformats.org/drawingml/2006/main">
              <a:ext uri="{FF2B5EF4-FFF2-40B4-BE49-F238E27FC236}">
                <a16:creationId xmlns:a16="http://schemas.microsoft.com/office/drawing/2014/main" id="{9A09B73A-7F94-42E7-85D8-CE5C663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成果留在任务里</a:t>
            </a:r>
          </a:p>
        </p:txBody>
      </p:sp>
      <p:sp>
        <p:nvSpPr>
          <p:cNvPr id="14" name="cap-bottom-body">
            <a:extLst xmlns:a="http://schemas.openxmlformats.org/drawingml/2006/main">
              <a:ext uri="{FF2B5EF4-FFF2-40B4-BE49-F238E27FC236}">
                <a16:creationId xmlns:a16="http://schemas.microsoft.com/office/drawing/2014/main" id="{2F24D5BA-0E89-4061-85CE-17DAFCA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可以继续预览、下载、修改并生成新版本；旧文件不会被静默覆盖。</a:t>
            </a:r>
          </a:p>
        </p:txBody>
      </p:sp>
    </p:spTree>
    <p:extLst>
      <p:ext uri="{BB962C8B-B14F-4D97-AF65-F5344CB8AC3E}">
        <p14:creationId xmlns:p14="http://schemas.microsoft.com/office/powerpoint/2010/main" val="102190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03E44CCF-4156-4182-99C8-7630361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不只读取网页，也能实际操作浏览器</a:t>
            </a:r>
          </a:p>
        </p:txBody>
      </p:sp>
      <p:sp>
        <p:nvSpPr>
          <p:cNvPr id="2" name="accent-rule-7">
            <a:extLst xmlns:a="http://schemas.openxmlformats.org/drawingml/2006/main">
              <a:ext uri="{FF2B5EF4-FFF2-40B4-BE49-F238E27FC236}">
                <a16:creationId xmlns:a16="http://schemas.microsoft.com/office/drawing/2014/main" id="{47605466-E7CA-4BCE-9524-01B7EDB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7">
            <a:extLst xmlns:a="http://schemas.openxmlformats.org/drawingml/2006/main">
              <a:ext uri="{FF2B5EF4-FFF2-40B4-BE49-F238E27FC236}">
                <a16:creationId xmlns:a16="http://schemas.microsoft.com/office/drawing/2014/main" id="{D40949A9-A68F-4585-94C9-3FF2EB8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在你允许的页面或专用窗口中，OpenERX 可以连续完成网页操作。</a:t>
            </a:r>
          </a:p>
        </p:txBody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AE73E90F-FC54-4D9E-8C30-0641452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1DC73DE-85A3-48A1-BC14-4FDCAA9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security-sep-1">
            <a:extLst xmlns:a="http://schemas.openxmlformats.org/drawingml/2006/main">
              <a:ext uri="{FF2B5EF4-FFF2-40B4-BE49-F238E27FC236}">
                <a16:creationId xmlns:a16="http://schemas.microsoft.com/office/drawing/2014/main" id="{A647EFC0-6F05-4A89-B68E-AB03D94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urity-sep-2">
            <a:extLst xmlns:a="http://schemas.openxmlformats.org/drawingml/2006/main">
              <a:ext uri="{FF2B5EF4-FFF2-40B4-BE49-F238E27FC236}">
                <a16:creationId xmlns:a16="http://schemas.microsoft.com/office/drawing/2014/main" id="{57DEF44C-A5E0-4C95-B2BF-BD5D861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urity-1-number">
            <a:extLst xmlns:a="http://schemas.openxmlformats.org/drawingml/2006/main">
              <a:ext uri="{FF2B5EF4-FFF2-40B4-BE49-F238E27FC236}">
                <a16:creationId xmlns:a16="http://schemas.microsoft.com/office/drawing/2014/main" id="{8707F1F0-2841-463A-B799-FC3495E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security-1-heading">
            <a:extLst xmlns:a="http://schemas.openxmlformats.org/drawingml/2006/main">
              <a:ext uri="{FF2B5EF4-FFF2-40B4-BE49-F238E27FC236}">
                <a16:creationId xmlns:a16="http://schemas.microsoft.com/office/drawing/2014/main" id="{A6C64BA2-BD20-46E5-8742-11FC35E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打开与读取</a:t>
            </a:r>
          </a:p>
        </p:txBody>
      </p:sp>
      <p:sp>
        <p:nvSpPr>
          <p:cNvPr id="10" name="security-1-body">
            <a:extLst xmlns:a="http://schemas.openxmlformats.org/drawingml/2006/main">
              <a:ext uri="{FF2B5EF4-FFF2-40B4-BE49-F238E27FC236}">
                <a16:creationId xmlns:a16="http://schemas.microsoft.com/office/drawing/2014/main" id="{C6FC74F6-F9B5-46A9-9A4B-222E884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打开网页、读取可见内容，并在关键步骤截取页面画面。</a:t>
            </a:r>
          </a:p>
        </p:txBody>
      </p:sp>
      <p:sp>
        <p:nvSpPr>
          <p:cNvPr id="11" name="security-2-number">
            <a:extLst xmlns:a="http://schemas.openxmlformats.org/drawingml/2006/main">
              <a:ext uri="{FF2B5EF4-FFF2-40B4-BE49-F238E27FC236}">
                <a16:creationId xmlns:a16="http://schemas.microsoft.com/office/drawing/2014/main" id="{5AA1C409-E028-48A5-93F6-B8B78E3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security-2-heading">
            <a:extLst xmlns:a="http://schemas.openxmlformats.org/drawingml/2006/main">
              <a:ext uri="{FF2B5EF4-FFF2-40B4-BE49-F238E27FC236}">
                <a16:creationId xmlns:a16="http://schemas.microsoft.com/office/drawing/2014/main" id="{1244F2CC-73CD-4B2C-9931-D336B93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点击与输入</a:t>
            </a:r>
          </a:p>
        </p:txBody>
      </p:sp>
      <p:sp>
        <p:nvSpPr>
          <p:cNvPr id="13" name="security-2-body">
            <a:extLst xmlns:a="http://schemas.openxmlformats.org/drawingml/2006/main">
              <a:ext uri="{FF2B5EF4-FFF2-40B4-BE49-F238E27FC236}">
                <a16:creationId xmlns:a16="http://schemas.microsoft.com/office/drawing/2014/main" id="{0421433C-C8D0-47E2-B3FE-44BAA13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点击按钮和链接、聚焦输入框、输入文字，完成多步页面交互。</a:t>
            </a:r>
          </a:p>
        </p:txBody>
      </p:sp>
      <p:sp>
        <p:nvSpPr>
          <p:cNvPr id="14" name="security-3-number">
            <a:extLst xmlns:a="http://schemas.openxmlformats.org/drawingml/2006/main">
              <a:ext uri="{FF2B5EF4-FFF2-40B4-BE49-F238E27FC236}">
                <a16:creationId xmlns:a16="http://schemas.microsoft.com/office/drawing/2014/main" id="{124D374E-35F2-4435-AAFC-148AEB6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security-3-heading">
            <a:extLst xmlns:a="http://schemas.openxmlformats.org/drawingml/2006/main">
              <a:ext uri="{FF2B5EF4-FFF2-40B4-BE49-F238E27FC236}">
                <a16:creationId xmlns:a16="http://schemas.microsoft.com/office/drawing/2014/main" id="{240D2CBF-FFAC-4B9C-B7B8-8BF0628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导航与接管</a:t>
            </a:r>
          </a:p>
        </p:txBody>
      </p:sp>
      <p:sp>
        <p:nvSpPr>
          <p:cNvPr id="16" name="security-3-body">
            <a:extLst xmlns:a="http://schemas.openxmlformats.org/drawingml/2006/main">
              <a:ext uri="{FF2B5EF4-FFF2-40B4-BE49-F238E27FC236}">
                <a16:creationId xmlns:a16="http://schemas.microsoft.com/office/drawing/2014/main" id="{B33CAB30-D649-4996-90B6-6EAB2055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滚动、前进、后退和刷新；你操作鼠标或键盘时会自动暂停。</a:t>
            </a:r>
          </a:p>
        </p:txBody>
      </p:sp>
      <p:sp>
        <p:nvSpPr>
          <p:cNvPr id="17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13CA7E42-841B-4639-8998-CA68BA8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urity-bottom-text">
            <a:extLst xmlns:a="http://schemas.openxmlformats.org/drawingml/2006/main">
              <a:ext uri="{FF2B5EF4-FFF2-40B4-BE49-F238E27FC236}">
                <a16:creationId xmlns:a16="http://schemas.microsoft.com/office/drawing/2014/main" id="{2F54B065-4BDA-405E-8C19-AB0459B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登录、上传、下载、系统认证和浏览器权限提示由你接管；提交、发送、删除或购买前再次确认。</a:t>
            </a:r>
          </a:p>
        </p:txBody>
      </p:sp>
    </p:spTree>
    <p:extLst>
      <p:ext uri="{BB962C8B-B14F-4D97-AF65-F5344CB8AC3E}">
        <p14:creationId xmlns:p14="http://schemas.microsoft.com/office/powerpoint/2010/main" val="146691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F4717E5-5B46-413C-A755-78178D2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你可以换模型，也能看清用了多少</a:t>
            </a:r>
          </a:p>
        </p:txBody>
      </p:sp>
      <p:sp>
        <p:nvSpPr>
          <p:cNvPr id="2" name="accent-rule-8">
            <a:extLst xmlns:a="http://schemas.openxmlformats.org/drawingml/2006/main">
              <a:ext uri="{FF2B5EF4-FFF2-40B4-BE49-F238E27FC236}">
                <a16:creationId xmlns:a16="http://schemas.microsoft.com/office/drawing/2014/main" id="{67B5C1E3-F0CA-4C63-8279-46449FD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8">
            <a:extLst xmlns:a="http://schemas.openxmlformats.org/drawingml/2006/main">
              <a:ext uri="{FF2B5EF4-FFF2-40B4-BE49-F238E27FC236}">
                <a16:creationId xmlns:a16="http://schemas.microsoft.com/office/drawing/2014/main" id="{A5D46853-9A74-43F2-9A73-DE4215A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不同任务可以选择不同模型，使用记录和费用信息放在同一处查看。</a:t>
            </a:r>
          </a:p>
        </p:txBody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3CF72EFA-4400-4C10-AF48-49D106F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BD20EF0-CCD4-4E7D-B590-8DA4B1D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cost-arrow-1">
            <a:extLst xmlns:a="http://schemas.openxmlformats.org/drawingml/2006/main">
              <a:ext uri="{FF2B5EF4-FFF2-40B4-BE49-F238E27FC236}">
                <a16:creationId xmlns:a16="http://schemas.microsoft.com/office/drawing/2014/main" id="{C9F94FF5-6D5E-4D0E-A99C-251CEEC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st-arrow-2">
            <a:extLst xmlns:a="http://schemas.openxmlformats.org/drawingml/2006/main">
              <a:ext uri="{FF2B5EF4-FFF2-40B4-BE49-F238E27FC236}">
                <a16:creationId xmlns:a16="http://schemas.microsoft.com/office/drawing/2014/main" id="{F303FCCB-C7DE-490B-9031-8336EF7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card-0">
            <a:extLst xmlns:a="http://schemas.openxmlformats.org/drawingml/2006/main">
              <a:ext uri="{FF2B5EF4-FFF2-40B4-BE49-F238E27FC236}">
                <a16:creationId xmlns:a16="http://schemas.microsoft.com/office/drawing/2014/main" id="{9EA72DBA-E2F7-46A6-9C34-33B2A38E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9" name="cost-title-0">
            <a:extLst xmlns:a="http://schemas.openxmlformats.org/drawingml/2006/main">
              <a:ext uri="{FF2B5EF4-FFF2-40B4-BE49-F238E27FC236}">
                <a16:creationId xmlns:a16="http://schemas.microsoft.com/office/drawing/2014/main" id="{11032FF6-710B-4247-83A9-94F815E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选择模型</a:t>
            </a:r>
          </a:p>
        </p:txBody>
      </p:sp>
      <p:sp>
        <p:nvSpPr>
          <p:cNvPr id="10" name="cost-body-0">
            <a:extLst xmlns:a="http://schemas.openxmlformats.org/drawingml/2006/main">
              <a:ext uri="{FF2B5EF4-FFF2-40B4-BE49-F238E27FC236}">
                <a16:creationId xmlns:a16="http://schemas.microsoft.com/office/drawing/2014/main" id="{3E588E15-6805-4B0E-98BE-DC4910B5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查看可用模型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按任务需要切换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如果自动换了模型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会明确提示</a:t>
            </a:r>
          </a:p>
        </p:txBody>
      </p:sp>
      <p:sp>
        <p:nvSpPr>
          <p:cNvPr id="11" name="cost-card-1">
            <a:extLst xmlns:a="http://schemas.openxmlformats.org/drawingml/2006/main">
              <a:ext uri="{FF2B5EF4-FFF2-40B4-BE49-F238E27FC236}">
                <a16:creationId xmlns:a16="http://schemas.microsoft.com/office/drawing/2014/main" id="{22463D64-5908-4A2B-91D8-53079AB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2" name="cost-title-1">
            <a:extLst xmlns:a="http://schemas.openxmlformats.org/drawingml/2006/main">
              <a:ext uri="{FF2B5EF4-FFF2-40B4-BE49-F238E27FC236}">
                <a16:creationId xmlns:a16="http://schemas.microsoft.com/office/drawing/2014/main" id="{0040C8F4-EAEF-45DD-903C-BD523DE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· 查看用量</a:t>
            </a:r>
          </a:p>
        </p:txBody>
      </p:sp>
      <p:sp>
        <p:nvSpPr>
          <p:cNvPr id="13" name="cost-body-1">
            <a:extLst xmlns:a="http://schemas.openxmlformats.org/drawingml/2006/main">
              <a:ext uri="{FF2B5EF4-FFF2-40B4-BE49-F238E27FC236}">
                <a16:creationId xmlns:a16="http://schemas.microsoft.com/office/drawing/2014/main" id="{3CFAE115-D90F-446C-B711-EEDBB67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查看对话使用量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按模型了解消耗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失败与停止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仍保留记录</a:t>
            </a:r>
          </a:p>
        </p:txBody>
      </p:sp>
      <p:sp>
        <p:nvSpPr>
          <p:cNvPr id="14" name="cost-card-2">
            <a:extLst xmlns:a="http://schemas.openxmlformats.org/drawingml/2006/main">
              <a:ext uri="{FF2B5EF4-FFF2-40B4-BE49-F238E27FC236}">
                <a16:creationId xmlns:a16="http://schemas.microsoft.com/office/drawing/2014/main" id="{1AA328DF-D248-4CD8-AD6A-F2CB5B7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5" name="cost-title-2">
            <a:extLst xmlns:a="http://schemas.openxmlformats.org/drawingml/2006/main">
              <a:ext uri="{FF2B5EF4-FFF2-40B4-BE49-F238E27FC236}">
                <a16:creationId xmlns:a16="http://schemas.microsoft.com/office/drawing/2014/main" id="{5C1C06DA-9F85-48AC-8BDF-B004AF7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 · 了解费用</a:t>
            </a:r>
          </a:p>
        </p:txBody>
      </p:sp>
      <p:sp>
        <p:nvSpPr>
          <p:cNvPr id="16" name="cost-body-2">
            <a:extLst xmlns:a="http://schemas.openxmlformats.org/drawingml/2006/main">
              <a:ext uri="{FF2B5EF4-FFF2-40B4-BE49-F238E27FC236}">
                <a16:creationId xmlns:a16="http://schemas.microsoft.com/office/drawing/2014/main" id="{3FBE9293-240E-4453-9E8A-45DF51E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执行前查看预计费用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完成后查看实际记录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账单与用量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相互对应</a:t>
            </a:r>
          </a:p>
        </p:txBody>
      </p:sp>
      <p:sp>
        <p:nvSpPr>
          <p:cNvPr id="17" name="cost-bottom">
            <a:extLst xmlns:a="http://schemas.openxmlformats.org/drawingml/2006/main">
              <a:ext uri="{FF2B5EF4-FFF2-40B4-BE49-F238E27FC236}">
                <a16:creationId xmlns:a16="http://schemas.microsoft.com/office/drawing/2014/main" id="{491B0463-5425-4AA8-B9F2-50A7F23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cost-bottom-text">
            <a:extLst xmlns:a="http://schemas.openxmlformats.org/drawingml/2006/main">
              <a:ext uri="{FF2B5EF4-FFF2-40B4-BE49-F238E27FC236}">
                <a16:creationId xmlns:a16="http://schemas.microsoft.com/office/drawing/2014/main" id="{AEAC8A56-A08E-4CBF-A0B6-5351817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当前个人版展示这些信息；实际可用模型和费用取决于已连接的服务。</a:t>
            </a:r>
          </a:p>
        </p:txBody>
      </p:sp>
    </p:spTree>
    <p:extLst>
      <p:ext uri="{BB962C8B-B14F-4D97-AF65-F5344CB8AC3E}">
        <p14:creationId xmlns:p14="http://schemas.microsoft.com/office/powerpoint/2010/main" val="243530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ABC45A0-A03B-4C6D-AE81-14E6224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离开电脑，也能在手机上继续看任务</a:t>
            </a:r>
          </a:p>
        </p:txBody>
      </p:sp>
      <p:sp>
        <p:nvSpPr>
          <p:cNvPr id="2" name="accent-rule-9">
            <a:extLst xmlns:a="http://schemas.openxmlformats.org/drawingml/2006/main">
              <a:ext uri="{FF2B5EF4-FFF2-40B4-BE49-F238E27FC236}">
                <a16:creationId xmlns:a16="http://schemas.microsoft.com/office/drawing/2014/main" id="{3BF973F8-2A09-4CB2-BF56-7995328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9">
            <a:extLst xmlns:a="http://schemas.openxmlformats.org/drawingml/2006/main">
              <a:ext uri="{FF2B5EF4-FFF2-40B4-BE49-F238E27FC236}">
                <a16:creationId xmlns:a16="http://schemas.microsoft.com/office/drawing/2014/main" id="{E266BA31-D8D7-4C89-BC1E-129CED5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只要电脑在线，你可以用手机查看进度、发送补充说明或停止任务。</a:t>
            </a:r>
          </a:p>
        </p:txBody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D3F3C88-A6DB-4911-BE47-69D5F48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90724ECE-4C73-4721-8F80-9ACDFBF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remote-arrow-1">
            <a:extLst xmlns:a="http://schemas.openxmlformats.org/drawingml/2006/main">
              <a:ext uri="{FF2B5EF4-FFF2-40B4-BE49-F238E27FC236}">
                <a16:creationId xmlns:a16="http://schemas.microsoft.com/office/drawing/2014/main" id="{B50842BD-8176-4267-8BDD-6BC8AE7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mote-arrow-2">
            <a:extLst xmlns:a="http://schemas.openxmlformats.org/drawingml/2006/main">
              <a:ext uri="{FF2B5EF4-FFF2-40B4-BE49-F238E27FC236}">
                <a16:creationId xmlns:a16="http://schemas.microsoft.com/office/drawing/2014/main" id="{B5A6190D-7C7D-4F5A-8077-F217B75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mote-link-label">
            <a:extLst xmlns:a="http://schemas.openxmlformats.org/drawingml/2006/main">
              <a:ext uri="{FF2B5EF4-FFF2-40B4-BE49-F238E27FC236}">
                <a16:creationId xmlns:a16="http://schemas.microsoft.com/office/drawing/2014/main" id="{C881A5BC-6511-4000-97BB-8287356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手机与电脑建立加密连接</a:t>
            </a:r>
          </a:p>
        </p:txBody>
      </p:sp>
      <p:sp>
        <p:nvSpPr>
          <p:cNvPr id="9" name="remote-node-0">
            <a:extLst xmlns:a="http://schemas.openxmlformats.org/drawingml/2006/main">
              <a:ext uri="{FF2B5EF4-FFF2-40B4-BE49-F238E27FC236}">
                <a16:creationId xmlns:a16="http://schemas.microsoft.com/office/drawing/2014/main" id="{DC27DFC5-A9EC-435A-AEAF-42ABE1C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remote-title-0">
            <a:extLst xmlns:a="http://schemas.openxmlformats.org/drawingml/2006/main">
              <a:ext uri="{FF2B5EF4-FFF2-40B4-BE49-F238E27FC236}">
                <a16:creationId xmlns:a16="http://schemas.microsoft.com/office/drawing/2014/main" id="{9429C900-364D-48B7-810F-7C4E615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手机端</a:t>
            </a:r>
          </a:p>
        </p:txBody>
      </p:sp>
      <p:sp>
        <p:nvSpPr>
          <p:cNvPr id="11" name="remote-sub-0">
            <a:extLst xmlns:a="http://schemas.openxmlformats.org/drawingml/2006/main">
              <a:ext uri="{FF2B5EF4-FFF2-40B4-BE49-F238E27FC236}">
                <a16:creationId xmlns:a16="http://schemas.microsoft.com/office/drawing/2014/main" id="{1E4CD614-5ED3-4A7A-AED5-38CF5BE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查看与控制</a:t>
            </a:r>
          </a:p>
        </p:txBody>
      </p:sp>
      <p:sp>
        <p:nvSpPr>
          <p:cNvPr id="12" name="remote-body-0">
            <a:extLst xmlns:a="http://schemas.openxmlformats.org/drawingml/2006/main">
              <a:ext uri="{FF2B5EF4-FFF2-40B4-BE49-F238E27FC236}">
                <a16:creationId xmlns:a16="http://schemas.microsoft.com/office/drawing/2014/main" id="{9888F2F8-CFE4-4FB8-8AF2-914194F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查看任务和通知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补充说明或排队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确认、停止和继续</a:t>
            </a:r>
          </a:p>
        </p:txBody>
      </p:sp>
      <p:sp>
        <p:nvSpPr>
          <p:cNvPr id="13" name="remote-node-1">
            <a:extLst xmlns:a="http://schemas.openxmlformats.org/drawingml/2006/main">
              <a:ext uri="{FF2B5EF4-FFF2-40B4-BE49-F238E27FC236}">
                <a16:creationId xmlns:a16="http://schemas.microsoft.com/office/drawing/2014/main" id="{72951FAC-FC8A-4DBB-93FF-DFED6AF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4" name="remote-title-1">
            <a:extLst xmlns:a="http://schemas.openxmlformats.org/drawingml/2006/main">
              <a:ext uri="{FF2B5EF4-FFF2-40B4-BE49-F238E27FC236}">
                <a16:creationId xmlns:a16="http://schemas.microsoft.com/office/drawing/2014/main" id="{61469EE9-2D6A-47AA-B3AD-64B3E9A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连接服务</a:t>
            </a:r>
          </a:p>
        </p:txBody>
      </p:sp>
      <p:sp>
        <p:nvSpPr>
          <p:cNvPr id="15" name="remote-sub-1">
            <a:extLst xmlns:a="http://schemas.openxmlformats.org/drawingml/2006/main">
              <a:ext uri="{FF2B5EF4-FFF2-40B4-BE49-F238E27FC236}">
                <a16:creationId xmlns:a16="http://schemas.microsoft.com/office/drawing/2014/main" id="{D734A8AC-6234-4E2A-9DB4-EEED9E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只负责转发</a:t>
            </a:r>
          </a:p>
        </p:txBody>
      </p:sp>
      <p:sp>
        <p:nvSpPr>
          <p:cNvPr id="16" name="remote-body-1">
            <a:extLst xmlns:a="http://schemas.openxmlformats.org/drawingml/2006/main">
              <a:ext uri="{FF2B5EF4-FFF2-40B4-BE49-F238E27FC236}">
                <a16:creationId xmlns:a16="http://schemas.microsoft.com/office/drawing/2014/main" id="{078D0E37-A11D-48B7-927B-42F28F0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确认设备在线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转发加密消息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不代替电脑执行</a:t>
            </a:r>
          </a:p>
        </p:txBody>
      </p:sp>
      <p:sp>
        <p:nvSpPr>
          <p:cNvPr id="17" name="remote-node-2">
            <a:extLst xmlns:a="http://schemas.openxmlformats.org/drawingml/2006/main">
              <a:ext uri="{FF2B5EF4-FFF2-40B4-BE49-F238E27FC236}">
                <a16:creationId xmlns:a16="http://schemas.microsoft.com/office/drawing/2014/main" id="{89ECB91E-A666-49BB-85E0-29B1423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remote-title-2">
            <a:extLst xmlns:a="http://schemas.openxmlformats.org/drawingml/2006/main">
              <a:ext uri="{FF2B5EF4-FFF2-40B4-BE49-F238E27FC236}">
                <a16:creationId xmlns:a16="http://schemas.microsoft.com/office/drawing/2014/main" id="{F21F54D7-08C0-4FC2-8A1D-96FD995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电脑端</a:t>
            </a:r>
          </a:p>
        </p:txBody>
      </p:sp>
      <p:sp>
        <p:nvSpPr>
          <p:cNvPr id="19" name="remote-sub-2">
            <a:extLst xmlns:a="http://schemas.openxmlformats.org/drawingml/2006/main">
              <a:ext uri="{FF2B5EF4-FFF2-40B4-BE49-F238E27FC236}">
                <a16:creationId xmlns:a16="http://schemas.microsoft.com/office/drawing/2014/main" id="{BF08CCB2-BBC9-40C4-9E09-8CF361E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真正完成工作</a:t>
            </a:r>
          </a:p>
        </p:txBody>
      </p:sp>
      <p:sp>
        <p:nvSpPr>
          <p:cNvPr id="20" name="remote-body-2">
            <a:extLst xmlns:a="http://schemas.openxmlformats.org/drawingml/2006/main">
              <a:ext uri="{FF2B5EF4-FFF2-40B4-BE49-F238E27FC236}">
                <a16:creationId xmlns:a16="http://schemas.microsoft.com/office/drawing/2014/main" id="{F4CB80BA-04E7-4BBD-873B-8C7F963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读取本地文件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使用本机工具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保存任务与成果</a:t>
            </a:r>
          </a:p>
        </p:txBody>
      </p:sp>
      <p:sp>
        <p:nvSpPr>
          <p:cNvPr id="21" name="remote-boundary">
            <a:extLst xmlns:a="http://schemas.openxmlformats.org/drawingml/2006/main">
              <a:ext uri="{FF2B5EF4-FFF2-40B4-BE49-F238E27FC236}">
                <a16:creationId xmlns:a16="http://schemas.microsoft.com/office/drawing/2014/main" id="{F347F414-C0A1-4E2E-B2A0-CC38688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mote-boundary-text">
            <a:extLst xmlns:a="http://schemas.openxmlformats.org/drawingml/2006/main">
              <a:ext uri="{FF2B5EF4-FFF2-40B4-BE49-F238E27FC236}">
                <a16:creationId xmlns:a16="http://schemas.microsoft.com/office/drawing/2014/main" id="{30217977-69F4-4AC1-BAA5-E15F5A0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需要电脑保持在线；它不是远程桌面，也不能唤醒或代替离线电脑。</a:t>
            </a:r>
          </a:p>
        </p:txBody>
      </p:sp>
    </p:spTree>
    <p:extLst>
      <p:ext uri="{BB962C8B-B14F-4D97-AF65-F5344CB8AC3E}">
        <p14:creationId xmlns:p14="http://schemas.microsoft.com/office/powerpoint/2010/main" val="430269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2D752E6-513F-480D-8191-847241E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适合个人的这些日常工作</a:t>
            </a:r>
          </a:p>
        </p:txBody>
      </p:sp>
      <p:sp>
        <p:nvSpPr>
          <p:cNvPr id="2" name="accent-rule-10">
            <a:extLst xmlns:a="http://schemas.openxmlformats.org/drawingml/2006/main">
              <a:ext uri="{FF2B5EF4-FFF2-40B4-BE49-F238E27FC236}">
                <a16:creationId xmlns:a16="http://schemas.microsoft.com/office/drawing/2014/main" id="{765F1CE5-91B9-46A9-A772-EBB9612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0">
            <a:extLst xmlns:a="http://schemas.openxmlformats.org/drawingml/2006/main">
              <a:ext uri="{FF2B5EF4-FFF2-40B4-BE49-F238E27FC236}">
                <a16:creationId xmlns:a16="http://schemas.microsoft.com/office/drawing/2014/main" id="{72329272-463A-4B22-BE91-80DA7DA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它更适合需要持续背景、真实文件和可交付成果的个人任务。</a:t>
            </a:r>
          </a:p>
        </p:txBody>
      </p:sp>
      <p:sp>
        <p:nvSpPr>
          <p:cNvPr id="4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CF8D1FA6-C61C-4ABB-96FC-C0948EA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8447C4DD-D85C-4E0E-935A-FAE352E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value-sep-1">
            <a:extLst xmlns:a="http://schemas.openxmlformats.org/drawingml/2006/main">
              <a:ext uri="{FF2B5EF4-FFF2-40B4-BE49-F238E27FC236}">
                <a16:creationId xmlns:a16="http://schemas.microsoft.com/office/drawing/2014/main" id="{9A26B721-3669-45D7-92D9-3B99D1A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ue-sep-2">
            <a:extLst xmlns:a="http://schemas.openxmlformats.org/drawingml/2006/main">
              <a:ext uri="{FF2B5EF4-FFF2-40B4-BE49-F238E27FC236}">
                <a16:creationId xmlns:a16="http://schemas.microsoft.com/office/drawing/2014/main" id="{2EA34FA2-F489-4F0D-BC35-F82D606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alue-1-number">
            <a:extLst xmlns:a="http://schemas.openxmlformats.org/drawingml/2006/main">
              <a:ext uri="{FF2B5EF4-FFF2-40B4-BE49-F238E27FC236}">
                <a16:creationId xmlns:a16="http://schemas.microsoft.com/office/drawing/2014/main" id="{1296DF4F-3071-4AAC-936F-5DA2455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value-1-heading">
            <a:extLst xmlns:a="http://schemas.openxmlformats.org/drawingml/2006/main">
              <a:ext uri="{FF2B5EF4-FFF2-40B4-BE49-F238E27FC236}">
                <a16:creationId xmlns:a16="http://schemas.microsoft.com/office/drawing/2014/main" id="{C0144B66-3B1C-42A0-8CA2-8D1A37F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写作与整理</a:t>
            </a:r>
          </a:p>
        </p:txBody>
      </p:sp>
      <p:sp>
        <p:nvSpPr>
          <p:cNvPr id="10" name="value-1-body">
            <a:extLst xmlns:a="http://schemas.openxmlformats.org/drawingml/2006/main">
              <a:ext uri="{FF2B5EF4-FFF2-40B4-BE49-F238E27FC236}">
                <a16:creationId xmlns:a16="http://schemas.microsoft.com/office/drawing/2014/main" id="{3ADC7F34-4896-42B0-A6FE-8F933862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整理会议材料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制作执行摘要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生成报告、表格与演示文稿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搜索过去的任务</a:t>
            </a:r>
          </a:p>
        </p:txBody>
      </p:sp>
      <p:sp>
        <p:nvSpPr>
          <p:cNvPr id="11" name="value-2-number">
            <a:extLst xmlns:a="http://schemas.openxmlformats.org/drawingml/2006/main">
              <a:ext uri="{FF2B5EF4-FFF2-40B4-BE49-F238E27FC236}">
                <a16:creationId xmlns:a16="http://schemas.microsoft.com/office/drawing/2014/main" id="{F135BB51-2242-46AA-8005-0DCA8D2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value-2-heading">
            <a:extLst xmlns:a="http://schemas.openxmlformats.org/drawingml/2006/main">
              <a:ext uri="{FF2B5EF4-FFF2-40B4-BE49-F238E27FC236}">
                <a16:creationId xmlns:a16="http://schemas.microsoft.com/office/drawing/2014/main" id="{18AB7EEA-A63D-41E5-9AC5-DD20F7C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开发与分析</a:t>
            </a:r>
          </a:p>
        </p:txBody>
      </p:sp>
      <p:sp>
        <p:nvSpPr>
          <p:cNvPr id="13" name="value-2-body">
            <a:extLst xmlns:a="http://schemas.openxmlformats.org/drawingml/2006/main">
              <a:ext uri="{FF2B5EF4-FFF2-40B4-BE49-F238E27FC236}">
                <a16:creationId xmlns:a16="http://schemas.microsoft.com/office/drawing/2014/main" id="{FA3ACA88-2C30-43AF-AA8E-D6A3A0E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理解项目和代码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查找问题并修改文件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运行命令、测试和验证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保留修改记录</a:t>
            </a:r>
          </a:p>
        </p:txBody>
      </p:sp>
      <p:sp>
        <p:nvSpPr>
          <p:cNvPr id="14" name="value-3-number">
            <a:extLst xmlns:a="http://schemas.openxmlformats.org/drawingml/2006/main">
              <a:ext uri="{FF2B5EF4-FFF2-40B4-BE49-F238E27FC236}">
                <a16:creationId xmlns:a16="http://schemas.microsoft.com/office/drawing/2014/main" id="{9128EC85-EECB-45BE-981A-5B1243B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value-3-heading">
            <a:extLst xmlns:a="http://schemas.openxmlformats.org/drawingml/2006/main">
              <a:ext uri="{FF2B5EF4-FFF2-40B4-BE49-F238E27FC236}">
                <a16:creationId xmlns:a16="http://schemas.microsoft.com/office/drawing/2014/main" id="{62275F3C-2A8D-41E0-A45D-1C8E5AC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重复工作</a:t>
            </a:r>
          </a:p>
        </p:txBody>
      </p:sp>
      <p:sp>
        <p:nvSpPr>
          <p:cNvPr id="16" name="value-3-body">
            <a:extLst xmlns:a="http://schemas.openxmlformats.org/drawingml/2006/main">
              <a:ext uri="{FF2B5EF4-FFF2-40B4-BE49-F238E27FC236}">
                <a16:creationId xmlns:a16="http://schemas.microsoft.com/office/drawing/2014/main" id="{1F5F03BD-E4DC-4A9F-BC7E-A3816B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整理网页信息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处理固定格式材料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复用常用功能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在手机上继续长任务</a:t>
            </a:r>
          </a:p>
        </p:txBody>
      </p:sp>
      <p:sp>
        <p:nvSpPr>
          <p:cNvPr id="17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34A7C288-8F21-47F2-8DD7-753C277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bottom-text">
            <a:extLst xmlns:a="http://schemas.openxmlformats.org/drawingml/2006/main">
              <a:ext uri="{FF2B5EF4-FFF2-40B4-BE49-F238E27FC236}">
                <a16:creationId xmlns:a16="http://schemas.microsoft.com/office/drawing/2014/main" id="{3BA6BDB4-D91B-49EE-9AB8-8784A98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重点不是增加一个聊天窗口，而是帮助你把一件事完整做完。</a:t>
            </a:r>
          </a:p>
        </p:txBody>
      </p:sp>
    </p:spTree>
    <p:extLst>
      <p:ext uri="{BB962C8B-B14F-4D97-AF65-F5344CB8AC3E}">
        <p14:creationId xmlns:p14="http://schemas.microsoft.com/office/powerpoint/2010/main" val="586244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E4F1B451-D9C5-4D74-A31E-7389BE0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当前版本是个人版工作平台</a:t>
            </a:r>
          </a:p>
        </p:txBody>
      </p:sp>
      <p:sp>
        <p:nvSpPr>
          <p:cNvPr id="2" name="accent-rule-11">
            <a:extLst xmlns:a="http://schemas.openxmlformats.org/drawingml/2006/main">
              <a:ext uri="{FF2B5EF4-FFF2-40B4-BE49-F238E27FC236}">
                <a16:creationId xmlns:a16="http://schemas.microsoft.com/office/drawing/2014/main" id="{CB3C8CCC-DB6C-4443-9533-6DB10E8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1">
            <a:extLst xmlns:a="http://schemas.openxmlformats.org/drawingml/2006/main">
              <a:ext uri="{FF2B5EF4-FFF2-40B4-BE49-F238E27FC236}">
                <a16:creationId xmlns:a16="http://schemas.microsoft.com/office/drawing/2014/main" id="{1AD5BDF5-A208-4FAC-81B0-F544DE5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本次说明只介绍已经实现或正在验证的个人能力，不包含企业版能力。</a:t>
            </a:r>
          </a:p>
        </p:txBody>
      </p:sp>
      <p:sp>
        <p:nvSpPr>
          <p:cNvPr id="4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6CD6ED5-CA60-4E25-B3AF-C3889DEF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047D0191-A963-4DA6-AE14-1BF105B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delivery-line">
            <a:extLst xmlns:a="http://schemas.openxmlformats.org/drawingml/2006/main">
              <a:ext uri="{FF2B5EF4-FFF2-40B4-BE49-F238E27FC236}">
                <a16:creationId xmlns:a16="http://schemas.microsoft.com/office/drawing/2014/main" id="{1ECF1890-0BE1-4302-BDC4-77DA45D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livery-dot-0">
            <a:extLst xmlns:a="http://schemas.openxmlformats.org/drawingml/2006/main">
              <a:ext uri="{FF2B5EF4-FFF2-40B4-BE49-F238E27FC236}">
                <a16:creationId xmlns:a16="http://schemas.microsoft.com/office/drawing/2014/main" id="{027B7348-9346-4FD7-AB34-702108C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livery-dot-1">
            <a:extLst xmlns:a="http://schemas.openxmlformats.org/drawingml/2006/main">
              <a:ext uri="{FF2B5EF4-FFF2-40B4-BE49-F238E27FC236}">
                <a16:creationId xmlns:a16="http://schemas.microsoft.com/office/drawing/2014/main" id="{1E409C99-AA36-4611-BC1A-D520F9F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livery-dot-2">
            <a:extLst xmlns:a="http://schemas.openxmlformats.org/drawingml/2006/main">
              <a:ext uri="{FF2B5EF4-FFF2-40B4-BE49-F238E27FC236}">
                <a16:creationId xmlns:a16="http://schemas.microsoft.com/office/drawing/2014/main" id="{91E9F84D-48F1-4F07-AB48-7B0F315D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livery-label-56">
            <a:extLst xmlns:a="http://schemas.openxmlformats.org/drawingml/2006/main">
              <a:ext uri="{FF2B5EF4-FFF2-40B4-BE49-F238E27FC236}">
                <a16:creationId xmlns:a16="http://schemas.microsoft.com/office/drawing/2014/main" id="{72973479-5025-42F4-BB79-5B51A52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现在已经有</a:t>
            </a:r>
          </a:p>
        </p:txBody>
      </p:sp>
      <p:sp>
        <p:nvSpPr>
          <p:cNvPr id="11" name="delivery-title-56">
            <a:extLst xmlns:a="http://schemas.openxmlformats.org/drawingml/2006/main">
              <a:ext uri="{FF2B5EF4-FFF2-40B4-BE49-F238E27FC236}">
                <a16:creationId xmlns:a16="http://schemas.microsoft.com/office/drawing/2014/main" id="{E4886563-385E-48C2-B312-41B46C2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个人工作闭环</a:t>
            </a:r>
          </a:p>
        </p:txBody>
      </p:sp>
      <p:sp>
        <p:nvSpPr>
          <p:cNvPr id="12" name="delivery-body-56">
            <a:extLst xmlns:a="http://schemas.openxmlformats.org/drawingml/2006/main">
              <a:ext uri="{FF2B5EF4-FFF2-40B4-BE49-F238E27FC236}">
                <a16:creationId xmlns:a16="http://schemas.microsoft.com/office/drawing/2014/main" id="{A751D880-AA8A-438F-88D3-5D71070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对话、文件、工具、成果、搜索、模型选择、用量记录与远程查看。</a:t>
            </a:r>
          </a:p>
        </p:txBody>
      </p:sp>
      <p:sp>
        <p:nvSpPr>
          <p:cNvPr id="13" name="delivery-label-464">
            <a:extLst xmlns:a="http://schemas.openxmlformats.org/drawingml/2006/main">
              <a:ext uri="{FF2B5EF4-FFF2-40B4-BE49-F238E27FC236}">
                <a16:creationId xmlns:a16="http://schemas.microsoft.com/office/drawing/2014/main" id="{4508E878-8FB1-4D98-B93E-C2C81EA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继续完善</a:t>
            </a:r>
          </a:p>
        </p:txBody>
      </p:sp>
      <p:sp>
        <p:nvSpPr>
          <p:cNvPr id="14" name="delivery-title-464">
            <a:extLst xmlns:a="http://schemas.openxmlformats.org/drawingml/2006/main">
              <a:ext uri="{FF2B5EF4-FFF2-40B4-BE49-F238E27FC236}">
                <a16:creationId xmlns:a16="http://schemas.microsoft.com/office/drawing/2014/main" id="{5365707D-5568-46AA-ACBD-8DFE227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真实环境体验</a:t>
            </a:r>
          </a:p>
        </p:txBody>
      </p:sp>
      <p:sp>
        <p:nvSpPr>
          <p:cNvPr id="15" name="delivery-body-464">
            <a:extLst xmlns:a="http://schemas.openxmlformats.org/drawingml/2006/main">
              <a:ext uri="{FF2B5EF4-FFF2-40B4-BE49-F238E27FC236}">
                <a16:creationId xmlns:a16="http://schemas.microsoft.com/office/drawing/2014/main" id="{433E7989-1B31-4B95-A88A-1AD7A71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外部发布、真实模型接入、登录同步、跨平台稳定性和更多工具仍在验证。</a:t>
            </a:r>
          </a:p>
        </p:txBody>
      </p:sp>
      <p:sp>
        <p:nvSpPr>
          <p:cNvPr id="16" name="delivery-label-872">
            <a:extLst xmlns:a="http://schemas.openxmlformats.org/drawingml/2006/main">
              <a:ext uri="{FF2B5EF4-FFF2-40B4-BE49-F238E27FC236}">
                <a16:creationId xmlns:a16="http://schemas.microsoft.com/office/drawing/2014/main" id="{649EEA01-E6BB-450C-A94B-80F9501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rPr>
              <a:t>暂未包含</a:t>
            </a:r>
          </a:p>
        </p:txBody>
      </p:sp>
      <p:sp>
        <p:nvSpPr>
          <p:cNvPr id="17" name="delivery-title-872">
            <a:extLst xmlns:a="http://schemas.openxmlformats.org/drawingml/2006/main">
              <a:ext uri="{FF2B5EF4-FFF2-40B4-BE49-F238E27FC236}">
                <a16:creationId xmlns:a16="http://schemas.microsoft.com/office/drawing/2014/main" id="{114A961D-DE7C-47D2-AE79-0034B1F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企业管理能力</a:t>
            </a:r>
          </a:p>
        </p:txBody>
      </p:sp>
      <p:sp>
        <p:nvSpPr>
          <p:cNvPr id="18" name="delivery-body-872">
            <a:extLst xmlns:a="http://schemas.openxmlformats.org/drawingml/2006/main">
              <a:ext uri="{FF2B5EF4-FFF2-40B4-BE49-F238E27FC236}">
                <a16:creationId xmlns:a16="http://schemas.microsoft.com/office/drawing/2014/main" id="{B6690236-0E9D-44BB-AA44-53270F5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组织与成员、企业单点登录、管理员策略、团队资料权限、多个组织隔离等能力尚未添加。</a:t>
            </a:r>
          </a:p>
        </p:txBody>
      </p:sp>
      <p:sp>
        <p:nvSpPr>
          <p:cNvPr id="19" name="delivery-boundary">
            <a:extLst xmlns:a="http://schemas.openxmlformats.org/drawingml/2006/main">
              <a:ext uri="{FF2B5EF4-FFF2-40B4-BE49-F238E27FC236}">
                <a16:creationId xmlns:a16="http://schemas.microsoft.com/office/drawing/2014/main" id="{4E7876FA-C037-4A2D-8883-766ABA6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y-boundary-text">
            <a:extLst xmlns:a="http://schemas.openxmlformats.org/drawingml/2006/main">
              <a:ext uri="{FF2B5EF4-FFF2-40B4-BE49-F238E27FC236}">
                <a16:creationId xmlns:a16="http://schemas.microsoft.com/office/drawing/2014/main" id="{135D1C11-50B7-4A80-9597-D8242F2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定位：当前是个人版，不把企业版规划当成现有功能。</a:t>
            </a:r>
          </a:p>
        </p:txBody>
      </p:sp>
    </p:spTree>
    <p:extLst>
      <p:ext uri="{BB962C8B-B14F-4D97-AF65-F5344CB8AC3E}">
        <p14:creationId xmlns:p14="http://schemas.microsoft.com/office/powerpoint/2010/main" val="2057233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ded4176be4d72"/>
          <a:stretch xmlns:a="http://schemas.openxmlformats.org/drawingml/2006/main"/>
        </p:blipFill>
        <p:spPr>
          <a:xfrm xmlns:a="http://schemas.openxmlformats.org/drawingml/2006/main">
            <a:off x="533400" y="427196"/>
            <a:ext cx="361950" cy="307658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2D0A3992-3474-4C8C-91F6-D02BAB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7614DC5-30F4-48CF-8D9C-2061056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D6FB6D4-36A2-4C2A-8E70-D31CF21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从手头最常做的一件事开始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4087D9FC-2F58-41DD-B055-00F27DB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选择一个真实任务，体验从说明目标到拿到成果的完整过程。</a:t>
            </a:r>
          </a:p>
        </p:txBody>
      </p:sp>
      <p:sp>
        <p:nvSpPr>
          <p:cNvPr id="6" name="close-line">
            <a:extLst xmlns:a="http://schemas.openxmlformats.org/drawingml/2006/main">
              <a:ext uri="{FF2B5EF4-FFF2-40B4-BE49-F238E27FC236}">
                <a16:creationId xmlns:a16="http://schemas.microsoft.com/office/drawing/2014/main" id="{BD3226FC-720D-430B-A9C2-4E4A2BC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step-rule-56">
            <a:extLst xmlns:a="http://schemas.openxmlformats.org/drawingml/2006/main">
              <a:ext uri="{FF2B5EF4-FFF2-40B4-BE49-F238E27FC236}">
                <a16:creationId xmlns:a16="http://schemas.microsoft.com/office/drawing/2014/main" id="{9AC68555-912F-4D55-921A-9C2C21C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ep-text-56">
            <a:extLst xmlns:a="http://schemas.openxmlformats.org/drawingml/2006/main">
              <a:ext uri="{FF2B5EF4-FFF2-40B4-BE49-F238E27FC236}">
                <a16:creationId xmlns:a16="http://schemas.microsoft.com/office/drawing/2014/main" id="{F480946A-C937-4655-A872-B724C86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选择任务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挑一件高频、结果清晰的个人工作</a:t>
            </a:r>
          </a:p>
        </p:txBody>
      </p:sp>
      <p:sp>
        <p:nvSpPr>
          <p:cNvPr id="9" name="close-step-rule-450">
            <a:extLst xmlns:a="http://schemas.openxmlformats.org/drawingml/2006/main">
              <a:ext uri="{FF2B5EF4-FFF2-40B4-BE49-F238E27FC236}">
                <a16:creationId xmlns:a16="http://schemas.microsoft.com/office/drawing/2014/main" id="{CB6B5F5B-EA88-4273-A345-0B0BAFC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step-text-450">
            <a:extLst xmlns:a="http://schemas.openxmlformats.org/drawingml/2006/main">
              <a:ext uri="{FF2B5EF4-FFF2-40B4-BE49-F238E27FC236}">
                <a16:creationId xmlns:a16="http://schemas.microsoft.com/office/drawing/2014/main" id="{5C1DA500-44A6-4A8D-B91F-15D260B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添加材料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提供必要文件或授权工作区</a:t>
            </a:r>
          </a:p>
        </p:txBody>
      </p:sp>
      <p:sp>
        <p:nvSpPr>
          <p:cNvPr id="11" name="close-step-rule-844">
            <a:extLst xmlns:a="http://schemas.openxmlformats.org/drawingml/2006/main">
              <a:ext uri="{FF2B5EF4-FFF2-40B4-BE49-F238E27FC236}">
                <a16:creationId xmlns:a16="http://schemas.microsoft.com/office/drawing/2014/main" id="{E8B368C0-DAA9-4472-80DF-0AC3A4A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step-text-844">
            <a:extLst xmlns:a="http://schemas.openxmlformats.org/drawingml/2006/main">
              <a:ext uri="{FF2B5EF4-FFF2-40B4-BE49-F238E27FC236}">
                <a16:creationId xmlns:a16="http://schemas.microsoft.com/office/drawing/2014/main" id="{5392C60F-AA15-4F81-B5CD-C16E580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检查成果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查看结果、过程、用量和文件修改</a:t>
            </a:r>
          </a:p>
        </p:txBody>
      </p:sp>
      <p:sp>
        <p:nvSpPr>
          <p:cNvPr id="13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78748CA1-FC95-46A6-8C54-F21747BE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OpenERX：让个人使用 AI，从得到回答走向完成工作。</a:t>
            </a:r>
          </a:p>
        </p:txBody>
      </p:sp>
      <p:sp>
        <p:nvSpPr>
          <p:cNvPr id="14" name="close-page">
            <a:extLst xmlns:a="http://schemas.openxmlformats.org/drawingml/2006/main">
              <a:ext uri="{FF2B5EF4-FFF2-40B4-BE49-F238E27FC236}">
                <a16:creationId xmlns:a16="http://schemas.microsoft.com/office/drawing/2014/main" id="{AFFB7806-E575-4C0D-845B-0CC2134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01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2026-08-29T09:12:42.4840000Z</dcterms:created>
  <dcterms:modified xsi:type="dcterms:W3CDTF">2026-08-29T09:12:42.4840000Z</dcterms:modified>
</coreProperties>
</file>